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2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6"/>
  </p:notesMasterIdLst>
  <p:handoutMasterIdLst>
    <p:handoutMasterId r:id="rId17"/>
  </p:handoutMasterIdLst>
  <p:sldIdLst>
    <p:sldId id="256" r:id="rId3"/>
    <p:sldId id="319" r:id="rId23"/>
    <p:sldId id="279" r:id="rId5"/>
    <p:sldId id="288" r:id="rId10"/>
    <p:sldId id="320" r:id="rId24"/>
    <p:sldId id="286" r:id="rId8"/>
    <p:sldId id="289" r:id="rId11"/>
    <p:sldId id="291" r:id="rId13"/>
    <p:sldId id="316" r:id="rId7"/>
    <p:sldId id="284" r:id="rId6"/>
    <p:sldId id="321" r:id="rId25"/>
    <p:sldId id="322" r:id="rId26"/>
    <p:sldId id="323" r:id="rId27"/>
    <p:sldId id="317" r:id="rId9"/>
    <p:sldId id="324" r:id="rId28"/>
    <p:sldId id="325" r:id="rId29"/>
    <p:sldId id="326" r:id="rId30"/>
    <p:sldId id="327" r:id="rId31"/>
    <p:sldId id="328" r:id="rId32"/>
    <p:sldId id="318" r:id="rId12"/>
    <p:sldId id="329" r:id="rId33"/>
    <p:sldId id="330" r:id="rId34"/>
    <p:sldId id="331" r:id="rId35"/>
    <p:sldId id="332" r:id="rId36"/>
    <p:sldId id="300" r:id="rId15"/>
    <p:sldId id="333" r:id="rId37"/>
    <p:sldId id="334" r:id="rId38"/>
    <p:sldId id="335" r:id="rId39"/>
    <p:sldId id="336" r:id="rId40"/>
    <p:sldId id="337" r:id="rId41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65" autoAdjust="0"/>
    <p:restoredTop sz="96331" autoAdjust="0"/>
  </p:normalViewPr>
  <p:slideViewPr>
    <p:cSldViewPr snapToGrid="0">
      <p:cViewPr varScale="1">
        <p:scale>
          <a:sx n="131" d="100"/>
          <a:sy n="131" d="100"/>
        </p:scale>
        <p:origin x="2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5" Type="http://schemas.openxmlformats.org/officeDocument/2006/relationships/slide" Target="slides/slide3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6.xml"/><Relationship Id="rId9" Type="http://schemas.openxmlformats.org/officeDocument/2006/relationships/slide" Target="slides/slide14.xml"/><Relationship Id="rId10" Type="http://schemas.openxmlformats.org/officeDocument/2006/relationships/slide" Target="slides/slide4.xml"/><Relationship Id="rId11" Type="http://schemas.openxmlformats.org/officeDocument/2006/relationships/slide" Target="slides/slide7.xml"/><Relationship Id="rId12" Type="http://schemas.openxmlformats.org/officeDocument/2006/relationships/slide" Target="slides/slide20.xml"/><Relationship Id="rId13" Type="http://schemas.openxmlformats.org/officeDocument/2006/relationships/slide" Target="slides/slide8.xml"/><Relationship Id="rId15" Type="http://schemas.openxmlformats.org/officeDocument/2006/relationships/slide" Target="slides/slide25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tags" Target="tags/tag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2.xml"/><Relationship Id="rId24" Type="http://schemas.openxmlformats.org/officeDocument/2006/relationships/slide" Target="slides/slide5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2025年规模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情绪经济</c:v>
                </c:pt>
                <c:pt idx="1">
                  <c:v>AI情感陪伴</c:v>
                </c:pt>
                <c:pt idx="2">
                  <c:v>数字心理健康</c:v>
                </c:pt>
                <c:pt idx="3">
                  <c:v>知识付费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2.7</c:v>
                </c:pt>
                <c:pt idx="1">
                  <c:v>0.0387</c:v>
                </c:pt>
                <c:pt idx="2">
                  <c:v>0.2444</c:v>
                </c:pt>
                <c:pt idx="3">
                  <c:v>0.12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2029年预测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情绪经济</c:v>
                </c:pt>
                <c:pt idx="1">
                  <c:v>AI情感陪伴</c:v>
                </c:pt>
                <c:pt idx="2">
                  <c:v>数字心理健康</c:v>
                </c:pt>
                <c:pt idx="3">
                  <c:v>知识付费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4.5</c:v>
                </c:pt>
                <c:pt idx="1">
                  <c:v>0.6</c:v>
                </c:pt>
                <c:pt idx="2">
                  <c:v>0.5</c:v>
                </c:pt>
                <c:pt idx="3">
                  <c:v>0.18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sldNum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2026/8/7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t>2026/8/7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t>‹#›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宋体 CN Heavy" panose="02020900000000000000" pitchFamily="18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2026/8/7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宋体 CN Heavy" panose="02020900000000000000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宋体 CN Heavy" panose="02020900000000000000" pitchFamily="18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宋体 CN Heavy" panose="02020900000000000000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思源宋体 CN Heavy" panose="02020900000000000000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思源宋体 CN Heavy" panose="02020900000000000000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思源宋体 CN Heavy" panose="02020900000000000000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思源宋体 CN Heavy" panose="02020900000000000000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思源宋体 CN Heavy" panose="02020900000000000000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7" Type="http://schemas.openxmlformats.org/officeDocument/2006/relationships/image" Target="../media/image2.jpeg"/><Relationship Id="rId8" Type="http://schemas.openxmlformats.org/officeDocument/2006/relationships/image" Target="../media/image3.png"/><Relationship Id="rId9" Type="http://schemas.openxmlformats.org/officeDocument/2006/relationships/image" Target="../media/image4.png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8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tags" Target="../tags/tag26.xml"/><Relationship Id="rId3" Type="http://schemas.openxmlformats.org/officeDocument/2006/relationships/tags" Target="../tags/tag27.xml"/><Relationship Id="rId4" Type="http://schemas.openxmlformats.org/officeDocument/2006/relationships/tags" Target="../tags/tag28.xml"/><Relationship Id="rId5" Type="http://schemas.openxmlformats.org/officeDocument/2006/relationships/tags" Target="../tags/tag29.xml"/><Relationship Id="rId6" Type="http://schemas.openxmlformats.org/officeDocument/2006/relationships/tags" Target="../tags/tag30.xml"/><Relationship Id="rId7" Type="http://schemas.openxmlformats.org/officeDocument/2006/relationships/tags" Target="../tags/tag31.xml"/><Relationship Id="rId8" Type="http://schemas.openxmlformats.org/officeDocument/2006/relationships/tags" Target="../tags/tag32.xml"/><Relationship Id="rId9" Type="http://schemas.openxmlformats.org/officeDocument/2006/relationships/tags" Target="../tags/tag33.xml"/><Relationship Id="rId10" Type="http://schemas.openxmlformats.org/officeDocument/2006/relationships/slideLayout" Target="../slideLayouts/slideLayout1.xml"/><Relationship Id="rId11" Type="http://schemas.openxmlformats.org/officeDocument/2006/relationships/image" Target="../media/image2.jpe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.png"/><Relationship Id="rId15" Type="http://schemas.openxmlformats.org/officeDocument/2006/relationships/image" Target="../media/image3.png"/><Relationship Id="rId16" Type="http://schemas.openxmlformats.org/officeDocument/2006/relationships/image" Target="../media/image14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88.xml"/><Relationship Id="rId2" Type="http://schemas.openxmlformats.org/officeDocument/2006/relationships/tags" Target="../tags/tag89.xml"/><Relationship Id="rId3" Type="http://schemas.openxmlformats.org/officeDocument/2006/relationships/tags" Target="../tags/tag90.xml"/><Relationship Id="rId4" Type="http://schemas.openxmlformats.org/officeDocument/2006/relationships/tags" Target="../tags/tag91.xml"/><Relationship Id="rId5" Type="http://schemas.openxmlformats.org/officeDocument/2006/relationships/tags" Target="../tags/tag92.xml"/><Relationship Id="rId6" Type="http://schemas.openxmlformats.org/officeDocument/2006/relationships/tags" Target="../tags/tag93.xml"/><Relationship Id="rId7" Type="http://schemas.openxmlformats.org/officeDocument/2006/relationships/tags" Target="../tags/tag94.xml"/><Relationship Id="rId8" Type="http://schemas.openxmlformats.org/officeDocument/2006/relationships/tags" Target="../tags/tag95.xml"/><Relationship Id="rId9" Type="http://schemas.openxmlformats.org/officeDocument/2006/relationships/tags" Target="../tags/tag96.xml"/><Relationship Id="rId10" Type="http://schemas.openxmlformats.org/officeDocument/2006/relationships/tags" Target="../tags/tag97.xml"/><Relationship Id="rId11" Type="http://schemas.openxmlformats.org/officeDocument/2006/relationships/tags" Target="../tags/tag98.xml"/><Relationship Id="rId12" Type="http://schemas.openxmlformats.org/officeDocument/2006/relationships/tags" Target="../tags/tag99.xml"/><Relationship Id="rId13" Type="http://schemas.openxmlformats.org/officeDocument/2006/relationships/tags" Target="../tags/tag100.xml"/><Relationship Id="rId14" Type="http://schemas.openxmlformats.org/officeDocument/2006/relationships/tags" Target="../tags/tag101.xml"/><Relationship Id="rId15" Type="http://schemas.openxmlformats.org/officeDocument/2006/relationships/tags" Target="../tags/tag102.xml"/><Relationship Id="rId16" Type="http://schemas.openxmlformats.org/officeDocument/2006/relationships/tags" Target="../tags/tag103.xml"/><Relationship Id="rId17" Type="http://schemas.openxmlformats.org/officeDocument/2006/relationships/tags" Target="../tags/tag104.xml"/><Relationship Id="rId18" Type="http://schemas.openxmlformats.org/officeDocument/2006/relationships/tags" Target="../tags/tag105.xml"/><Relationship Id="rId19" Type="http://schemas.openxmlformats.org/officeDocument/2006/relationships/tags" Target="../tags/tag106.xml"/><Relationship Id="rId20" Type="http://schemas.openxmlformats.org/officeDocument/2006/relationships/tags" Target="../tags/tag107.xml"/><Relationship Id="rId21" Type="http://schemas.openxmlformats.org/officeDocument/2006/relationships/tags" Target="../tags/tag108.xml"/><Relationship Id="rId22" Type="http://schemas.openxmlformats.org/officeDocument/2006/relationships/tags" Target="../tags/tag109.xml"/><Relationship Id="rId23" Type="http://schemas.openxmlformats.org/officeDocument/2006/relationships/slideLayout" Target="../slideLayouts/slideLayout1.xml"/><Relationship Id="rId24" Type="http://schemas.openxmlformats.org/officeDocument/2006/relationships/image" Target="../media/image15.jpeg"/><Relationship Id="rId25" Type="http://schemas.openxmlformats.org/officeDocument/2006/relationships/image" Target="../media/image21.png"/><Relationship Id="rId26" Type="http://schemas.openxmlformats.org/officeDocument/2006/relationships/image" Target="../media/image18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tags" Target="../tags/tag63.xml"/><Relationship Id="rId6" Type="http://schemas.openxmlformats.org/officeDocument/2006/relationships/tags" Target="../tags/tag64.xml"/><Relationship Id="rId7" Type="http://schemas.openxmlformats.org/officeDocument/2006/relationships/tags" Target="../tags/tag65.xml"/><Relationship Id="rId8" Type="http://schemas.openxmlformats.org/officeDocument/2006/relationships/tags" Target="../tags/tag66.xml"/><Relationship Id="rId9" Type="http://schemas.openxmlformats.org/officeDocument/2006/relationships/tags" Target="../tags/tag67.xml"/><Relationship Id="rId10" Type="http://schemas.openxmlformats.org/officeDocument/2006/relationships/tags" Target="../tags/tag68.xml"/><Relationship Id="rId11" Type="http://schemas.openxmlformats.org/officeDocument/2006/relationships/tags" Target="../tags/tag69.xml"/><Relationship Id="rId12" Type="http://schemas.openxmlformats.org/officeDocument/2006/relationships/tags" Target="../tags/tag70.xml"/><Relationship Id="rId13" Type="http://schemas.openxmlformats.org/officeDocument/2006/relationships/tags" Target="../tags/tag71.xml"/><Relationship Id="rId14" Type="http://schemas.openxmlformats.org/officeDocument/2006/relationships/tags" Target="../tags/tag72.xml"/><Relationship Id="rId15" Type="http://schemas.openxmlformats.org/officeDocument/2006/relationships/tags" Target="../tags/tag73.xml"/><Relationship Id="rId16" Type="http://schemas.openxmlformats.org/officeDocument/2006/relationships/tags" Target="../tags/tag74.xml"/><Relationship Id="rId17" Type="http://schemas.openxmlformats.org/officeDocument/2006/relationships/tags" Target="../tags/tag75.xml"/><Relationship Id="rId18" Type="http://schemas.openxmlformats.org/officeDocument/2006/relationships/tags" Target="../tags/tag76.xml"/><Relationship Id="rId19" Type="http://schemas.openxmlformats.org/officeDocument/2006/relationships/tags" Target="../tags/tag77.xml"/><Relationship Id="rId20" Type="http://schemas.openxmlformats.org/officeDocument/2006/relationships/tags" Target="../tags/tag78.xml"/><Relationship Id="rId21" Type="http://schemas.openxmlformats.org/officeDocument/2006/relationships/slideLayout" Target="../slideLayouts/slideLayout1.xml"/><Relationship Id="rId22" Type="http://schemas.openxmlformats.org/officeDocument/2006/relationships/image" Target="../media/image15.jpeg"/><Relationship Id="rId23" Type="http://schemas.openxmlformats.org/officeDocument/2006/relationships/image" Target="../media/image19.png"/><Relationship Id="rId24" Type="http://schemas.openxmlformats.org/officeDocument/2006/relationships/image" Target="../media/image20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10.xml"/><Relationship Id="rId2" Type="http://schemas.openxmlformats.org/officeDocument/2006/relationships/tags" Target="../tags/tag111.xml"/><Relationship Id="rId3" Type="http://schemas.openxmlformats.org/officeDocument/2006/relationships/tags" Target="../tags/tag112.xml"/><Relationship Id="rId4" Type="http://schemas.openxmlformats.org/officeDocument/2006/relationships/tags" Target="../tags/tag113.xml"/><Relationship Id="rId5" Type="http://schemas.openxmlformats.org/officeDocument/2006/relationships/tags" Target="../tags/tag114.xml"/><Relationship Id="rId6" Type="http://schemas.openxmlformats.org/officeDocument/2006/relationships/tags" Target="../tags/tag115.xml"/><Relationship Id="rId7" Type="http://schemas.openxmlformats.org/officeDocument/2006/relationships/tags" Target="../tags/tag116.xml"/><Relationship Id="rId8" Type="http://schemas.openxmlformats.org/officeDocument/2006/relationships/tags" Target="../tags/tag117.xml"/><Relationship Id="rId9" Type="http://schemas.openxmlformats.org/officeDocument/2006/relationships/tags" Target="../tags/tag118.xml"/><Relationship Id="rId10" Type="http://schemas.openxmlformats.org/officeDocument/2006/relationships/tags" Target="../tags/tag119.xml"/><Relationship Id="rId11" Type="http://schemas.openxmlformats.org/officeDocument/2006/relationships/tags" Target="../tags/tag120.xml"/><Relationship Id="rId12" Type="http://schemas.openxmlformats.org/officeDocument/2006/relationships/tags" Target="../tags/tag121.xml"/><Relationship Id="rId13" Type="http://schemas.openxmlformats.org/officeDocument/2006/relationships/tags" Target="../tags/tag122.xml"/><Relationship Id="rId14" Type="http://schemas.openxmlformats.org/officeDocument/2006/relationships/tags" Target="../tags/tag123.xml"/><Relationship Id="rId15" Type="http://schemas.openxmlformats.org/officeDocument/2006/relationships/tags" Target="../tags/tag124.xml"/><Relationship Id="rId16" Type="http://schemas.openxmlformats.org/officeDocument/2006/relationships/tags" Target="../tags/tag125.xml"/><Relationship Id="rId17" Type="http://schemas.openxmlformats.org/officeDocument/2006/relationships/tags" Target="../tags/tag126.xml"/><Relationship Id="rId18" Type="http://schemas.openxmlformats.org/officeDocument/2006/relationships/tags" Target="../tags/tag127.xml"/><Relationship Id="rId19" Type="http://schemas.openxmlformats.org/officeDocument/2006/relationships/tags" Target="../tags/tag128.xml"/><Relationship Id="rId20" Type="http://schemas.openxmlformats.org/officeDocument/2006/relationships/slideLayout" Target="../slideLayouts/slideLayout1.xml"/><Relationship Id="rId21" Type="http://schemas.openxmlformats.org/officeDocument/2006/relationships/image" Target="../media/image15.jpeg"/><Relationship Id="rId2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38.xml"/><Relationship Id="rId2" Type="http://schemas.openxmlformats.org/officeDocument/2006/relationships/tags" Target="../tags/tag139.xml"/><Relationship Id="rId3" Type="http://schemas.openxmlformats.org/officeDocument/2006/relationships/tags" Target="../tags/tag140.xml"/><Relationship Id="rId4" Type="http://schemas.openxmlformats.org/officeDocument/2006/relationships/tags" Target="../tags/tag141.xml"/><Relationship Id="rId5" Type="http://schemas.openxmlformats.org/officeDocument/2006/relationships/tags" Target="../tags/tag142.xml"/><Relationship Id="rId6" Type="http://schemas.openxmlformats.org/officeDocument/2006/relationships/tags" Target="../tags/tag143.xml"/><Relationship Id="rId7" Type="http://schemas.openxmlformats.org/officeDocument/2006/relationships/tags" Target="../tags/tag144.xml"/><Relationship Id="rId8" Type="http://schemas.openxmlformats.org/officeDocument/2006/relationships/tags" Target="../tags/tag145.xml"/><Relationship Id="rId9" Type="http://schemas.openxmlformats.org/officeDocument/2006/relationships/tags" Target="../tags/tag146.xml"/><Relationship Id="rId10" Type="http://schemas.openxmlformats.org/officeDocument/2006/relationships/tags" Target="../tags/tag147.xml"/><Relationship Id="rId11" Type="http://schemas.openxmlformats.org/officeDocument/2006/relationships/tags" Target="../tags/tag148.xml"/><Relationship Id="rId12" Type="http://schemas.openxmlformats.org/officeDocument/2006/relationships/tags" Target="../tags/tag149.xml"/><Relationship Id="rId13" Type="http://schemas.openxmlformats.org/officeDocument/2006/relationships/slideLayout" Target="../slideLayouts/slideLayout1.xml"/><Relationship Id="rId14" Type="http://schemas.openxmlformats.org/officeDocument/2006/relationships/image" Target="../media/image15.jpeg"/><Relationship Id="rId15" Type="http://schemas.openxmlformats.org/officeDocument/2006/relationships/image" Target="../media/image22.png"/><Relationship Id="rId16" Type="http://schemas.openxmlformats.org/officeDocument/2006/relationships/image" Target="../media/image20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tags" Target="../tags/tag51.xml"/><Relationship Id="rId3" Type="http://schemas.openxmlformats.org/officeDocument/2006/relationships/tags" Target="../tags/tag52.xml"/><Relationship Id="rId4" Type="http://schemas.openxmlformats.org/officeDocument/2006/relationships/tags" Target="../tags/tag53.xml"/><Relationship Id="rId5" Type="http://schemas.openxmlformats.org/officeDocument/2006/relationships/tags" Target="../tags/tag54.xml"/><Relationship Id="rId6" Type="http://schemas.openxmlformats.org/officeDocument/2006/relationships/tags" Target="../tags/tag55.xml"/><Relationship Id="rId7" Type="http://schemas.openxmlformats.org/officeDocument/2006/relationships/tags" Target="../tags/tag56.xml"/><Relationship Id="rId8" Type="http://schemas.openxmlformats.org/officeDocument/2006/relationships/tags" Target="../tags/tag57.xml"/><Relationship Id="rId9" Type="http://schemas.openxmlformats.org/officeDocument/2006/relationships/tags" Target="../tags/tag58.xml"/><Relationship Id="rId10" Type="http://schemas.openxmlformats.org/officeDocument/2006/relationships/slideLayout" Target="../slideLayouts/slideLayout1.xml"/><Relationship Id="rId11" Type="http://schemas.openxmlformats.org/officeDocument/2006/relationships/image" Target="../media/image2.jpe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.png"/><Relationship Id="rId15" Type="http://schemas.openxmlformats.org/officeDocument/2006/relationships/image" Target="../media/image3.png"/><Relationship Id="rId16" Type="http://schemas.openxmlformats.org/officeDocument/2006/relationships/image" Target="../media/image14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tags" Target="../tags/tag36.xml"/><Relationship Id="rId4" Type="http://schemas.openxmlformats.org/officeDocument/2006/relationships/tags" Target="../tags/tag37.xml"/><Relationship Id="rId5" Type="http://schemas.openxmlformats.org/officeDocument/2006/relationships/tags" Target="../tags/tag38.xml"/><Relationship Id="rId6" Type="http://schemas.openxmlformats.org/officeDocument/2006/relationships/tags" Target="../tags/tag39.xml"/><Relationship Id="rId7" Type="http://schemas.openxmlformats.org/officeDocument/2006/relationships/tags" Target="../tags/tag40.xml"/><Relationship Id="rId8" Type="http://schemas.openxmlformats.org/officeDocument/2006/relationships/tags" Target="../tags/tag41.xml"/><Relationship Id="rId9" Type="http://schemas.openxmlformats.org/officeDocument/2006/relationships/tags" Target="../tags/tag42.xml"/><Relationship Id="rId10" Type="http://schemas.openxmlformats.org/officeDocument/2006/relationships/tags" Target="../tags/tag43.xml"/><Relationship Id="rId11" Type="http://schemas.openxmlformats.org/officeDocument/2006/relationships/tags" Target="../tags/tag44.xml"/><Relationship Id="rId12" Type="http://schemas.openxmlformats.org/officeDocument/2006/relationships/tags" Target="../tags/tag45.xml"/><Relationship Id="rId13" Type="http://schemas.openxmlformats.org/officeDocument/2006/relationships/tags" Target="../tags/tag46.xml"/><Relationship Id="rId14" Type="http://schemas.openxmlformats.org/officeDocument/2006/relationships/tags" Target="../tags/tag47.xml"/><Relationship Id="rId15" Type="http://schemas.openxmlformats.org/officeDocument/2006/relationships/tags" Target="../tags/tag48.xml"/><Relationship Id="rId16" Type="http://schemas.openxmlformats.org/officeDocument/2006/relationships/tags" Target="../tags/tag49.xml"/><Relationship Id="rId17" Type="http://schemas.openxmlformats.org/officeDocument/2006/relationships/slideLayout" Target="../slideLayouts/slideLayout1.xml"/><Relationship Id="rId18" Type="http://schemas.openxmlformats.org/officeDocument/2006/relationships/image" Target="../media/image15.jpeg"/><Relationship Id="rId19" Type="http://schemas.openxmlformats.org/officeDocument/2006/relationships/image" Target="../media/image16.jpeg"/><Relationship Id="rId20" Type="http://schemas.openxmlformats.org/officeDocument/2006/relationships/image" Target="../media/image17.jpeg"/><Relationship Id="rId21" Type="http://schemas.openxmlformats.org/officeDocument/2006/relationships/image" Target="../media/image18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3" Type="http://schemas.openxmlformats.org/officeDocument/2006/relationships/slideLayout" Target="../slideLayouts/slideLayout1.xml"/><Relationship Id="rId14" Type="http://schemas.openxmlformats.org/officeDocument/2006/relationships/image" Target="../media/image15.jpeg"/><Relationship Id="rId15" Type="http://schemas.openxmlformats.org/officeDocument/2006/relationships/image" Target="../media/image22.png"/><Relationship Id="rId16" Type="http://schemas.openxmlformats.org/officeDocument/2006/relationships/image" Target="../media/image20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tags" Target="../tags/tag80.xml"/><Relationship Id="rId3" Type="http://schemas.openxmlformats.org/officeDocument/2006/relationships/tags" Target="../tags/tag81.xml"/><Relationship Id="rId4" Type="http://schemas.openxmlformats.org/officeDocument/2006/relationships/tags" Target="../tags/tag82.xml"/><Relationship Id="rId5" Type="http://schemas.openxmlformats.org/officeDocument/2006/relationships/tags" Target="../tags/tag83.xml"/><Relationship Id="rId6" Type="http://schemas.openxmlformats.org/officeDocument/2006/relationships/tags" Target="../tags/tag84.xml"/><Relationship Id="rId7" Type="http://schemas.openxmlformats.org/officeDocument/2006/relationships/tags" Target="../tags/tag85.xml"/><Relationship Id="rId8" Type="http://schemas.openxmlformats.org/officeDocument/2006/relationships/tags" Target="../tags/tag86.xml"/><Relationship Id="rId9" Type="http://schemas.openxmlformats.org/officeDocument/2006/relationships/tags" Target="../tags/tag87.xml"/><Relationship Id="rId10" Type="http://schemas.openxmlformats.org/officeDocument/2006/relationships/slideLayout" Target="../slideLayouts/slideLayout1.xml"/><Relationship Id="rId11" Type="http://schemas.openxmlformats.org/officeDocument/2006/relationships/image" Target="../media/image2.jpe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.png"/><Relationship Id="rId15" Type="http://schemas.openxmlformats.org/officeDocument/2006/relationships/image" Target="../media/image3.png"/><Relationship Id="rId16" Type="http://schemas.openxmlformats.org/officeDocument/2006/relationships/image" Target="../media/image14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21" Type="http://schemas.openxmlformats.org/officeDocument/2006/relationships/slideLayout" Target="../slideLayouts/slideLayout1.xml"/><Relationship Id="rId22" Type="http://schemas.openxmlformats.org/officeDocument/2006/relationships/image" Target="../media/image15.jpeg"/><Relationship Id="rId23" Type="http://schemas.openxmlformats.org/officeDocument/2006/relationships/image" Target="../media/image19.png"/><Relationship Id="rId24" Type="http://schemas.openxmlformats.org/officeDocument/2006/relationships/image" Target="../media/image20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3" Type="http://schemas.openxmlformats.org/officeDocument/2006/relationships/slideLayout" Target="../slideLayouts/slideLayout1.xml"/><Relationship Id="rId14" Type="http://schemas.openxmlformats.org/officeDocument/2006/relationships/image" Target="../media/image15.jpeg"/><Relationship Id="rId15" Type="http://schemas.openxmlformats.org/officeDocument/2006/relationships/image" Target="../media/image22.png"/><Relationship Id="rId16" Type="http://schemas.openxmlformats.org/officeDocument/2006/relationships/image" Target="../media/image20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129.xml"/><Relationship Id="rId2" Type="http://schemas.openxmlformats.org/officeDocument/2006/relationships/tags" Target="../tags/tag130.xml"/><Relationship Id="rId3" Type="http://schemas.openxmlformats.org/officeDocument/2006/relationships/tags" Target="../tags/tag131.xml"/><Relationship Id="rId4" Type="http://schemas.openxmlformats.org/officeDocument/2006/relationships/tags" Target="../tags/tag132.xml"/><Relationship Id="rId5" Type="http://schemas.openxmlformats.org/officeDocument/2006/relationships/tags" Target="../tags/tag133.xml"/><Relationship Id="rId6" Type="http://schemas.openxmlformats.org/officeDocument/2006/relationships/tags" Target="../tags/tag134.xml"/><Relationship Id="rId7" Type="http://schemas.openxmlformats.org/officeDocument/2006/relationships/tags" Target="../tags/tag135.xml"/><Relationship Id="rId8" Type="http://schemas.openxmlformats.org/officeDocument/2006/relationships/tags" Target="../tags/tag136.xml"/><Relationship Id="rId9" Type="http://schemas.openxmlformats.org/officeDocument/2006/relationships/tags" Target="../tags/tag137.xml"/><Relationship Id="rId10" Type="http://schemas.openxmlformats.org/officeDocument/2006/relationships/slideLayout" Target="../slideLayouts/slideLayout1.xml"/><Relationship Id="rId11" Type="http://schemas.openxmlformats.org/officeDocument/2006/relationships/image" Target="../media/image2.jpe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.png"/><Relationship Id="rId15" Type="http://schemas.openxmlformats.org/officeDocument/2006/relationships/image" Target="../media/image3.png"/><Relationship Id="rId16" Type="http://schemas.openxmlformats.org/officeDocument/2006/relationships/image" Target="../media/image14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20" Type="http://schemas.openxmlformats.org/officeDocument/2006/relationships/slideLayout" Target="../slideLayouts/slideLayout1.xml"/><Relationship Id="rId21" Type="http://schemas.openxmlformats.org/officeDocument/2006/relationships/image" Target="../media/image15.jpeg"/><Relationship Id="rId2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162.xml"/><Relationship Id="rId2" Type="http://schemas.openxmlformats.org/officeDocument/2006/relationships/tags" Target="../tags/tag163.xml"/><Relationship Id="rId3" Type="http://schemas.openxmlformats.org/officeDocument/2006/relationships/tags" Target="../tags/tag164.xml"/><Relationship Id="rId4" Type="http://schemas.openxmlformats.org/officeDocument/2006/relationships/tags" Target="../tags/tag165.xml"/><Relationship Id="rId5" Type="http://schemas.openxmlformats.org/officeDocument/2006/relationships/tags" Target="../tags/tag166.xml"/><Relationship Id="rId6" Type="http://schemas.openxmlformats.org/officeDocument/2006/relationships/tags" Target="../tags/tag167.xml"/><Relationship Id="rId7" Type="http://schemas.openxmlformats.org/officeDocument/2006/relationships/slideLayout" Target="../slideLayouts/slideLayout1.xml"/><Relationship Id="rId8" Type="http://schemas.openxmlformats.org/officeDocument/2006/relationships/image" Target="../media/image1.png"/><Relationship Id="rId9" Type="http://schemas.openxmlformats.org/officeDocument/2006/relationships/image" Target="../media/image2.jpe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8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21" Type="http://schemas.openxmlformats.org/officeDocument/2006/relationships/slideLayout" Target="../slideLayouts/slideLayout1.xml"/><Relationship Id="rId22" Type="http://schemas.openxmlformats.org/officeDocument/2006/relationships/image" Target="../media/image15.jpeg"/><Relationship Id="rId23" Type="http://schemas.openxmlformats.org/officeDocument/2006/relationships/image" Target="../media/image19.png"/><Relationship Id="rId24" Type="http://schemas.openxmlformats.org/officeDocument/2006/relationships/image" Target="../media/image20.jpeg"/></Relationships>
</file>

<file path=ppt/slides/_rels/slide29.xml.rels><?xml version='1.0' encoding='UTF-8' standalone='yes'?>
<Relationships xmlns="http://schemas.openxmlformats.org/package/2006/relationships"><Relationship Id="rId13" Type="http://schemas.openxmlformats.org/officeDocument/2006/relationships/slideLayout" Target="../slideLayouts/slideLayout1.xml"/><Relationship Id="rId14" Type="http://schemas.openxmlformats.org/officeDocument/2006/relationships/image" Target="../media/image15.jpeg"/><Relationship Id="rId15" Type="http://schemas.openxmlformats.org/officeDocument/2006/relationships/image" Target="../media/image22.png"/><Relationship Id="rId16" Type="http://schemas.openxmlformats.org/officeDocument/2006/relationships/image" Target="../media/image20.jpeg"/></Relationships>
</file>

<file path=ppt/slides/_rels/slide30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7" Type="http://schemas.openxmlformats.org/officeDocument/2006/relationships/image" Target="../media/image2.jpeg"/><Relationship Id="rId8" Type="http://schemas.openxmlformats.org/officeDocument/2006/relationships/image" Target="../media/image3.png"/><Relationship Id="rId9" Type="http://schemas.openxmlformats.org/officeDocument/2006/relationships/image" Target="../media/image4.png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templates\picture_hover\&amp;pky8189327183&amp;"/>
          <p:cNvPicPr>
            <a:picLocks noChangeAspect="1"/>
          </p:cNvPicPr>
          <p:nvPr/>
        </p:nvPicPr>
        <p:blipFill>
          <a:blip r:embed="rId6" cstate="email">
            <a:alphaModFix amt="40000"/>
          </a:blip>
          <a:stretch>
            <a:fillRect/>
          </a:stretch>
        </p:blipFill>
        <p:spPr>
          <a:xfrm>
            <a:off x="1111885" y="4355465"/>
            <a:ext cx="3112770" cy="1891665"/>
          </a:xfrm>
          <a:prstGeom prst="rect">
            <a:avLst/>
          </a:prstGeom>
        </p:spPr>
      </p:pic>
      <p:grpSp>
        <p:nvGrpSpPr>
          <p:cNvPr id="24" name="组合 23"/>
          <p:cNvGrpSpPr/>
          <p:nvPr/>
        </p:nvGrpSpPr>
        <p:grpSpPr>
          <a:xfrm>
            <a:off x="0" y="567055"/>
            <a:ext cx="12192000" cy="6290310"/>
            <a:chOff x="0" y="893"/>
            <a:chExt cx="19200" cy="9906"/>
          </a:xfrm>
        </p:grpSpPr>
        <p:pic>
          <p:nvPicPr>
            <p:cNvPr id="2" name="图片 1" descr="templates\picture_hover\&amp;pky290_sjzg_VCG211356148776&amp;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7" cstate="email">
              <a:alphaModFix amt="24000"/>
              <a:lum bright="12000"/>
            </a:blip>
            <a:srcRect/>
            <a:stretch>
              <a:fillRect/>
            </a:stretch>
          </p:blipFill>
          <p:spPr>
            <a:xfrm>
              <a:off x="0" y="893"/>
              <a:ext cx="19200" cy="990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000" h="8772">
                  <a:moveTo>
                    <a:pt x="0" y="0"/>
                  </a:moveTo>
                  <a:lnTo>
                    <a:pt x="17000" y="0"/>
                  </a:lnTo>
                  <a:lnTo>
                    <a:pt x="17000" y="8772"/>
                  </a:lnTo>
                  <a:lnTo>
                    <a:pt x="0" y="8772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6" name="图片 15" descr="templates\picture_hover\&amp;pky8389331009&amp;"/>
            <p:cNvPicPr>
              <a:picLocks noChangeAspect="1"/>
            </p:cNvPicPr>
            <p:nvPr/>
          </p:nvPicPr>
          <p:blipFill>
            <a:blip r:embed="rId8" cstate="email">
              <a:alphaModFix amt="20000"/>
            </a:blip>
            <a:srcRect/>
            <a:stretch>
              <a:fillRect/>
            </a:stretch>
          </p:blipFill>
          <p:spPr>
            <a:xfrm rot="21060000">
              <a:off x="13575" y="1132"/>
              <a:ext cx="2150" cy="1989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850" h="2636">
                  <a:moveTo>
                    <a:pt x="0" y="0"/>
                  </a:moveTo>
                  <a:lnTo>
                    <a:pt x="2850" y="0"/>
                  </a:lnTo>
                  <a:lnTo>
                    <a:pt x="2850" y="2636"/>
                  </a:lnTo>
                  <a:lnTo>
                    <a:pt x="0" y="2636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grpSp>
        <p:nvGrpSpPr>
          <p:cNvPr id="23" name="组合 22"/>
          <p:cNvGrpSpPr/>
          <p:nvPr/>
        </p:nvGrpSpPr>
        <p:grpSpPr>
          <a:xfrm>
            <a:off x="-9525" y="-13970"/>
            <a:ext cx="12200890" cy="7021830"/>
            <a:chOff x="-15" y="-22"/>
            <a:chExt cx="19214" cy="11058"/>
          </a:xfrm>
        </p:grpSpPr>
        <p:pic>
          <p:nvPicPr>
            <p:cNvPr id="9" name="图片 8" descr="幻灯片127"/>
            <p:cNvPicPr>
              <a:picLocks noChangeAspect="1"/>
            </p:cNvPicPr>
            <p:nvPr/>
          </p:nvPicPr>
          <p:blipFill>
            <a:blip r:embed="rId9" cstate="email">
              <a:alphaModFix amt="80000"/>
            </a:blip>
            <a:stretch>
              <a:fillRect/>
            </a:stretch>
          </p:blipFill>
          <p:spPr>
            <a:xfrm>
              <a:off x="-15" y="-22"/>
              <a:ext cx="4389" cy="4357"/>
            </a:xfrm>
            <a:prstGeom prst="rect">
              <a:avLst/>
            </a:prstGeom>
          </p:spPr>
        </p:pic>
        <p:pic>
          <p:nvPicPr>
            <p:cNvPr id="10" name="图片 9" descr="幻灯片127-1"/>
            <p:cNvPicPr>
              <a:picLocks noChangeAspect="1"/>
            </p:cNvPicPr>
            <p:nvPr/>
          </p:nvPicPr>
          <p:blipFill>
            <a:blip r:embed="rId10" cstate="email">
              <a:alphaModFix amt="80000"/>
            </a:blip>
            <a:stretch>
              <a:fillRect/>
            </a:stretch>
          </p:blipFill>
          <p:spPr>
            <a:xfrm flipH="1">
              <a:off x="15387" y="3214"/>
              <a:ext cx="3813" cy="7606"/>
            </a:xfrm>
            <a:prstGeom prst="rect">
              <a:avLst/>
            </a:prstGeom>
          </p:spPr>
        </p:pic>
        <p:pic>
          <p:nvPicPr>
            <p:cNvPr id="18" name="图片 17" descr="幻灯片127"/>
            <p:cNvPicPr>
              <a:picLocks noChangeAspect="1"/>
            </p:cNvPicPr>
            <p:nvPr/>
          </p:nvPicPr>
          <p:blipFill>
            <a:blip r:embed="rId11" cstate="email">
              <a:alphaModFix amt="80000"/>
            </a:blip>
            <a:srcRect/>
            <a:stretch>
              <a:fillRect/>
            </a:stretch>
          </p:blipFill>
          <p:spPr>
            <a:xfrm rot="15300000">
              <a:off x="2389" y="9101"/>
              <a:ext cx="1442" cy="2428"/>
            </a:xfrm>
            <a:custGeom>
              <a:avLst/>
              <a:gdLst>
                <a:gd name="adj" fmla="val 25000"/>
                <a:gd name="maxAdj" fmla="*/ 50000 h ss"/>
                <a:gd name="a" fmla="pin 0 adj maxAdj"/>
                <a:gd name="y1" fmla="*/ ss a 200000"/>
                <a:gd name="y2" fmla="+- y1 y1 0"/>
                <a:gd name="y3" fmla="+- b 0 y1"/>
              </a:gdLst>
              <a:ahLst/>
              <a:cxnLst>
                <a:cxn ang="3">
                  <a:pos x="hc" y="y2"/>
                </a:cxn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y2" r="r" b="y3"/>
              <a:pathLst>
                <a:path w="1442" h="2428">
                  <a:moveTo>
                    <a:pt x="702" y="0"/>
                  </a:moveTo>
                  <a:cubicBezTo>
                    <a:pt x="1111" y="0"/>
                    <a:pt x="1442" y="83"/>
                    <a:pt x="1442" y="185"/>
                  </a:cubicBezTo>
                  <a:lnTo>
                    <a:pt x="1442" y="2243"/>
                  </a:lnTo>
                  <a:cubicBezTo>
                    <a:pt x="1442" y="2345"/>
                    <a:pt x="1111" y="2428"/>
                    <a:pt x="702" y="2428"/>
                  </a:cubicBezTo>
                  <a:cubicBezTo>
                    <a:pt x="639" y="2428"/>
                    <a:pt x="577" y="2426"/>
                    <a:pt x="518" y="2422"/>
                  </a:cubicBezTo>
                  <a:lnTo>
                    <a:pt x="508" y="2421"/>
                  </a:lnTo>
                  <a:lnTo>
                    <a:pt x="506" y="2415"/>
                  </a:lnTo>
                  <a:cubicBezTo>
                    <a:pt x="457" y="2241"/>
                    <a:pt x="323" y="2098"/>
                    <a:pt x="139" y="2049"/>
                  </a:cubicBezTo>
                  <a:cubicBezTo>
                    <a:pt x="95" y="2037"/>
                    <a:pt x="51" y="2031"/>
                    <a:pt x="8" y="2031"/>
                  </a:cubicBezTo>
                  <a:lnTo>
                    <a:pt x="0" y="2031"/>
                  </a:lnTo>
                  <a:lnTo>
                    <a:pt x="543" y="4"/>
                  </a:lnTo>
                  <a:lnTo>
                    <a:pt x="553" y="4"/>
                  </a:lnTo>
                  <a:cubicBezTo>
                    <a:pt x="601" y="1"/>
                    <a:pt x="651" y="0"/>
                    <a:pt x="702" y="0"/>
                  </a:cubicBezTo>
                  <a:close/>
                </a:path>
              </a:pathLst>
            </a:custGeom>
          </p:spPr>
        </p:pic>
      </p:grpSp>
      <p:sp>
        <p:nvSpPr>
          <p:cNvPr id="5" name="文本框 4"/>
          <p:cNvSpPr txBox="1"/>
          <p:nvPr/>
        </p:nvSpPr>
        <p:spPr>
          <a:xfrm>
            <a:off x="6395085" y="1915160"/>
            <a:ext cx="3078480" cy="968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5700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/>
            </a:r>
            <a:endParaRPr lang="zh-CN" sz="5700" b="1" dirty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pic>
        <p:nvPicPr>
          <p:cNvPr id="8" name="图片 7" descr="幻灯片79"/>
          <p:cNvPicPr>
            <a:picLocks noChangeAspect="1"/>
          </p:cNvPicPr>
          <p:nvPr/>
        </p:nvPicPr>
        <p:blipFill>
          <a:blip r:embed="rId12" cstate="email"/>
          <a:stretch>
            <a:fillRect/>
          </a:stretch>
        </p:blipFill>
        <p:spPr>
          <a:xfrm>
            <a:off x="5951855" y="2266950"/>
            <a:ext cx="287655" cy="29591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409950" y="2880995"/>
            <a:ext cx="5372100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/>
                <a:ea typeface="思源宋体 CN Heavy" panose="02020900000000000000" pitchFamily="18" charset="-122"/>
                <a:cs typeface="+mn-ea"/>
                <a:sym typeface="+mn-lt"/>
              </a:rPr>
              <a:t>道德经AI数字人学习系统 · 项目路演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683760" y="4291330"/>
            <a:ext cx="2824480" cy="818515"/>
            <a:chOff x="7316" y="7350"/>
            <a:chExt cx="4448" cy="1289"/>
          </a:xfrm>
        </p:grpSpPr>
        <p:pic>
          <p:nvPicPr>
            <p:cNvPr id="4" name="图片 3" descr="templates\picture_hover\&amp;pky290_sjzg_VCG41N513480320&amp;"/>
            <p:cNvPicPr>
              <a:picLocks noChangeAspect="1"/>
            </p:cNvPicPr>
            <p:nvPr/>
          </p:nvPicPr>
          <p:blipFill>
            <a:blip r:embed="rId13" cstate="email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lum bright="30000"/>
            </a:blip>
            <a:srcRect/>
            <a:stretch>
              <a:fillRect/>
            </a:stretch>
          </p:blipFill>
          <p:spPr>
            <a:xfrm>
              <a:off x="7316" y="7350"/>
              <a:ext cx="4448" cy="1289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>
              <p:custDataLst>
                <p:tags r:id="rId3"/>
              </p:custDataLst>
            </p:nvPr>
          </p:nvSpPr>
          <p:spPr>
            <a:xfrm>
              <a:off x="7775" y="7731"/>
              <a:ext cx="3530" cy="60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dirty="0">
                  <a:solidFill>
                    <a:srgbClr val="FDFDFD"/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2026年8月</a:t>
              </a:r>
            </a:p>
          </p:txBody>
        </p:sp>
      </p:grpSp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3140710" y="3385820"/>
            <a:ext cx="5910580" cy="661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00" dirty="0">
                <a:solidFill>
                  <a:srgbClr val="6A6A6A"/>
                </a:solidFill>
                <a:latin typeface="楷体"/>
                <a:ea typeface="思源宋体 CN Heavy" panose="02020900000000000000" pitchFamily="18" charset="-122"/>
                <a:cs typeface="+mn-ea"/>
                <a:sym typeface="+mn-lt"/>
              </a:rPr>
              <a:t>让东方智慧成为人与AI的共同操作系统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717800" y="1915160"/>
            <a:ext cx="3078480" cy="968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sz="5700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道枢</a:t>
            </a:r>
            <a:endParaRPr lang="zh-CN" sz="5700" b="1" dirty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UTO::custom::page-02-toc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::page-02-toc::toc-title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C00000"/>
                </a:solidFill>
                <a:latin typeface="楷体"/>
              </a:rPr>
              <a:t>目录 · 五章问道</a:t>
            </a:r>
          </a:p>
        </p:txBody>
      </p:sp>
      <p:cxnSp>
        <p:nvCxnSpPr>
          <p:cNvPr id="3" name="AUTO::page-02-toc::toc-line"/>
          <p:cNvCxnSpPr/>
          <p:nvPr/>
        </p:nvCxnSpPr>
        <p:spPr>
          <a:xfrm>
            <a:off x="4114800" y="1188720"/>
            <a:ext cx="393192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AUTO::page-02-toc::c1-num"/>
          <p:cNvSpPr txBox="1"/>
          <p:nvPr/>
        </p:nvSpPr>
        <p:spPr>
          <a:xfrm>
            <a:off x="640080" y="164592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C00000"/>
                </a:solidFill>
                <a:latin typeface="楷体"/>
              </a:rPr>
              <a:t>壹</a:t>
            </a:r>
          </a:p>
        </p:txBody>
      </p:sp>
      <p:sp>
        <p:nvSpPr>
          <p:cNvPr id="5" name="AUTO::page-02-toc::c1-title"/>
          <p:cNvSpPr txBox="1"/>
          <p:nvPr/>
        </p:nvSpPr>
        <p:spPr>
          <a:xfrm>
            <a:off x="2103120" y="16459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楷体"/>
              </a:rPr>
              <a:t>时势 · 大道当行</a:t>
            </a:r>
          </a:p>
        </p:txBody>
      </p:sp>
      <p:sp>
        <p:nvSpPr>
          <p:cNvPr id="6" name="AUTO::page-02-toc::c1-desc"/>
          <p:cNvSpPr txBox="1"/>
          <p:nvPr/>
        </p:nvSpPr>
        <p:spPr>
          <a:xfrm>
            <a:off x="2103120" y="21031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A6A6A"/>
                </a:solidFill>
                <a:latin typeface="楷体"/>
              </a:rPr>
              <a:t>四大变量交汇，东方智慧恰逢其时</a:t>
            </a:r>
          </a:p>
        </p:txBody>
      </p:sp>
      <p:sp>
        <p:nvSpPr>
          <p:cNvPr id="7" name="AUTO::page-02-toc::c2-num"/>
          <p:cNvSpPr txBox="1"/>
          <p:nvPr/>
        </p:nvSpPr>
        <p:spPr>
          <a:xfrm>
            <a:off x="640080" y="265176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C00000"/>
                </a:solidFill>
                <a:latin typeface="楷体"/>
              </a:rPr>
              <a:t>贰</a:t>
            </a:r>
          </a:p>
        </p:txBody>
      </p:sp>
      <p:sp>
        <p:nvSpPr>
          <p:cNvPr id="8" name="AUTO::page-02-toc::c2-title"/>
          <p:cNvSpPr txBox="1"/>
          <p:nvPr/>
        </p:nvSpPr>
        <p:spPr>
          <a:xfrm>
            <a:off x="2103120" y="26517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楷体"/>
              </a:rPr>
              <a:t>破局 · 双生之智</a:t>
            </a:r>
          </a:p>
        </p:txBody>
      </p:sp>
      <p:sp>
        <p:nvSpPr>
          <p:cNvPr id="9" name="AUTO::page-02-toc::c2-desc"/>
          <p:cNvSpPr txBox="1"/>
          <p:nvPr/>
        </p:nvSpPr>
        <p:spPr>
          <a:xfrm>
            <a:off x="2103120" y="31089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A6A6A"/>
                </a:solidFill>
                <a:latin typeface="楷体"/>
              </a:rPr>
              <a:t>让人与AI共享同一套顶层思维操作系统</a:t>
            </a:r>
          </a:p>
        </p:txBody>
      </p:sp>
      <p:sp>
        <p:nvSpPr>
          <p:cNvPr id="10" name="AUTO::page-02-toc::c3-num"/>
          <p:cNvSpPr txBox="1"/>
          <p:nvPr/>
        </p:nvSpPr>
        <p:spPr>
          <a:xfrm>
            <a:off x="640080" y="36576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C00000"/>
                </a:solidFill>
                <a:latin typeface="楷体"/>
              </a:rPr>
              <a:t>叁</a:t>
            </a:r>
          </a:p>
        </p:txBody>
      </p:sp>
      <p:sp>
        <p:nvSpPr>
          <p:cNvPr id="11" name="AUTO::page-02-toc::c3-title"/>
          <p:cNvSpPr txBox="1"/>
          <p:nvPr/>
        </p:nvSpPr>
        <p:spPr>
          <a:xfrm>
            <a:off x="2103120" y="36576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楷体"/>
              </a:rPr>
              <a:t>落地 · 智慧引擎</a:t>
            </a:r>
          </a:p>
        </p:txBody>
      </p:sp>
      <p:sp>
        <p:nvSpPr>
          <p:cNvPr id="12" name="AUTO::page-02-toc::c3-desc"/>
          <p:cNvSpPr txBox="1"/>
          <p:nvPr/>
        </p:nvSpPr>
        <p:spPr>
          <a:xfrm>
            <a:off x="2103120" y="41148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A6A6A"/>
                </a:solidFill>
                <a:latin typeface="楷体"/>
              </a:rPr>
              <a:t>V2.0已开发、已部署，五大模块全线就绪</a:t>
            </a:r>
          </a:p>
        </p:txBody>
      </p:sp>
      <p:sp>
        <p:nvSpPr>
          <p:cNvPr id="13" name="AUTO::page-02-toc::c4-num"/>
          <p:cNvSpPr txBox="1"/>
          <p:nvPr/>
        </p:nvSpPr>
        <p:spPr>
          <a:xfrm>
            <a:off x="640080" y="466344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C00000"/>
                </a:solidFill>
                <a:latin typeface="楷体"/>
              </a:rPr>
              <a:t>肆</a:t>
            </a:r>
          </a:p>
        </p:txBody>
      </p:sp>
      <p:sp>
        <p:nvSpPr>
          <p:cNvPr id="14" name="AUTO::page-02-toc::c4-title"/>
          <p:cNvSpPr txBox="1"/>
          <p:nvPr/>
        </p:nvSpPr>
        <p:spPr>
          <a:xfrm>
            <a:off x="2103120" y="46634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楷体"/>
              </a:rPr>
              <a:t>乘势 · 增长飞轮</a:t>
            </a:r>
          </a:p>
        </p:txBody>
      </p:sp>
      <p:sp>
        <p:nvSpPr>
          <p:cNvPr id="15" name="AUTO::page-02-toc::c4-desc"/>
          <p:cNvSpPr txBox="1"/>
          <p:nvPr/>
        </p:nvSpPr>
        <p:spPr>
          <a:xfrm>
            <a:off x="2103120" y="5120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A6A6A"/>
                </a:solidFill>
                <a:latin typeface="楷体"/>
              </a:rPr>
              <a:t>不烧钱买量，用内容×关系×AI代际做裂变</a:t>
            </a:r>
          </a:p>
        </p:txBody>
      </p:sp>
      <p:sp>
        <p:nvSpPr>
          <p:cNvPr id="16" name="AUTO::page-02-toc::c5-num"/>
          <p:cNvSpPr txBox="1"/>
          <p:nvPr/>
        </p:nvSpPr>
        <p:spPr>
          <a:xfrm>
            <a:off x="640080" y="566928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C00000"/>
                </a:solidFill>
                <a:latin typeface="楷体"/>
              </a:rPr>
              <a:t>伍</a:t>
            </a:r>
          </a:p>
        </p:txBody>
      </p:sp>
      <p:sp>
        <p:nvSpPr>
          <p:cNvPr id="17" name="AUTO::page-02-toc::c5-title"/>
          <p:cNvSpPr txBox="1"/>
          <p:nvPr/>
        </p:nvSpPr>
        <p:spPr>
          <a:xfrm>
            <a:off x="2103120" y="56692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楷体"/>
              </a:rPr>
              <a:t>征途 · 未来可期</a:t>
            </a:r>
          </a:p>
        </p:txBody>
      </p:sp>
      <p:sp>
        <p:nvSpPr>
          <p:cNvPr id="18" name="AUTO::page-02-toc::c5-desc"/>
          <p:cNvSpPr txBox="1"/>
          <p:nvPr/>
        </p:nvSpPr>
        <p:spPr>
          <a:xfrm>
            <a:off x="2103120" y="61264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A6A6A"/>
                </a:solidFill>
                <a:latin typeface="楷体"/>
              </a:rPr>
              <a:t>18个月四阶段，从MVP到生态</a:t>
            </a:r>
          </a:p>
        </p:txBody>
      </p:sp>
      <p:cxnSp>
        <p:nvCxnSpPr>
          <p:cNvPr id="19" name="AUTO::page-02-toc::toc-sep1"/>
          <p:cNvCxnSpPr/>
          <p:nvPr/>
        </p:nvCxnSpPr>
        <p:spPr>
          <a:xfrm>
            <a:off x="640080" y="2514600"/>
            <a:ext cx="10972800" cy="0"/>
          </a:xfrm>
          <a:prstGeom prst="line">
            <a:avLst/>
          </a:prstGeom>
          <a:ln w="12700">
            <a:solidFill>
              <a:srgbClr val="D4C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AUTO::page-02-toc::toc-sep2"/>
          <p:cNvCxnSpPr/>
          <p:nvPr/>
        </p:nvCxnSpPr>
        <p:spPr>
          <a:xfrm>
            <a:off x="640080" y="3520440"/>
            <a:ext cx="10972800" cy="0"/>
          </a:xfrm>
          <a:prstGeom prst="line">
            <a:avLst/>
          </a:prstGeom>
          <a:ln w="12700">
            <a:solidFill>
              <a:srgbClr val="D4C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UTO::page-02-toc::toc-sep3"/>
          <p:cNvCxnSpPr/>
          <p:nvPr/>
        </p:nvCxnSpPr>
        <p:spPr>
          <a:xfrm>
            <a:off x="640080" y="4526280"/>
            <a:ext cx="10972800" cy="0"/>
          </a:xfrm>
          <a:prstGeom prst="line">
            <a:avLst/>
          </a:prstGeom>
          <a:ln w="12700">
            <a:solidFill>
              <a:srgbClr val="D4C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AUTO::page-02-toc::toc-sep4"/>
          <p:cNvCxnSpPr/>
          <p:nvPr/>
        </p:nvCxnSpPr>
        <p:spPr>
          <a:xfrm>
            <a:off x="640080" y="5532120"/>
            <a:ext cx="10972800" cy="0"/>
          </a:xfrm>
          <a:prstGeom prst="line">
            <a:avLst/>
          </a:prstGeom>
          <a:ln w="12700">
            <a:solidFill>
              <a:srgbClr val="D4C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 flipH="1">
            <a:off x="-47625" y="-13970"/>
            <a:ext cx="12239625" cy="6903720"/>
            <a:chOff x="-75" y="-22"/>
            <a:chExt cx="19275" cy="10872"/>
          </a:xfrm>
        </p:grpSpPr>
        <p:pic>
          <p:nvPicPr>
            <p:cNvPr id="35" name="图片 34" descr="templates\picture_hover\&amp;pky290_sjzg_VCG211356148776&amp;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 cstate="email">
              <a:alphaModFix amt="24000"/>
              <a:lum bright="12000"/>
            </a:blip>
            <a:srcRect/>
            <a:stretch>
              <a:fillRect/>
            </a:stretch>
          </p:blipFill>
          <p:spPr>
            <a:xfrm>
              <a:off x="0" y="893"/>
              <a:ext cx="19200" cy="990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000" h="8772">
                  <a:moveTo>
                    <a:pt x="0" y="0"/>
                  </a:moveTo>
                  <a:lnTo>
                    <a:pt x="17000" y="0"/>
                  </a:lnTo>
                  <a:lnTo>
                    <a:pt x="17000" y="8772"/>
                  </a:lnTo>
                  <a:lnTo>
                    <a:pt x="0" y="8772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36" name="图片 35" descr="幻灯片127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2" cstate="email">
              <a:alphaModFix amt="80000"/>
            </a:blip>
            <a:stretch>
              <a:fillRect/>
            </a:stretch>
          </p:blipFill>
          <p:spPr>
            <a:xfrm>
              <a:off x="-75" y="-22"/>
              <a:ext cx="2527" cy="2508"/>
            </a:xfrm>
            <a:prstGeom prst="rect">
              <a:avLst/>
            </a:prstGeom>
          </p:spPr>
        </p:pic>
        <p:pic>
          <p:nvPicPr>
            <p:cNvPr id="37" name="图片 36" descr="幻灯片127-1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3" cstate="email">
              <a:alphaModFix amt="80000"/>
            </a:blip>
            <a:stretch>
              <a:fillRect/>
            </a:stretch>
          </p:blipFill>
          <p:spPr>
            <a:xfrm flipH="1">
              <a:off x="16468" y="5400"/>
              <a:ext cx="2732" cy="5450"/>
            </a:xfrm>
            <a:prstGeom prst="rect">
              <a:avLst/>
            </a:prstGeom>
          </p:spPr>
        </p:pic>
        <p:pic>
          <p:nvPicPr>
            <p:cNvPr id="38" name="图片 37" descr="templates\picture_hover\&amp;pky8189327183&amp;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4" cstate="email">
              <a:alphaModFix amt="40000"/>
            </a:blip>
            <a:stretch>
              <a:fillRect/>
            </a:stretch>
          </p:blipFill>
          <p:spPr>
            <a:xfrm>
              <a:off x="1751" y="6859"/>
              <a:ext cx="4902" cy="2979"/>
            </a:xfrm>
            <a:prstGeom prst="rect">
              <a:avLst/>
            </a:prstGeom>
          </p:spPr>
        </p:pic>
        <p:pic>
          <p:nvPicPr>
            <p:cNvPr id="39" name="图片 38" descr="templates\picture_hover\&amp;pky8389331009&amp;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5" cstate="email">
              <a:alphaModFix amt="60000"/>
            </a:blip>
            <a:srcRect/>
            <a:stretch>
              <a:fillRect/>
            </a:stretch>
          </p:blipFill>
          <p:spPr>
            <a:xfrm rot="21060000">
              <a:off x="13575" y="1132"/>
              <a:ext cx="2150" cy="1989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850" h="2636">
                  <a:moveTo>
                    <a:pt x="0" y="0"/>
                  </a:moveTo>
                  <a:lnTo>
                    <a:pt x="2850" y="0"/>
                  </a:lnTo>
                  <a:lnTo>
                    <a:pt x="2850" y="2636"/>
                  </a:lnTo>
                  <a:lnTo>
                    <a:pt x="0" y="2636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grpSp>
        <p:nvGrpSpPr>
          <p:cNvPr id="2" name="组合 1"/>
          <p:cNvGrpSpPr/>
          <p:nvPr/>
        </p:nvGrpSpPr>
        <p:grpSpPr>
          <a:xfrm>
            <a:off x="873760" y="1528763"/>
            <a:ext cx="10444480" cy="3820795"/>
            <a:chOff x="1376" y="2559"/>
            <a:chExt cx="16448" cy="6017"/>
          </a:xfrm>
        </p:grpSpPr>
        <p:grpSp>
          <p:nvGrpSpPr>
            <p:cNvPr id="11" name="组合 10"/>
            <p:cNvGrpSpPr/>
            <p:nvPr/>
          </p:nvGrpSpPr>
          <p:grpSpPr>
            <a:xfrm>
              <a:off x="1376" y="4094"/>
              <a:ext cx="16448" cy="4482"/>
              <a:chOff x="1376" y="2538"/>
              <a:chExt cx="16448" cy="4483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1376" y="4878"/>
                <a:ext cx="16448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sz="3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楷体"/>
                    <a:ea typeface="思源宋体 CN Heavy" panose="02020900000000000000" pitchFamily="18" charset="-122"/>
                    <a:cs typeface="+mn-ea"/>
                    <a:sym typeface="+mn-lt"/>
                  </a:rPr>
                  <a:t>时势 · 大道当行</a:t>
                </a:r>
              </a:p>
            </p:txBody>
          </p:sp>
          <p:sp>
            <p:nvSpPr>
              <p:cNvPr id="172" name="文本框 17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045" y="5815"/>
                <a:ext cx="7110" cy="120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300" dirty="0">
                    <a:solidFill>
                      <a:srgbClr val="6A6A6A"/>
                    </a:solidFill>
                    <a:latin typeface="楷体"/>
                    <a:ea typeface="思源宋体 CN Heavy" panose="02020900000000000000" pitchFamily="18" charset="-122"/>
                    <a:cs typeface="+mn-ea"/>
                    <a:sym typeface="+mn-lt"/>
                  </a:rPr>
                  <a:t>2026年四大变量交汇，东方智慧恰逢其时</a:t>
                </a: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1376" y="2538"/>
                <a:ext cx="16448" cy="1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sz="6000" b="1" dirty="0">
                    <a:latin typeface="楷体"/>
                    <a:ea typeface="思源宋体 CN Heavy" panose="02020900000000000000" pitchFamily="18" charset="-122"/>
                    <a:cs typeface="+mn-ea"/>
                    <a:sym typeface="+mn-lt"/>
                  </a:rPr>
                  <a:t>壹</a:t>
                </a: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9487" y="5906"/>
              <a:ext cx="226" cy="226"/>
              <a:chOff x="7717" y="9163"/>
              <a:chExt cx="226" cy="226"/>
            </a:xfrm>
          </p:grpSpPr>
          <p:sp>
            <p:nvSpPr>
              <p:cNvPr id="6" name="椭圆 5"/>
              <p:cNvSpPr/>
              <p:nvPr>
                <p:custDataLst>
                  <p:tags r:id="rId2"/>
                </p:custDataLst>
              </p:nvPr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30" name="椭圆 29"/>
              <p:cNvSpPr/>
              <p:nvPr>
                <p:custDataLst>
                  <p:tags r:id="rId3"/>
                </p:custDataLst>
              </p:nvPr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  <p:pic>
          <p:nvPicPr>
            <p:cNvPr id="22" name="图片 21" descr="templates\picture_hover\&amp;pky240_sjzg_VCG211275366148&amp;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6" cstate="email"/>
            <a:srcRect/>
            <a:stretch>
              <a:fillRect/>
            </a:stretch>
          </p:blipFill>
          <p:spPr>
            <a:xfrm>
              <a:off x="9251" y="2559"/>
              <a:ext cx="699" cy="76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99" h="767">
                  <a:moveTo>
                    <a:pt x="0" y="0"/>
                  </a:moveTo>
                  <a:lnTo>
                    <a:pt x="699" y="0"/>
                  </a:lnTo>
                  <a:lnTo>
                    <a:pt x="699" y="767"/>
                  </a:lnTo>
                  <a:lnTo>
                    <a:pt x="0" y="767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 descr="templates\picture_hover\&amp;pky290_sjzg_VCG211356148776&amp;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4" cstate="email">
            <a:alphaModFix amt="24000"/>
            <a:lum bright="12000"/>
          </a:blip>
          <a:srcRect/>
          <a:stretch>
            <a:fillRect/>
          </a:stretch>
        </p:blipFill>
        <p:spPr>
          <a:xfrm>
            <a:off x="0" y="3081020"/>
            <a:ext cx="12192000" cy="37769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5948">
                <a:moveTo>
                  <a:pt x="0" y="0"/>
                </a:moveTo>
                <a:lnTo>
                  <a:pt x="19200" y="0"/>
                </a:lnTo>
                <a:lnTo>
                  <a:pt x="19200" y="5948"/>
                </a:lnTo>
                <a:lnTo>
                  <a:pt x="0" y="594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" name="图片 2" descr="幻灯片51-1"/>
          <p:cNvPicPr>
            <a:picLocks noChangeAspect="1"/>
          </p:cNvPicPr>
          <p:nvPr/>
        </p:nvPicPr>
        <p:blipFill>
          <a:blip r:embed="rId25" cstate="email"/>
          <a:stretch>
            <a:fillRect/>
          </a:stretch>
        </p:blipFill>
        <p:spPr>
          <a:xfrm>
            <a:off x="4266565" y="2093595"/>
            <a:ext cx="3658870" cy="333121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4451033" y="471488"/>
            <a:ext cx="3289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2400" dirty="0">
                <a:solidFill>
                  <a:schemeClr val="tx1"/>
                </a:solidFill>
                <a:latin typeface="楷体"/>
                <a:ea typeface="思源宋体 CN Heavy" panose="02020900000000000000" pitchFamily="18" charset="-122"/>
                <a:cs typeface="+mn-ea"/>
                <a:sym typeface="+mn-lt"/>
              </a:rPr>
              <a:t>四大时代变量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4429760" y="629920"/>
            <a:ext cx="3332480" cy="143510"/>
            <a:chOff x="6699" y="992"/>
            <a:chExt cx="5248" cy="226"/>
          </a:xfrm>
        </p:grpSpPr>
        <p:grpSp>
          <p:nvGrpSpPr>
            <p:cNvPr id="16" name="组合 15"/>
            <p:cNvGrpSpPr/>
            <p:nvPr/>
          </p:nvGrpSpPr>
          <p:grpSpPr>
            <a:xfrm>
              <a:off x="6699" y="992"/>
              <a:ext cx="226" cy="226"/>
              <a:chOff x="7717" y="9163"/>
              <a:chExt cx="226" cy="226"/>
            </a:xfrm>
          </p:grpSpPr>
          <p:sp>
            <p:nvSpPr>
              <p:cNvPr id="17" name="椭圆 1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18" name="椭圆 17"/>
              <p:cNvSpPr/>
              <p:nvPr>
                <p:custDataLst>
                  <p:tags r:id="rId22"/>
                </p:custDataLst>
              </p:nvPr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11721" y="992"/>
              <a:ext cx="226" cy="226"/>
              <a:chOff x="7717" y="9163"/>
              <a:chExt cx="226" cy="226"/>
            </a:xfrm>
          </p:grpSpPr>
          <p:sp>
            <p:nvSpPr>
              <p:cNvPr id="20" name="椭圆 19"/>
              <p:cNvSpPr/>
              <p:nvPr>
                <p:custDataLst>
                  <p:tags r:id="rId19"/>
                </p:custDataLst>
              </p:nvPr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21" name="椭圆 20"/>
              <p:cNvSpPr/>
              <p:nvPr>
                <p:custDataLst>
                  <p:tags r:id="rId20"/>
                </p:custDataLst>
              </p:nvPr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88" name="组合 87"/>
          <p:cNvGrpSpPr/>
          <p:nvPr/>
        </p:nvGrpSpPr>
        <p:grpSpPr>
          <a:xfrm>
            <a:off x="531495" y="1887220"/>
            <a:ext cx="11332210" cy="3743960"/>
            <a:chOff x="837" y="2490"/>
            <a:chExt cx="17846" cy="5896"/>
          </a:xfrm>
        </p:grpSpPr>
        <p:grpSp>
          <p:nvGrpSpPr>
            <p:cNvPr id="87" name="组合 86"/>
            <p:cNvGrpSpPr/>
            <p:nvPr/>
          </p:nvGrpSpPr>
          <p:grpSpPr>
            <a:xfrm>
              <a:off x="837" y="2490"/>
              <a:ext cx="5700" cy="5897"/>
              <a:chOff x="837" y="2490"/>
              <a:chExt cx="5700" cy="5897"/>
            </a:xfrm>
          </p:grpSpPr>
          <p:grpSp>
            <p:nvGrpSpPr>
              <p:cNvPr id="62" name="组合 61"/>
              <p:cNvGrpSpPr/>
              <p:nvPr/>
            </p:nvGrpSpPr>
            <p:grpSpPr>
              <a:xfrm>
                <a:off x="837" y="2490"/>
                <a:ext cx="5700" cy="2630"/>
                <a:chOff x="837" y="2490"/>
                <a:chExt cx="5700" cy="2630"/>
              </a:xfrm>
            </p:grpSpPr>
            <p:grpSp>
              <p:nvGrpSpPr>
                <p:cNvPr id="27" name="组合 26"/>
                <p:cNvGrpSpPr/>
                <p:nvPr/>
              </p:nvGrpSpPr>
              <p:grpSpPr>
                <a:xfrm>
                  <a:off x="2355" y="2490"/>
                  <a:ext cx="4182" cy="2631"/>
                  <a:chOff x="9595" y="2357"/>
                  <a:chExt cx="4182" cy="2631"/>
                </a:xfrm>
              </p:grpSpPr>
              <p:sp>
                <p:nvSpPr>
                  <p:cNvPr id="43" name="文本框 42"/>
                  <p:cNvSpPr txBox="1"/>
                  <p:nvPr>
                    <p:custDataLst>
                      <p:tags r:id="rId17"/>
                    </p:custDataLst>
                  </p:nvPr>
                </p:nvSpPr>
                <p:spPr>
                  <a:xfrm flipH="1">
                    <a:off x="9595" y="2357"/>
                    <a:ext cx="2900" cy="6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zh-CN" altLang="en-US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楷体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AI Agent时代</a:t>
                    </a:r>
                  </a:p>
                </p:txBody>
              </p:sp>
              <p:sp>
                <p:nvSpPr>
                  <p:cNvPr id="44" name="文本框 43"/>
                  <p:cNvSpPr txBox="1"/>
                  <p:nvPr>
                    <p:custDataLst>
                      <p:tags r:id="rId18"/>
                    </p:custDataLst>
                  </p:nvPr>
                </p:nvSpPr>
                <p:spPr>
                  <a:xfrm flipH="1">
                    <a:off x="9595" y="2954"/>
                    <a:ext cx="4183" cy="20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>
                      <a:lnSpc>
                        <a:spcPct val="150000"/>
                      </a:lnSpc>
                    </a:pPr>
                    <a:r>
                      <a:rPr lang="zh-CN" altLang="en-US" sz="1300" dirty="0">
                        <a:solidFill>
                          <a:srgbClr val="6A6A6A"/>
                        </a:solidFill>
                        <a:latin typeface="楷体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大模型从聊天走向干活，Agent进入企业管理/客服/教育/金融，价值对齐/过度干预/短视成世界难题</a:t>
                    </a:r>
                  </a:p>
                </p:txBody>
              </p:sp>
            </p:grpSp>
            <p:grpSp>
              <p:nvGrpSpPr>
                <p:cNvPr id="61" name="组合 60"/>
                <p:cNvGrpSpPr/>
                <p:nvPr/>
              </p:nvGrpSpPr>
              <p:grpSpPr>
                <a:xfrm>
                  <a:off x="837" y="3303"/>
                  <a:ext cx="1230" cy="1006"/>
                  <a:chOff x="7885" y="2696"/>
                  <a:chExt cx="1230" cy="1006"/>
                </a:xfrm>
              </p:grpSpPr>
              <p:pic>
                <p:nvPicPr>
                  <p:cNvPr id="59" name="图片 58" descr="templates\picture_hover\&amp;pky230_sjzg_VCG211248479250&amp;"/>
                  <p:cNvPicPr>
                    <a:picLocks noChangeAspect="1"/>
                  </p:cNvPicPr>
                  <p:nvPr>
                    <p:custDataLst>
                      <p:tags r:id="rId15"/>
                    </p:custDataLst>
                  </p:nvPr>
                </p:nvPicPr>
                <p:blipFill>
                  <a:blip r:embed="rId26" cstate="email">
                    <a:clrChange>
                      <a:clrFrom>
                        <a:srgbClr val="FFFFFF">
                          <a:alpha val="100000"/>
                        </a:srgbClr>
                      </a:clrFrom>
                      <a:clrTo>
                        <a:srgbClr val="FFFFFF">
                          <a:alpha val="100000"/>
                          <a:alpha val="0"/>
                        </a:srgbClr>
                      </a:clrTo>
                    </a:clrChange>
                    <a:lum bright="12000"/>
                  </a:blip>
                  <a:srcRect/>
                  <a:stretch>
                    <a:fillRect/>
                  </a:stretch>
                </p:blipFill>
                <p:spPr>
                  <a:xfrm>
                    <a:off x="7921" y="2696"/>
                    <a:ext cx="1158" cy="1007"/>
                  </a:xfrm>
                  <a:custGeom>
                    <a:avLst/>
                    <a:gdLst/>
                    <a:ahLst/>
                    <a:cxnLst>
                      <a:cxn ang="3">
                        <a:pos x="hc" y="t"/>
                      </a:cxn>
                      <a:cxn ang="cd2">
                        <a:pos x="l" y="vc"/>
                      </a:cxn>
                      <a:cxn ang="cd4">
                        <a:pos x="hc" y="b"/>
                      </a:cxn>
                      <a:cxn ang="0">
                        <a:pos x="r" y="vc"/>
                      </a:cxn>
                    </a:cxnLst>
                    <a:rect l="l" t="t" r="r" b="b"/>
                    <a:pathLst>
                      <a:path w="4103" h="3570">
                        <a:moveTo>
                          <a:pt x="0" y="0"/>
                        </a:moveTo>
                        <a:lnTo>
                          <a:pt x="4103" y="0"/>
                        </a:lnTo>
                        <a:lnTo>
                          <a:pt x="4103" y="3570"/>
                        </a:lnTo>
                        <a:lnTo>
                          <a:pt x="0" y="357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60" name="文本框 59"/>
                  <p:cNvSpPr txBox="1"/>
                  <p:nvPr>
                    <p:custDataLst>
                      <p:tags r:id="rId16"/>
                    </p:custDataLst>
                  </p:nvPr>
                </p:nvSpPr>
                <p:spPr>
                  <a:xfrm>
                    <a:off x="7885" y="2714"/>
                    <a:ext cx="1231" cy="8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:r>
                      <a:rPr lang="zh-CN" sz="2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楷体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壹</a:t>
                    </a:r>
                  </a:p>
                </p:txBody>
              </p:sp>
            </p:grpSp>
          </p:grpSp>
          <p:grpSp>
            <p:nvGrpSpPr>
              <p:cNvPr id="63" name="组合 62"/>
              <p:cNvGrpSpPr/>
              <p:nvPr/>
            </p:nvGrpSpPr>
            <p:grpSpPr>
              <a:xfrm>
                <a:off x="837" y="5757"/>
                <a:ext cx="5700" cy="2630"/>
                <a:chOff x="837" y="2490"/>
                <a:chExt cx="5700" cy="2630"/>
              </a:xfrm>
            </p:grpSpPr>
            <p:grpSp>
              <p:nvGrpSpPr>
                <p:cNvPr id="64" name="组合 63"/>
                <p:cNvGrpSpPr/>
                <p:nvPr/>
              </p:nvGrpSpPr>
              <p:grpSpPr>
                <a:xfrm>
                  <a:off x="2355" y="2490"/>
                  <a:ext cx="4182" cy="2631"/>
                  <a:chOff x="9595" y="2357"/>
                  <a:chExt cx="4182" cy="2631"/>
                </a:xfrm>
              </p:grpSpPr>
              <p:sp>
                <p:nvSpPr>
                  <p:cNvPr id="65" name="文本框 64"/>
                  <p:cNvSpPr txBox="1"/>
                  <p:nvPr>
                    <p:custDataLst>
                      <p:tags r:id="rId13"/>
                    </p:custDataLst>
                  </p:nvPr>
                </p:nvSpPr>
                <p:spPr>
                  <a:xfrm flipH="1">
                    <a:off x="9595" y="2357"/>
                    <a:ext cx="2900" cy="6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zh-CN" altLang="en-US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楷体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心理健康刚需</a:t>
                    </a:r>
                  </a:p>
                </p:txBody>
              </p:sp>
              <p:sp>
                <p:nvSpPr>
                  <p:cNvPr id="67" name="文本框 66"/>
                  <p:cNvSpPr txBox="1"/>
                  <p:nvPr>
                    <p:custDataLst>
                      <p:tags r:id="rId14"/>
                    </p:custDataLst>
                  </p:nvPr>
                </p:nvSpPr>
                <p:spPr>
                  <a:xfrm flipH="1">
                    <a:off x="9595" y="2954"/>
                    <a:ext cx="4183" cy="20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>
                      <a:lnSpc>
                        <a:spcPct val="150000"/>
                      </a:lnSpc>
                    </a:pPr>
                    <a:r>
                      <a:rPr lang="zh-CN" altLang="en-US" sz="1300" dirty="0">
                        <a:solidFill>
                          <a:srgbClr val="6A6A6A"/>
                        </a:solidFill>
                        <a:latin typeface="楷体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3亿人心理困扰，焦虑障碍7.6%，治疗率不足10%；数字心理健康市场244亿美元，年增速20%</a:t>
                    </a:r>
                  </a:p>
                </p:txBody>
              </p:sp>
            </p:grpSp>
            <p:grpSp>
              <p:nvGrpSpPr>
                <p:cNvPr id="68" name="组合 67"/>
                <p:cNvGrpSpPr/>
                <p:nvPr/>
              </p:nvGrpSpPr>
              <p:grpSpPr>
                <a:xfrm>
                  <a:off x="837" y="3303"/>
                  <a:ext cx="1230" cy="1006"/>
                  <a:chOff x="7885" y="2696"/>
                  <a:chExt cx="1230" cy="1006"/>
                </a:xfrm>
              </p:grpSpPr>
              <p:pic>
                <p:nvPicPr>
                  <p:cNvPr id="69" name="图片 68" descr="templates\picture_hover\&amp;pky230_sjzg_VCG211248479250&amp;"/>
                  <p:cNvPicPr>
                    <a:picLocks noChangeAspect="1"/>
                  </p:cNvPicPr>
                  <p:nvPr>
                    <p:custDataLst>
                      <p:tags r:id="rId11"/>
                    </p:custDataLst>
                  </p:nvPr>
                </p:nvPicPr>
                <p:blipFill>
                  <a:blip r:embed="rId26" cstate="email">
                    <a:clrChange>
                      <a:clrFrom>
                        <a:srgbClr val="FFFFFF">
                          <a:alpha val="100000"/>
                        </a:srgbClr>
                      </a:clrFrom>
                      <a:clrTo>
                        <a:srgbClr val="FFFFFF">
                          <a:alpha val="100000"/>
                          <a:alpha val="0"/>
                        </a:srgbClr>
                      </a:clrTo>
                    </a:clrChange>
                    <a:lum bright="12000"/>
                  </a:blip>
                  <a:srcRect/>
                  <a:stretch>
                    <a:fillRect/>
                  </a:stretch>
                </p:blipFill>
                <p:spPr>
                  <a:xfrm>
                    <a:off x="7921" y="2696"/>
                    <a:ext cx="1158" cy="1007"/>
                  </a:xfrm>
                  <a:custGeom>
                    <a:avLst/>
                    <a:gdLst/>
                    <a:ahLst/>
                    <a:cxnLst>
                      <a:cxn ang="3">
                        <a:pos x="hc" y="t"/>
                      </a:cxn>
                      <a:cxn ang="cd2">
                        <a:pos x="l" y="vc"/>
                      </a:cxn>
                      <a:cxn ang="cd4">
                        <a:pos x="hc" y="b"/>
                      </a:cxn>
                      <a:cxn ang="0">
                        <a:pos x="r" y="vc"/>
                      </a:cxn>
                    </a:cxnLst>
                    <a:rect l="l" t="t" r="r" b="b"/>
                    <a:pathLst>
                      <a:path w="4103" h="3570">
                        <a:moveTo>
                          <a:pt x="0" y="0"/>
                        </a:moveTo>
                        <a:lnTo>
                          <a:pt x="4103" y="0"/>
                        </a:lnTo>
                        <a:lnTo>
                          <a:pt x="4103" y="3570"/>
                        </a:lnTo>
                        <a:lnTo>
                          <a:pt x="0" y="357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70" name="文本框 69"/>
                  <p:cNvSpPr txBox="1"/>
                  <p:nvPr>
                    <p:custDataLst>
                      <p:tags r:id="rId12"/>
                    </p:custDataLst>
                  </p:nvPr>
                </p:nvSpPr>
                <p:spPr>
                  <a:xfrm>
                    <a:off x="7885" y="2714"/>
                    <a:ext cx="1231" cy="8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:r>
                      <a:rPr lang="zh-CN" sz="2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楷体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叁</a:t>
                    </a:r>
                  </a:p>
                </p:txBody>
              </p:sp>
            </p:grpSp>
          </p:grpSp>
        </p:grpSp>
        <p:grpSp>
          <p:nvGrpSpPr>
            <p:cNvPr id="86" name="组合 85"/>
            <p:cNvGrpSpPr/>
            <p:nvPr/>
          </p:nvGrpSpPr>
          <p:grpSpPr>
            <a:xfrm>
              <a:off x="12983" y="2490"/>
              <a:ext cx="5700" cy="5897"/>
              <a:chOff x="12983" y="2490"/>
              <a:chExt cx="5700" cy="5897"/>
            </a:xfrm>
          </p:grpSpPr>
          <p:grpSp>
            <p:nvGrpSpPr>
              <p:cNvPr id="71" name="组合 70"/>
              <p:cNvGrpSpPr/>
              <p:nvPr/>
            </p:nvGrpSpPr>
            <p:grpSpPr>
              <a:xfrm>
                <a:off x="12983" y="2490"/>
                <a:ext cx="5700" cy="2630"/>
                <a:chOff x="837" y="2490"/>
                <a:chExt cx="5700" cy="2630"/>
              </a:xfrm>
            </p:grpSpPr>
            <p:grpSp>
              <p:nvGrpSpPr>
                <p:cNvPr id="72" name="组合 71"/>
                <p:cNvGrpSpPr/>
                <p:nvPr/>
              </p:nvGrpSpPr>
              <p:grpSpPr>
                <a:xfrm>
                  <a:off x="2355" y="2490"/>
                  <a:ext cx="4182" cy="2631"/>
                  <a:chOff x="9595" y="2357"/>
                  <a:chExt cx="4182" cy="2631"/>
                </a:xfrm>
              </p:grpSpPr>
              <p:sp>
                <p:nvSpPr>
                  <p:cNvPr id="73" name="文本框 72"/>
                  <p:cNvSpPr txBox="1"/>
                  <p:nvPr>
                    <p:custDataLst>
                      <p:tags r:id="rId9"/>
                    </p:custDataLst>
                  </p:nvPr>
                </p:nvSpPr>
                <p:spPr>
                  <a:xfrm flipH="1">
                    <a:off x="9595" y="2357"/>
                    <a:ext cx="2900" cy="6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zh-CN" altLang="en-US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楷体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情绪经济爆发</a:t>
                    </a:r>
                  </a:p>
                </p:txBody>
              </p:sp>
              <p:sp>
                <p:nvSpPr>
                  <p:cNvPr id="75" name="文本框 74"/>
                  <p:cNvSpPr txBox="1"/>
                  <p:nvPr>
                    <p:custDataLst>
                      <p:tags r:id="rId10"/>
                    </p:custDataLst>
                  </p:nvPr>
                </p:nvSpPr>
                <p:spPr>
                  <a:xfrm flipH="1">
                    <a:off x="9595" y="2954"/>
                    <a:ext cx="4183" cy="20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>
                      <a:lnSpc>
                        <a:spcPct val="150000"/>
                      </a:lnSpc>
                    </a:pPr>
                    <a:r>
                      <a:rPr lang="zh-CN" altLang="en-US" sz="1300" dirty="0">
                        <a:solidFill>
                          <a:srgbClr val="6A6A6A"/>
                        </a:solidFill>
                        <a:latin typeface="楷体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2025年2.7万亿→2029年4.5万亿；AI情感陪伴同比+219%；政策将情绪服务列入重点培育</a:t>
                    </a:r>
                  </a:p>
                </p:txBody>
              </p:sp>
            </p:grpSp>
            <p:grpSp>
              <p:nvGrpSpPr>
                <p:cNvPr id="76" name="组合 75"/>
                <p:cNvGrpSpPr/>
                <p:nvPr/>
              </p:nvGrpSpPr>
              <p:grpSpPr>
                <a:xfrm>
                  <a:off x="837" y="3303"/>
                  <a:ext cx="1230" cy="1006"/>
                  <a:chOff x="7885" y="2696"/>
                  <a:chExt cx="1230" cy="1006"/>
                </a:xfrm>
              </p:grpSpPr>
              <p:pic>
                <p:nvPicPr>
                  <p:cNvPr id="77" name="图片 76" descr="templates\picture_hover\&amp;pky230_sjzg_VCG211248479250&amp;"/>
                  <p:cNvPicPr>
                    <a:picLocks noChangeAspect="1"/>
                  </p:cNvPicPr>
                  <p:nvPr>
                    <p:custDataLst>
                      <p:tags r:id="rId7"/>
                    </p:custDataLst>
                  </p:nvPr>
                </p:nvPicPr>
                <p:blipFill>
                  <a:blip r:embed="rId26" cstate="email">
                    <a:clrChange>
                      <a:clrFrom>
                        <a:srgbClr val="FFFFFF">
                          <a:alpha val="100000"/>
                        </a:srgbClr>
                      </a:clrFrom>
                      <a:clrTo>
                        <a:srgbClr val="FFFFFF">
                          <a:alpha val="100000"/>
                          <a:alpha val="0"/>
                        </a:srgbClr>
                      </a:clrTo>
                    </a:clrChange>
                    <a:lum bright="12000"/>
                  </a:blip>
                  <a:srcRect/>
                  <a:stretch>
                    <a:fillRect/>
                  </a:stretch>
                </p:blipFill>
                <p:spPr>
                  <a:xfrm>
                    <a:off x="7921" y="2696"/>
                    <a:ext cx="1158" cy="1007"/>
                  </a:xfrm>
                  <a:custGeom>
                    <a:avLst/>
                    <a:gdLst/>
                    <a:ahLst/>
                    <a:cxnLst>
                      <a:cxn ang="3">
                        <a:pos x="hc" y="t"/>
                      </a:cxn>
                      <a:cxn ang="cd2">
                        <a:pos x="l" y="vc"/>
                      </a:cxn>
                      <a:cxn ang="cd4">
                        <a:pos x="hc" y="b"/>
                      </a:cxn>
                      <a:cxn ang="0">
                        <a:pos x="r" y="vc"/>
                      </a:cxn>
                    </a:cxnLst>
                    <a:rect l="l" t="t" r="r" b="b"/>
                    <a:pathLst>
                      <a:path w="4103" h="3570">
                        <a:moveTo>
                          <a:pt x="0" y="0"/>
                        </a:moveTo>
                        <a:lnTo>
                          <a:pt x="4103" y="0"/>
                        </a:lnTo>
                        <a:lnTo>
                          <a:pt x="4103" y="3570"/>
                        </a:lnTo>
                        <a:lnTo>
                          <a:pt x="0" y="357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78" name="文本框 77"/>
                  <p:cNvSpPr txBox="1"/>
                  <p:nvPr>
                    <p:custDataLst>
                      <p:tags r:id="rId8"/>
                    </p:custDataLst>
                  </p:nvPr>
                </p:nvSpPr>
                <p:spPr>
                  <a:xfrm>
                    <a:off x="7885" y="2714"/>
                    <a:ext cx="1231" cy="8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:r>
                      <a:rPr lang="zh-CN" sz="2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楷体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贰</a:t>
                    </a:r>
                  </a:p>
                </p:txBody>
              </p:sp>
            </p:grpSp>
          </p:grpSp>
          <p:grpSp>
            <p:nvGrpSpPr>
              <p:cNvPr id="79" name="组合 78"/>
              <p:cNvGrpSpPr/>
              <p:nvPr/>
            </p:nvGrpSpPr>
            <p:grpSpPr>
              <a:xfrm>
                <a:off x="12983" y="5757"/>
                <a:ext cx="5700" cy="2630"/>
                <a:chOff x="837" y="2490"/>
                <a:chExt cx="5700" cy="2630"/>
              </a:xfrm>
            </p:grpSpPr>
            <p:grpSp>
              <p:nvGrpSpPr>
                <p:cNvPr id="80" name="组合 79"/>
                <p:cNvGrpSpPr/>
                <p:nvPr/>
              </p:nvGrpSpPr>
              <p:grpSpPr>
                <a:xfrm>
                  <a:off x="2355" y="2490"/>
                  <a:ext cx="4182" cy="2631"/>
                  <a:chOff x="9595" y="2357"/>
                  <a:chExt cx="4182" cy="2631"/>
                </a:xfrm>
              </p:grpSpPr>
              <p:sp>
                <p:nvSpPr>
                  <p:cNvPr id="81" name="文本框 80"/>
                  <p:cNvSpPr txBox="1"/>
                  <p:nvPr>
                    <p:custDataLst>
                      <p:tags r:id="rId5"/>
                    </p:custDataLst>
                  </p:nvPr>
                </p:nvSpPr>
                <p:spPr>
                  <a:xfrm flipH="1">
                    <a:off x="9595" y="2357"/>
                    <a:ext cx="2900" cy="6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/>
                    <a:r>
                      <a:rPr lang="zh-CN" altLang="en-US" sz="2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楷体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文化数字化红利</a:t>
                    </a:r>
                  </a:p>
                </p:txBody>
              </p:sp>
              <p:sp>
                <p:nvSpPr>
                  <p:cNvPr id="82" name="文本框 81"/>
                  <p:cNvSpPr txBox="1"/>
                  <p:nvPr>
                    <p:custDataLst>
                      <p:tags r:id="rId6"/>
                    </p:custDataLst>
                  </p:nvPr>
                </p:nvSpPr>
                <p:spPr>
                  <a:xfrm flipH="1">
                    <a:off x="9595" y="2954"/>
                    <a:ext cx="4183" cy="20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l">
                      <a:lnSpc>
                        <a:spcPct val="150000"/>
                      </a:lnSpc>
                    </a:pPr>
                    <a:r>
                      <a:rPr lang="zh-CN" altLang="en-US" sz="1300" dirty="0">
                        <a:solidFill>
                          <a:srgbClr val="6A6A6A"/>
                        </a:solidFill>
                        <a:latin typeface="楷体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国家文化数字化战略+古籍数字化百亿市场；传统文化×AI进入教育国家级试点</a:t>
                    </a:r>
                  </a:p>
                </p:txBody>
              </p:sp>
            </p:grpSp>
            <p:grpSp>
              <p:nvGrpSpPr>
                <p:cNvPr id="83" name="组合 82"/>
                <p:cNvGrpSpPr/>
                <p:nvPr/>
              </p:nvGrpSpPr>
              <p:grpSpPr>
                <a:xfrm>
                  <a:off x="837" y="3303"/>
                  <a:ext cx="1230" cy="1006"/>
                  <a:chOff x="7885" y="2696"/>
                  <a:chExt cx="1230" cy="1006"/>
                </a:xfrm>
              </p:grpSpPr>
              <p:pic>
                <p:nvPicPr>
                  <p:cNvPr id="84" name="图片 83" descr="templates\picture_hover\&amp;pky230_sjzg_VCG211248479250&amp;"/>
                  <p:cNvPicPr>
                    <a:picLocks noChangeAspect="1"/>
                  </p:cNvPicPr>
                  <p:nvPr>
                    <p:custDataLst>
                      <p:tags r:id="rId3"/>
                    </p:custDataLst>
                  </p:nvPr>
                </p:nvPicPr>
                <p:blipFill>
                  <a:blip r:embed="rId26" cstate="email">
                    <a:clrChange>
                      <a:clrFrom>
                        <a:srgbClr val="FFFFFF">
                          <a:alpha val="100000"/>
                        </a:srgbClr>
                      </a:clrFrom>
                      <a:clrTo>
                        <a:srgbClr val="FFFFFF">
                          <a:alpha val="100000"/>
                          <a:alpha val="0"/>
                        </a:srgbClr>
                      </a:clrTo>
                    </a:clrChange>
                    <a:lum bright="12000"/>
                  </a:blip>
                  <a:srcRect/>
                  <a:stretch>
                    <a:fillRect/>
                  </a:stretch>
                </p:blipFill>
                <p:spPr>
                  <a:xfrm>
                    <a:off x="7921" y="2696"/>
                    <a:ext cx="1158" cy="1007"/>
                  </a:xfrm>
                  <a:custGeom>
                    <a:avLst/>
                    <a:gdLst/>
                    <a:ahLst/>
                    <a:cxnLst>
                      <a:cxn ang="3">
                        <a:pos x="hc" y="t"/>
                      </a:cxn>
                      <a:cxn ang="cd2">
                        <a:pos x="l" y="vc"/>
                      </a:cxn>
                      <a:cxn ang="cd4">
                        <a:pos x="hc" y="b"/>
                      </a:cxn>
                      <a:cxn ang="0">
                        <a:pos x="r" y="vc"/>
                      </a:cxn>
                    </a:cxnLst>
                    <a:rect l="l" t="t" r="r" b="b"/>
                    <a:pathLst>
                      <a:path w="4103" h="3570">
                        <a:moveTo>
                          <a:pt x="0" y="0"/>
                        </a:moveTo>
                        <a:lnTo>
                          <a:pt x="4103" y="0"/>
                        </a:lnTo>
                        <a:lnTo>
                          <a:pt x="4103" y="3570"/>
                        </a:lnTo>
                        <a:lnTo>
                          <a:pt x="0" y="357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</p:spPr>
              </p:pic>
              <p:sp>
                <p:nvSpPr>
                  <p:cNvPr id="85" name="文本框 84"/>
                  <p:cNvSpPr txBox="1"/>
                  <p:nvPr>
                    <p:custDataLst>
                      <p:tags r:id="rId4"/>
                    </p:custDataLst>
                  </p:nvPr>
                </p:nvSpPr>
                <p:spPr>
                  <a:xfrm>
                    <a:off x="7885" y="2714"/>
                    <a:ext cx="1231" cy="8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lstStyle/>
                  <a:p>
                    <a:pPr algn="ctr"/>
                    <a:r>
                      <a:rPr lang="zh-CN" sz="2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楷体"/>
                        <a:ea typeface="思源宋体 CN Heavy" panose="02020900000000000000" pitchFamily="18" charset="-122"/>
                        <a:cs typeface="+mn-ea"/>
                        <a:sym typeface="+mn-lt"/>
                      </a:rPr>
                      <a:t>肆</a:t>
                    </a: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UTO::custom::page-05-market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::page-05-market::mkt-title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C00000"/>
                </a:solidFill>
                <a:latin typeface="楷体"/>
              </a:rPr>
              <a:t>万亿级市场正在打开</a:t>
            </a:r>
          </a:p>
        </p:txBody>
      </p:sp>
      <p:cxnSp>
        <p:nvCxnSpPr>
          <p:cNvPr id="3" name="AUTO::page-05-market::mkt-line"/>
          <p:cNvCxnSpPr/>
          <p:nvPr/>
        </p:nvCxnSpPr>
        <p:spPr>
          <a:xfrm>
            <a:off x="5029200" y="1005840"/>
            <a:ext cx="210312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AUTO::page-05-market::mkt-chart"/>
          <p:cNvGraphicFramePr>
            <a:graphicFrameLocks noGrp="1"/>
          </p:cNvGraphicFramePr>
          <p:nvPr/>
        </p:nvGraphicFramePr>
        <p:xfrm>
          <a:off x="640080" y="1371600"/>
          <a:ext cx="109728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AUTO::page-05-market::mkt-note1"/>
          <p:cNvSpPr txBox="1"/>
          <p:nvPr/>
        </p:nvSpPr>
        <p:spPr>
          <a:xfrm>
            <a:off x="640080" y="5852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A6A6A"/>
                </a:solidFill>
                <a:latin typeface="楷体"/>
              </a:rPr>
              <a:t>情绪经济：2025年2.7万亿→2029年4.5万亿</a:t>
            </a:r>
          </a:p>
        </p:txBody>
      </p:sp>
      <p:sp>
        <p:nvSpPr>
          <p:cNvPr id="6" name="AUTO::page-05-market::mkt-note2"/>
          <p:cNvSpPr txBox="1"/>
          <p:nvPr/>
        </p:nvSpPr>
        <p:spPr>
          <a:xfrm>
            <a:off x="6217920" y="5852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A6A6A"/>
                </a:solidFill>
                <a:latin typeface="楷体"/>
              </a:rPr>
              <a:t>AI情感陪伴：同比+219%，2028年近600亿</a:t>
            </a:r>
          </a:p>
        </p:txBody>
      </p:sp>
      <p:sp>
        <p:nvSpPr>
          <p:cNvPr id="7" name="AUTO::page-05-market::mkt-source"/>
          <p:cNvSpPr txBox="1"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5A5A5"/>
                </a:solidFill>
                <a:latin typeface="楷体"/>
              </a:rPr>
              <a:t>数据来源：艾媒咨询《2025-2029中国情绪经济消费趋势洞察报告》、全球数字心理健康市场报告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 descr="templates\picture_hover\&amp;pky290_sjzg_VCG211356148776&amp;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2" cstate="email">
            <a:alphaModFix amt="24000"/>
            <a:lum bright="12000"/>
          </a:blip>
          <a:srcRect/>
          <a:stretch>
            <a:fillRect/>
          </a:stretch>
        </p:blipFill>
        <p:spPr>
          <a:xfrm>
            <a:off x="0" y="3081020"/>
            <a:ext cx="12192000" cy="37769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5948">
                <a:moveTo>
                  <a:pt x="0" y="0"/>
                </a:moveTo>
                <a:lnTo>
                  <a:pt x="19200" y="0"/>
                </a:lnTo>
                <a:lnTo>
                  <a:pt x="19200" y="5948"/>
                </a:lnTo>
                <a:lnTo>
                  <a:pt x="0" y="594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" name="图片 2" descr="templates\picture_hover\&amp;pky260_sjzg_VCG211356166098&amp;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3" cstate="email">
            <a:alphaModFix amt="80000"/>
          </a:blip>
          <a:stretch>
            <a:fillRect/>
          </a:stretch>
        </p:blipFill>
        <p:spPr>
          <a:xfrm>
            <a:off x="241300" y="1003300"/>
            <a:ext cx="5461000" cy="54610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4429760" y="471805"/>
            <a:ext cx="3332480" cy="459740"/>
            <a:chOff x="6976" y="743"/>
            <a:chExt cx="5248" cy="724"/>
          </a:xfrm>
        </p:grpSpPr>
        <p:sp>
          <p:nvSpPr>
            <p:cNvPr id="31" name="文本框 30"/>
            <p:cNvSpPr txBox="1"/>
            <p:nvPr>
              <p:custDataLst>
                <p:tags r:id="rId16"/>
              </p:custDataLst>
            </p:nvPr>
          </p:nvSpPr>
          <p:spPr>
            <a:xfrm>
              <a:off x="7010" y="743"/>
              <a:ext cx="518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tx1"/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为什么道德经？</a:t>
              </a: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6976" y="992"/>
              <a:ext cx="226" cy="226"/>
              <a:chOff x="7717" y="9163"/>
              <a:chExt cx="226" cy="226"/>
            </a:xfrm>
          </p:grpSpPr>
          <p:sp>
            <p:nvSpPr>
              <p:cNvPr id="36" name="椭圆 35"/>
              <p:cNvSpPr/>
              <p:nvPr>
                <p:custDataLst>
                  <p:tags r:id="rId19"/>
                </p:custDataLst>
              </p:nvPr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37" name="椭圆 36"/>
              <p:cNvSpPr/>
              <p:nvPr>
                <p:custDataLst>
                  <p:tags r:id="rId20"/>
                </p:custDataLst>
              </p:nvPr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1998" y="992"/>
              <a:ext cx="226" cy="226"/>
              <a:chOff x="7717" y="9163"/>
              <a:chExt cx="226" cy="226"/>
            </a:xfrm>
          </p:grpSpPr>
          <p:sp>
            <p:nvSpPr>
              <p:cNvPr id="39" name="椭圆 38"/>
              <p:cNvSpPr/>
              <p:nvPr>
                <p:custDataLst>
                  <p:tags r:id="rId17"/>
                </p:custDataLst>
              </p:nvPr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椭圆 39"/>
              <p:cNvSpPr/>
              <p:nvPr>
                <p:custDataLst>
                  <p:tags r:id="rId18"/>
                </p:custDataLst>
              </p:nvPr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66" name="组合 65"/>
          <p:cNvGrpSpPr/>
          <p:nvPr/>
        </p:nvGrpSpPr>
        <p:grpSpPr>
          <a:xfrm>
            <a:off x="5895340" y="1916430"/>
            <a:ext cx="5366385" cy="3605530"/>
            <a:chOff x="9284" y="3018"/>
            <a:chExt cx="8451" cy="5678"/>
          </a:xfrm>
        </p:grpSpPr>
        <p:sp>
          <p:nvSpPr>
            <p:cNvPr id="2" name="文本框 1"/>
            <p:cNvSpPr txBox="1"/>
            <p:nvPr>
              <p:custDataLst>
                <p:tags r:id="rId3"/>
              </p:custDataLst>
            </p:nvPr>
          </p:nvSpPr>
          <p:spPr>
            <a:xfrm flipH="1">
              <a:off x="10219" y="3188"/>
              <a:ext cx="2900" cy="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AI治理难题</a:t>
              </a:r>
            </a:p>
          </p:txBody>
        </p:sp>
        <p:sp>
          <p:nvSpPr>
            <p:cNvPr id="44" name="文本框 43"/>
            <p:cNvSpPr txBox="1"/>
            <p:nvPr>
              <p:custDataLst>
                <p:tags r:id="rId4"/>
              </p:custDataLst>
            </p:nvPr>
          </p:nvSpPr>
          <p:spPr>
            <a:xfrm flipH="1">
              <a:off x="10219" y="3977"/>
              <a:ext cx="7516" cy="1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300" dirty="0">
                  <a:solidFill>
                    <a:srgbClr val="6A6A6A"/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价值对齐：听谁的？→守中：先立边界\n过度干预：太激进/太谄媚？→无为：最小干预\n短视：追短期指标？→自然/知足：尊重周期</a:t>
              </a:r>
            </a:p>
          </p:txBody>
        </p:sp>
        <p:sp>
          <p:nvSpPr>
            <p:cNvPr id="15" name="文本框 14"/>
            <p:cNvSpPr txBox="1"/>
            <p:nvPr>
              <p:custDataLst>
                <p:tags r:id="rId5"/>
              </p:custDataLst>
            </p:nvPr>
          </p:nvSpPr>
          <p:spPr>
            <a:xfrm flipH="1">
              <a:off x="10219" y="5129"/>
              <a:ext cx="7516" cy="1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300" dirty="0">
                  <a:solidFill>
                    <a:srgbClr val="6A6A6A"/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道德经给出东方答案：可形式化的思维元规则，天然适配Agent的system prompt约束与决策前反思检查</a:t>
              </a:r>
            </a:p>
          </p:txBody>
        </p:sp>
        <p:grpSp>
          <p:nvGrpSpPr>
            <p:cNvPr id="65" name="组合 64"/>
            <p:cNvGrpSpPr/>
            <p:nvPr/>
          </p:nvGrpSpPr>
          <p:grpSpPr>
            <a:xfrm>
              <a:off x="9696" y="4409"/>
              <a:ext cx="226" cy="1378"/>
              <a:chOff x="9742" y="4409"/>
              <a:chExt cx="226" cy="1378"/>
            </a:xfrm>
          </p:grpSpPr>
          <p:sp>
            <p:nvSpPr>
              <p:cNvPr id="6" name="椭圆 5"/>
              <p:cNvSpPr/>
              <p:nvPr>
                <p:custDataLst>
                  <p:tags r:id="rId12"/>
                </p:custDataLst>
              </p:nvPr>
            </p:nvSpPr>
            <p:spPr>
              <a:xfrm>
                <a:off x="9785" y="4452"/>
                <a:ext cx="142" cy="142"/>
              </a:xfrm>
              <a:prstGeom prst="ellipse">
                <a:avLst/>
              </a:prstGeom>
              <a:solidFill>
                <a:srgbClr val="6A6A6A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16" name="椭圆 15"/>
              <p:cNvSpPr/>
              <p:nvPr>
                <p:custDataLst>
                  <p:tags r:id="rId13"/>
                </p:custDataLst>
              </p:nvPr>
            </p:nvSpPr>
            <p:spPr>
              <a:xfrm>
                <a:off x="9785" y="5604"/>
                <a:ext cx="142" cy="142"/>
              </a:xfrm>
              <a:prstGeom prst="ellipse">
                <a:avLst/>
              </a:prstGeom>
              <a:solidFill>
                <a:srgbClr val="6A6A6A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grpSp>
            <p:nvGrpSpPr>
              <p:cNvPr id="64" name="组合 63"/>
              <p:cNvGrpSpPr/>
              <p:nvPr/>
            </p:nvGrpSpPr>
            <p:grpSpPr>
              <a:xfrm>
                <a:off x="9742" y="4409"/>
                <a:ext cx="226" cy="1378"/>
                <a:chOff x="9742" y="4409"/>
                <a:chExt cx="226" cy="1378"/>
              </a:xfrm>
            </p:grpSpPr>
            <p:sp>
              <p:nvSpPr>
                <p:cNvPr id="7" name="椭圆 6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9742" y="4409"/>
                  <a:ext cx="227" cy="227"/>
                </a:xfrm>
                <a:prstGeom prst="ellipse">
                  <a:avLst/>
                </a:prstGeom>
                <a:noFill/>
                <a:ln>
                  <a:solidFill>
                    <a:srgbClr val="6A6A6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椭圆 16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9742" y="5561"/>
                  <a:ext cx="227" cy="227"/>
                </a:xfrm>
                <a:prstGeom prst="ellipse">
                  <a:avLst/>
                </a:prstGeom>
                <a:noFill/>
                <a:ln>
                  <a:solidFill>
                    <a:srgbClr val="6A6A6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</p:grpSp>
        </p:grpSp>
        <p:pic>
          <p:nvPicPr>
            <p:cNvPr id="50" name="图片 49" descr="templates\picture_hover\&amp;pky390_sjzg_VCG41N1298925046&amp;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4" cstate="email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36000"/>
            </a:blip>
            <a:stretch>
              <a:fillRect/>
            </a:stretch>
          </p:blipFill>
          <p:spPr>
            <a:xfrm flipH="1">
              <a:off x="9284" y="3018"/>
              <a:ext cx="1017" cy="1017"/>
            </a:xfrm>
            <a:prstGeom prst="rect">
              <a:avLst/>
            </a:prstGeom>
          </p:spPr>
        </p:pic>
        <p:sp>
          <p:nvSpPr>
            <p:cNvPr id="51" name="文本框 50"/>
            <p:cNvSpPr txBox="1"/>
            <p:nvPr>
              <p:custDataLst>
                <p:tags r:id="rId7"/>
              </p:custDataLst>
            </p:nvPr>
          </p:nvSpPr>
          <p:spPr>
            <a:xfrm flipH="1">
              <a:off x="10219" y="6866"/>
              <a:ext cx="2900" cy="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三重窗口叠加</a:t>
              </a:r>
            </a:p>
          </p:txBody>
        </p:sp>
        <p:sp>
          <p:nvSpPr>
            <p:cNvPr id="53" name="文本框 52"/>
            <p:cNvSpPr txBox="1"/>
            <p:nvPr>
              <p:custDataLst>
                <p:tags r:id="rId8"/>
              </p:custDataLst>
            </p:nvPr>
          </p:nvSpPr>
          <p:spPr>
            <a:xfrm flipH="1">
              <a:off x="10219" y="7655"/>
              <a:ext cx="7516" cy="1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300" dirty="0">
                  <a:solidFill>
                    <a:srgbClr val="6A6A6A"/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2026年是典籍→智能体的政策窗口+情绪经济爆发元年+AI Agent落地元年；三重窗口叠加，错过即被卡位</a:t>
              </a:r>
            </a:p>
          </p:txBody>
        </p:sp>
        <p:grpSp>
          <p:nvGrpSpPr>
            <p:cNvPr id="63" name="组合 62"/>
            <p:cNvGrpSpPr/>
            <p:nvPr/>
          </p:nvGrpSpPr>
          <p:grpSpPr>
            <a:xfrm>
              <a:off x="9696" y="8087"/>
              <a:ext cx="226" cy="226"/>
              <a:chOff x="9742" y="8087"/>
              <a:chExt cx="226" cy="226"/>
            </a:xfrm>
          </p:grpSpPr>
          <p:sp>
            <p:nvSpPr>
              <p:cNvPr id="54" name="椭圆 53"/>
              <p:cNvSpPr/>
              <p:nvPr>
                <p:custDataLst>
                  <p:tags r:id="rId10"/>
                </p:custDataLst>
              </p:nvPr>
            </p:nvSpPr>
            <p:spPr>
              <a:xfrm>
                <a:off x="9785" y="8130"/>
                <a:ext cx="142" cy="142"/>
              </a:xfrm>
              <a:prstGeom prst="ellipse">
                <a:avLst/>
              </a:prstGeom>
              <a:solidFill>
                <a:srgbClr val="6A6A6A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55" name="椭圆 54"/>
              <p:cNvSpPr/>
              <p:nvPr>
                <p:custDataLst>
                  <p:tags r:id="rId11"/>
                </p:custDataLst>
              </p:nvPr>
            </p:nvSpPr>
            <p:spPr>
              <a:xfrm>
                <a:off x="9742" y="8087"/>
                <a:ext cx="227" cy="227"/>
              </a:xfrm>
              <a:prstGeom prst="ellipse">
                <a:avLst/>
              </a:prstGeom>
              <a:noFill/>
              <a:ln>
                <a:solidFill>
                  <a:srgbClr val="6A6A6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  <p:pic>
          <p:nvPicPr>
            <p:cNvPr id="60" name="图片 59" descr="templates\picture_hover\&amp;pky390_sjzg_VCG41N1298925046&amp;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24" cstate="email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36000"/>
            </a:blip>
            <a:stretch>
              <a:fillRect/>
            </a:stretch>
          </p:blipFill>
          <p:spPr>
            <a:xfrm flipH="1">
              <a:off x="9284" y="6696"/>
              <a:ext cx="1017" cy="10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/>
          <p:cNvGrpSpPr/>
          <p:nvPr/>
        </p:nvGrpSpPr>
        <p:grpSpPr>
          <a:xfrm>
            <a:off x="0" y="717550"/>
            <a:ext cx="12192000" cy="6140450"/>
            <a:chOff x="0" y="1130"/>
            <a:chExt cx="19200" cy="9670"/>
          </a:xfrm>
        </p:grpSpPr>
        <p:pic>
          <p:nvPicPr>
            <p:cNvPr id="35" name="图片 34" descr="templates\picture_hover\&amp;pky290_sjzg_VCG211356148776&amp;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21" cstate="email">
              <a:alphaModFix amt="80000"/>
              <a:lum bright="12000"/>
            </a:blip>
            <a:srcRect/>
            <a:stretch>
              <a:fillRect/>
            </a:stretch>
          </p:blipFill>
          <p:spPr>
            <a:xfrm>
              <a:off x="0" y="4852"/>
              <a:ext cx="19200" cy="594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200" h="5948">
                  <a:moveTo>
                    <a:pt x="0" y="0"/>
                  </a:moveTo>
                  <a:lnTo>
                    <a:pt x="19200" y="0"/>
                  </a:lnTo>
                  <a:lnTo>
                    <a:pt x="19200" y="5948"/>
                  </a:lnTo>
                  <a:lnTo>
                    <a:pt x="0" y="5948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20" name="图片 19" descr="templates\picture_hover\&amp;pky8389331009&amp;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2" cstate="email">
              <a:alphaModFix amt="40000"/>
            </a:blip>
            <a:srcRect/>
            <a:stretch>
              <a:fillRect/>
            </a:stretch>
          </p:blipFill>
          <p:spPr>
            <a:xfrm rot="21060000">
              <a:off x="15642" y="1130"/>
              <a:ext cx="2150" cy="1989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850" h="2636">
                  <a:moveTo>
                    <a:pt x="0" y="0"/>
                  </a:moveTo>
                  <a:lnTo>
                    <a:pt x="2850" y="0"/>
                  </a:lnTo>
                  <a:lnTo>
                    <a:pt x="2850" y="2636"/>
                  </a:lnTo>
                  <a:lnTo>
                    <a:pt x="0" y="2636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4451033" y="471488"/>
            <a:ext cx="3289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2400" dirty="0">
                <a:solidFill>
                  <a:schemeClr val="tx1"/>
                </a:solidFill>
                <a:latin typeface="楷体"/>
                <a:ea typeface="思源宋体 CN Heavy" panose="02020900000000000000" pitchFamily="18" charset="-122"/>
                <a:cs typeface="+mn-ea"/>
                <a:sym typeface="+mn-lt"/>
              </a:rPr>
              <a:t>竞争格局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4429760" y="629920"/>
            <a:ext cx="3332480" cy="143510"/>
            <a:chOff x="6699" y="992"/>
            <a:chExt cx="5248" cy="226"/>
          </a:xfrm>
        </p:grpSpPr>
        <p:grpSp>
          <p:nvGrpSpPr>
            <p:cNvPr id="2" name="组合 1"/>
            <p:cNvGrpSpPr/>
            <p:nvPr/>
          </p:nvGrpSpPr>
          <p:grpSpPr>
            <a:xfrm>
              <a:off x="6699" y="992"/>
              <a:ext cx="226" cy="226"/>
              <a:chOff x="7717" y="9163"/>
              <a:chExt cx="226" cy="226"/>
            </a:xfrm>
          </p:grpSpPr>
          <p:sp>
            <p:nvSpPr>
              <p:cNvPr id="17" name="椭圆 16"/>
              <p:cNvSpPr/>
              <p:nvPr>
                <p:custDataLst>
                  <p:tags r:id="rId16"/>
                </p:custDataLst>
              </p:nvPr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18" name="椭圆 17"/>
              <p:cNvSpPr/>
              <p:nvPr>
                <p:custDataLst>
                  <p:tags r:id="rId17"/>
                </p:custDataLst>
              </p:nvPr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11721" y="992"/>
              <a:ext cx="226" cy="226"/>
              <a:chOff x="7717" y="9163"/>
              <a:chExt cx="226" cy="226"/>
            </a:xfrm>
          </p:grpSpPr>
          <p:sp>
            <p:nvSpPr>
              <p:cNvPr id="4" name="椭圆 3"/>
              <p:cNvSpPr/>
              <p:nvPr>
                <p:custDataLst>
                  <p:tags r:id="rId14"/>
                </p:custDataLst>
              </p:nvPr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21" name="椭圆 20"/>
              <p:cNvSpPr/>
              <p:nvPr>
                <p:custDataLst>
                  <p:tags r:id="rId15"/>
                </p:custDataLst>
              </p:nvPr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9" name="组合 58"/>
          <p:cNvGrpSpPr/>
          <p:nvPr/>
        </p:nvGrpSpPr>
        <p:grpSpPr>
          <a:xfrm>
            <a:off x="1314450" y="2037080"/>
            <a:ext cx="9563100" cy="3492500"/>
            <a:chOff x="2382" y="3208"/>
            <a:chExt cx="15060" cy="5500"/>
          </a:xfrm>
        </p:grpSpPr>
        <p:grpSp>
          <p:nvGrpSpPr>
            <p:cNvPr id="31" name="组合 30"/>
            <p:cNvGrpSpPr/>
            <p:nvPr/>
          </p:nvGrpSpPr>
          <p:grpSpPr>
            <a:xfrm>
              <a:off x="2382" y="3208"/>
              <a:ext cx="3266" cy="5500"/>
              <a:chOff x="2382" y="3208"/>
              <a:chExt cx="3266" cy="5500"/>
            </a:xfrm>
          </p:grpSpPr>
          <p:grpSp>
            <p:nvGrpSpPr>
              <p:cNvPr id="30" name="组合 29"/>
              <p:cNvGrpSpPr/>
              <p:nvPr/>
            </p:nvGrpSpPr>
            <p:grpSpPr>
              <a:xfrm>
                <a:off x="2382" y="3208"/>
                <a:ext cx="3266" cy="5500"/>
                <a:chOff x="2382" y="3208"/>
                <a:chExt cx="3266" cy="5500"/>
              </a:xfrm>
            </p:grpSpPr>
            <p:sp>
              <p:nvSpPr>
                <p:cNvPr id="5" name="任意多边形 4"/>
                <p:cNvSpPr/>
                <p:nvPr/>
              </p:nvSpPr>
              <p:spPr>
                <a:xfrm>
                  <a:off x="2382" y="3208"/>
                  <a:ext cx="3267" cy="5500"/>
                </a:xfrm>
                <a:custGeom>
                  <a:avLst/>
                  <a:gdLst/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267" h="5500">
                      <a:moveTo>
                        <a:pt x="306" y="0"/>
                      </a:moveTo>
                      <a:lnTo>
                        <a:pt x="2962" y="0"/>
                      </a:lnTo>
                      <a:lnTo>
                        <a:pt x="2961" y="1"/>
                      </a:lnTo>
                      <a:cubicBezTo>
                        <a:pt x="2961" y="7"/>
                        <a:pt x="2961" y="12"/>
                        <a:pt x="2961" y="18"/>
                      </a:cubicBezTo>
                      <a:cubicBezTo>
                        <a:pt x="2961" y="187"/>
                        <a:pt x="3094" y="325"/>
                        <a:pt x="3261" y="334"/>
                      </a:cubicBezTo>
                      <a:lnTo>
                        <a:pt x="3267" y="334"/>
                      </a:lnTo>
                      <a:lnTo>
                        <a:pt x="3267" y="5168"/>
                      </a:lnTo>
                      <a:lnTo>
                        <a:pt x="3261" y="5168"/>
                      </a:lnTo>
                      <a:cubicBezTo>
                        <a:pt x="3094" y="5177"/>
                        <a:pt x="2961" y="5315"/>
                        <a:pt x="2961" y="5485"/>
                      </a:cubicBezTo>
                      <a:lnTo>
                        <a:pt x="2961" y="5500"/>
                      </a:lnTo>
                      <a:lnTo>
                        <a:pt x="307" y="5500"/>
                      </a:lnTo>
                      <a:lnTo>
                        <a:pt x="307" y="5485"/>
                      </a:lnTo>
                      <a:cubicBezTo>
                        <a:pt x="307" y="5315"/>
                        <a:pt x="174" y="5177"/>
                        <a:pt x="7" y="5168"/>
                      </a:cubicBezTo>
                      <a:lnTo>
                        <a:pt x="0" y="5168"/>
                      </a:lnTo>
                      <a:lnTo>
                        <a:pt x="0" y="334"/>
                      </a:lnTo>
                      <a:lnTo>
                        <a:pt x="7" y="334"/>
                      </a:lnTo>
                      <a:cubicBezTo>
                        <a:pt x="174" y="325"/>
                        <a:pt x="307" y="187"/>
                        <a:pt x="307" y="18"/>
                      </a:cubicBezTo>
                      <a:cubicBezTo>
                        <a:pt x="307" y="12"/>
                        <a:pt x="307" y="7"/>
                        <a:pt x="307" y="1"/>
                      </a:cubicBezTo>
                      <a:lnTo>
                        <a:pt x="306" y="0"/>
                      </a:lnTo>
                      <a:close/>
                    </a:path>
                  </a:pathLst>
                </a:custGeom>
                <a:noFill/>
                <a:ln>
                  <a:solidFill>
                    <a:srgbClr val="6A6A6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任意多边形 27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2479" y="3322"/>
                  <a:ext cx="3074" cy="5272"/>
                </a:xfrm>
                <a:custGeom>
                  <a:avLst/>
                  <a:gdLst/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267" h="5500">
                      <a:moveTo>
                        <a:pt x="306" y="0"/>
                      </a:moveTo>
                      <a:lnTo>
                        <a:pt x="2962" y="0"/>
                      </a:lnTo>
                      <a:lnTo>
                        <a:pt x="2961" y="1"/>
                      </a:lnTo>
                      <a:cubicBezTo>
                        <a:pt x="2961" y="7"/>
                        <a:pt x="2961" y="12"/>
                        <a:pt x="2961" y="18"/>
                      </a:cubicBezTo>
                      <a:cubicBezTo>
                        <a:pt x="2961" y="187"/>
                        <a:pt x="3094" y="325"/>
                        <a:pt x="3261" y="334"/>
                      </a:cubicBezTo>
                      <a:lnTo>
                        <a:pt x="3267" y="334"/>
                      </a:lnTo>
                      <a:lnTo>
                        <a:pt x="3267" y="5168"/>
                      </a:lnTo>
                      <a:lnTo>
                        <a:pt x="3261" y="5168"/>
                      </a:lnTo>
                      <a:cubicBezTo>
                        <a:pt x="3094" y="5177"/>
                        <a:pt x="2961" y="5315"/>
                        <a:pt x="2961" y="5485"/>
                      </a:cubicBezTo>
                      <a:lnTo>
                        <a:pt x="2961" y="5500"/>
                      </a:lnTo>
                      <a:lnTo>
                        <a:pt x="307" y="5500"/>
                      </a:lnTo>
                      <a:lnTo>
                        <a:pt x="307" y="5485"/>
                      </a:lnTo>
                      <a:cubicBezTo>
                        <a:pt x="307" y="5315"/>
                        <a:pt x="174" y="5177"/>
                        <a:pt x="7" y="5168"/>
                      </a:cubicBezTo>
                      <a:lnTo>
                        <a:pt x="0" y="5168"/>
                      </a:lnTo>
                      <a:lnTo>
                        <a:pt x="0" y="334"/>
                      </a:lnTo>
                      <a:lnTo>
                        <a:pt x="7" y="334"/>
                      </a:lnTo>
                      <a:cubicBezTo>
                        <a:pt x="174" y="325"/>
                        <a:pt x="307" y="187"/>
                        <a:pt x="307" y="18"/>
                      </a:cubicBezTo>
                      <a:cubicBezTo>
                        <a:pt x="307" y="12"/>
                        <a:pt x="307" y="7"/>
                        <a:pt x="307" y="1"/>
                      </a:cubicBezTo>
                      <a:lnTo>
                        <a:pt x="30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5400">
                  <a:solidFill>
                    <a:srgbClr val="6A6A6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6" name="组合 5"/>
              <p:cNvGrpSpPr/>
              <p:nvPr/>
            </p:nvGrpSpPr>
            <p:grpSpPr>
              <a:xfrm>
                <a:off x="2565" y="3698"/>
                <a:ext cx="2900" cy="4521"/>
                <a:chOff x="6722" y="4255"/>
                <a:chExt cx="2900" cy="4521"/>
              </a:xfrm>
            </p:grpSpPr>
            <p:sp>
              <p:nvSpPr>
                <p:cNvPr id="43" name="文本框 42"/>
                <p:cNvSpPr txBox="1"/>
                <p:nvPr>
                  <p:custDataLst>
                    <p:tags r:id="rId11"/>
                  </p:custDataLst>
                </p:nvPr>
              </p:nvSpPr>
              <p:spPr>
                <a:xfrm flipH="1">
                  <a:off x="6722" y="4255"/>
                  <a:ext cx="2900" cy="6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2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传统国学课</a:t>
                  </a:r>
                </a:p>
              </p:txBody>
            </p:sp>
            <p:sp>
              <p:nvSpPr>
                <p:cNvPr id="44" name="文本框 43"/>
                <p:cNvSpPr txBox="1"/>
                <p:nvPr>
                  <p:custDataLst>
                    <p:tags r:id="rId12"/>
                  </p:custDataLst>
                </p:nvPr>
              </p:nvSpPr>
              <p:spPr>
                <a:xfrm flipH="1">
                  <a:off x="6788" y="4852"/>
                  <a:ext cx="2768" cy="39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zh-CN" altLang="en-US" sz="1300" dirty="0">
                      <a:solidFill>
                        <a:srgbClr val="6A6A6A"/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单向视频/音频\n听+背\n字面训诂\n无关系\n无价值流转\n无服务对象</a:t>
                  </a:r>
                </a:p>
              </p:txBody>
            </p:sp>
          </p:grpSp>
        </p:grpSp>
        <p:grpSp>
          <p:nvGrpSpPr>
            <p:cNvPr id="32" name="组合 31"/>
            <p:cNvGrpSpPr/>
            <p:nvPr/>
          </p:nvGrpSpPr>
          <p:grpSpPr>
            <a:xfrm>
              <a:off x="6271" y="3208"/>
              <a:ext cx="3266" cy="5500"/>
              <a:chOff x="2382" y="3208"/>
              <a:chExt cx="3266" cy="5500"/>
            </a:xfrm>
          </p:grpSpPr>
          <p:grpSp>
            <p:nvGrpSpPr>
              <p:cNvPr id="33" name="组合 32"/>
              <p:cNvGrpSpPr/>
              <p:nvPr/>
            </p:nvGrpSpPr>
            <p:grpSpPr>
              <a:xfrm>
                <a:off x="2382" y="3208"/>
                <a:ext cx="3266" cy="5500"/>
                <a:chOff x="2382" y="3208"/>
                <a:chExt cx="3266" cy="5500"/>
              </a:xfrm>
            </p:grpSpPr>
            <p:sp>
              <p:nvSpPr>
                <p:cNvPr id="34" name="任意多边形 33"/>
                <p:cNvSpPr/>
                <p:nvPr/>
              </p:nvSpPr>
              <p:spPr>
                <a:xfrm>
                  <a:off x="2382" y="3208"/>
                  <a:ext cx="3267" cy="5500"/>
                </a:xfrm>
                <a:custGeom>
                  <a:avLst/>
                  <a:gdLst/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267" h="5500">
                      <a:moveTo>
                        <a:pt x="306" y="0"/>
                      </a:moveTo>
                      <a:lnTo>
                        <a:pt x="2962" y="0"/>
                      </a:lnTo>
                      <a:lnTo>
                        <a:pt x="2961" y="1"/>
                      </a:lnTo>
                      <a:cubicBezTo>
                        <a:pt x="2961" y="7"/>
                        <a:pt x="2961" y="12"/>
                        <a:pt x="2961" y="18"/>
                      </a:cubicBezTo>
                      <a:cubicBezTo>
                        <a:pt x="2961" y="187"/>
                        <a:pt x="3094" y="325"/>
                        <a:pt x="3261" y="334"/>
                      </a:cubicBezTo>
                      <a:lnTo>
                        <a:pt x="3267" y="334"/>
                      </a:lnTo>
                      <a:lnTo>
                        <a:pt x="3267" y="5168"/>
                      </a:lnTo>
                      <a:lnTo>
                        <a:pt x="3261" y="5168"/>
                      </a:lnTo>
                      <a:cubicBezTo>
                        <a:pt x="3094" y="5177"/>
                        <a:pt x="2961" y="5315"/>
                        <a:pt x="2961" y="5485"/>
                      </a:cubicBezTo>
                      <a:lnTo>
                        <a:pt x="2961" y="5500"/>
                      </a:lnTo>
                      <a:lnTo>
                        <a:pt x="307" y="5500"/>
                      </a:lnTo>
                      <a:lnTo>
                        <a:pt x="307" y="5485"/>
                      </a:lnTo>
                      <a:cubicBezTo>
                        <a:pt x="307" y="5315"/>
                        <a:pt x="174" y="5177"/>
                        <a:pt x="7" y="5168"/>
                      </a:cubicBezTo>
                      <a:lnTo>
                        <a:pt x="0" y="5168"/>
                      </a:lnTo>
                      <a:lnTo>
                        <a:pt x="0" y="334"/>
                      </a:lnTo>
                      <a:lnTo>
                        <a:pt x="7" y="334"/>
                      </a:lnTo>
                      <a:cubicBezTo>
                        <a:pt x="174" y="325"/>
                        <a:pt x="307" y="187"/>
                        <a:pt x="307" y="18"/>
                      </a:cubicBezTo>
                      <a:cubicBezTo>
                        <a:pt x="307" y="12"/>
                        <a:pt x="307" y="7"/>
                        <a:pt x="307" y="1"/>
                      </a:cubicBezTo>
                      <a:lnTo>
                        <a:pt x="306" y="0"/>
                      </a:lnTo>
                      <a:close/>
                    </a:path>
                  </a:pathLst>
                </a:custGeom>
                <a:noFill/>
                <a:ln>
                  <a:solidFill>
                    <a:srgbClr val="6A6A6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任意多边形 35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2479" y="3322"/>
                  <a:ext cx="3074" cy="5272"/>
                </a:xfrm>
                <a:custGeom>
                  <a:avLst/>
                  <a:gdLst/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267" h="5500">
                      <a:moveTo>
                        <a:pt x="306" y="0"/>
                      </a:moveTo>
                      <a:lnTo>
                        <a:pt x="2962" y="0"/>
                      </a:lnTo>
                      <a:lnTo>
                        <a:pt x="2961" y="1"/>
                      </a:lnTo>
                      <a:cubicBezTo>
                        <a:pt x="2961" y="7"/>
                        <a:pt x="2961" y="12"/>
                        <a:pt x="2961" y="18"/>
                      </a:cubicBezTo>
                      <a:cubicBezTo>
                        <a:pt x="2961" y="187"/>
                        <a:pt x="3094" y="325"/>
                        <a:pt x="3261" y="334"/>
                      </a:cubicBezTo>
                      <a:lnTo>
                        <a:pt x="3267" y="334"/>
                      </a:lnTo>
                      <a:lnTo>
                        <a:pt x="3267" y="5168"/>
                      </a:lnTo>
                      <a:lnTo>
                        <a:pt x="3261" y="5168"/>
                      </a:lnTo>
                      <a:cubicBezTo>
                        <a:pt x="3094" y="5177"/>
                        <a:pt x="2961" y="5315"/>
                        <a:pt x="2961" y="5485"/>
                      </a:cubicBezTo>
                      <a:lnTo>
                        <a:pt x="2961" y="5500"/>
                      </a:lnTo>
                      <a:lnTo>
                        <a:pt x="307" y="5500"/>
                      </a:lnTo>
                      <a:lnTo>
                        <a:pt x="307" y="5485"/>
                      </a:lnTo>
                      <a:cubicBezTo>
                        <a:pt x="307" y="5315"/>
                        <a:pt x="174" y="5177"/>
                        <a:pt x="7" y="5168"/>
                      </a:cubicBezTo>
                      <a:lnTo>
                        <a:pt x="0" y="5168"/>
                      </a:lnTo>
                      <a:lnTo>
                        <a:pt x="0" y="334"/>
                      </a:lnTo>
                      <a:lnTo>
                        <a:pt x="7" y="334"/>
                      </a:lnTo>
                      <a:cubicBezTo>
                        <a:pt x="174" y="325"/>
                        <a:pt x="307" y="187"/>
                        <a:pt x="307" y="18"/>
                      </a:cubicBezTo>
                      <a:cubicBezTo>
                        <a:pt x="307" y="12"/>
                        <a:pt x="307" y="7"/>
                        <a:pt x="307" y="1"/>
                      </a:cubicBezTo>
                      <a:lnTo>
                        <a:pt x="30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5400">
                  <a:solidFill>
                    <a:srgbClr val="6A6A6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2565" y="3698"/>
                <a:ext cx="2900" cy="4521"/>
                <a:chOff x="6722" y="4255"/>
                <a:chExt cx="2900" cy="4521"/>
              </a:xfrm>
            </p:grpSpPr>
            <p:sp>
              <p:nvSpPr>
                <p:cNvPr id="38" name="文本框 37"/>
                <p:cNvSpPr txBox="1"/>
                <p:nvPr>
                  <p:custDataLst>
                    <p:tags r:id="rId8"/>
                  </p:custDataLst>
                </p:nvPr>
              </p:nvSpPr>
              <p:spPr>
                <a:xfrm flipH="1">
                  <a:off x="6722" y="4255"/>
                  <a:ext cx="2900" cy="6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2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直播卖课</a:t>
                  </a:r>
                </a:p>
              </p:txBody>
            </p:sp>
            <p:sp>
              <p:nvSpPr>
                <p:cNvPr id="39" name="文本框 38"/>
                <p:cNvSpPr txBox="1"/>
                <p:nvPr>
                  <p:custDataLst>
                    <p:tags r:id="rId9"/>
                  </p:custDataLst>
                </p:nvPr>
              </p:nvSpPr>
              <p:spPr>
                <a:xfrm flipH="1">
                  <a:off x="6788" y="4852"/>
                  <a:ext cx="2768" cy="39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zh-CN" altLang="en-US" sz="1300" dirty="0">
                      <a:solidFill>
                        <a:srgbClr val="6A6A6A"/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单向口播\n看\n浅层鸡汤\n无关系\n无价值流转\n无服务对象</a:t>
                  </a:r>
                </a:p>
              </p:txBody>
            </p:sp>
          </p:grpSp>
        </p:grpSp>
        <p:grpSp>
          <p:nvGrpSpPr>
            <p:cNvPr id="40" name="组合 39"/>
            <p:cNvGrpSpPr/>
            <p:nvPr/>
          </p:nvGrpSpPr>
          <p:grpSpPr>
            <a:xfrm>
              <a:off x="10175" y="3208"/>
              <a:ext cx="3266" cy="5500"/>
              <a:chOff x="2382" y="3208"/>
              <a:chExt cx="3266" cy="5500"/>
            </a:xfrm>
          </p:grpSpPr>
          <p:grpSp>
            <p:nvGrpSpPr>
              <p:cNvPr id="41" name="组合 40"/>
              <p:cNvGrpSpPr/>
              <p:nvPr/>
            </p:nvGrpSpPr>
            <p:grpSpPr>
              <a:xfrm>
                <a:off x="2382" y="3208"/>
                <a:ext cx="3266" cy="5500"/>
                <a:chOff x="2382" y="3208"/>
                <a:chExt cx="3266" cy="5500"/>
              </a:xfrm>
            </p:grpSpPr>
            <p:sp>
              <p:nvSpPr>
                <p:cNvPr id="45" name="任意多边形 44"/>
                <p:cNvSpPr/>
                <p:nvPr/>
              </p:nvSpPr>
              <p:spPr>
                <a:xfrm>
                  <a:off x="2382" y="3208"/>
                  <a:ext cx="3267" cy="5500"/>
                </a:xfrm>
                <a:custGeom>
                  <a:avLst/>
                  <a:gdLst/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267" h="5500">
                      <a:moveTo>
                        <a:pt x="306" y="0"/>
                      </a:moveTo>
                      <a:lnTo>
                        <a:pt x="2962" y="0"/>
                      </a:lnTo>
                      <a:lnTo>
                        <a:pt x="2961" y="1"/>
                      </a:lnTo>
                      <a:cubicBezTo>
                        <a:pt x="2961" y="7"/>
                        <a:pt x="2961" y="12"/>
                        <a:pt x="2961" y="18"/>
                      </a:cubicBezTo>
                      <a:cubicBezTo>
                        <a:pt x="2961" y="187"/>
                        <a:pt x="3094" y="325"/>
                        <a:pt x="3261" y="334"/>
                      </a:cubicBezTo>
                      <a:lnTo>
                        <a:pt x="3267" y="334"/>
                      </a:lnTo>
                      <a:lnTo>
                        <a:pt x="3267" y="5168"/>
                      </a:lnTo>
                      <a:lnTo>
                        <a:pt x="3261" y="5168"/>
                      </a:lnTo>
                      <a:cubicBezTo>
                        <a:pt x="3094" y="5177"/>
                        <a:pt x="2961" y="5315"/>
                        <a:pt x="2961" y="5485"/>
                      </a:cubicBezTo>
                      <a:lnTo>
                        <a:pt x="2961" y="5500"/>
                      </a:lnTo>
                      <a:lnTo>
                        <a:pt x="307" y="5500"/>
                      </a:lnTo>
                      <a:lnTo>
                        <a:pt x="307" y="5485"/>
                      </a:lnTo>
                      <a:cubicBezTo>
                        <a:pt x="307" y="5315"/>
                        <a:pt x="174" y="5177"/>
                        <a:pt x="7" y="5168"/>
                      </a:cubicBezTo>
                      <a:lnTo>
                        <a:pt x="0" y="5168"/>
                      </a:lnTo>
                      <a:lnTo>
                        <a:pt x="0" y="334"/>
                      </a:lnTo>
                      <a:lnTo>
                        <a:pt x="7" y="334"/>
                      </a:lnTo>
                      <a:cubicBezTo>
                        <a:pt x="174" y="325"/>
                        <a:pt x="307" y="187"/>
                        <a:pt x="307" y="18"/>
                      </a:cubicBezTo>
                      <a:cubicBezTo>
                        <a:pt x="307" y="12"/>
                        <a:pt x="307" y="7"/>
                        <a:pt x="307" y="1"/>
                      </a:cubicBezTo>
                      <a:lnTo>
                        <a:pt x="306" y="0"/>
                      </a:lnTo>
                      <a:close/>
                    </a:path>
                  </a:pathLst>
                </a:custGeom>
                <a:noFill/>
                <a:ln>
                  <a:solidFill>
                    <a:srgbClr val="6A6A6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任意多边形 45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2479" y="3322"/>
                  <a:ext cx="3074" cy="5272"/>
                </a:xfrm>
                <a:custGeom>
                  <a:avLst/>
                  <a:gdLst/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267" h="5500">
                      <a:moveTo>
                        <a:pt x="306" y="0"/>
                      </a:moveTo>
                      <a:lnTo>
                        <a:pt x="2962" y="0"/>
                      </a:lnTo>
                      <a:lnTo>
                        <a:pt x="2961" y="1"/>
                      </a:lnTo>
                      <a:cubicBezTo>
                        <a:pt x="2961" y="7"/>
                        <a:pt x="2961" y="12"/>
                        <a:pt x="2961" y="18"/>
                      </a:cubicBezTo>
                      <a:cubicBezTo>
                        <a:pt x="2961" y="187"/>
                        <a:pt x="3094" y="325"/>
                        <a:pt x="3261" y="334"/>
                      </a:cubicBezTo>
                      <a:lnTo>
                        <a:pt x="3267" y="334"/>
                      </a:lnTo>
                      <a:lnTo>
                        <a:pt x="3267" y="5168"/>
                      </a:lnTo>
                      <a:lnTo>
                        <a:pt x="3261" y="5168"/>
                      </a:lnTo>
                      <a:cubicBezTo>
                        <a:pt x="3094" y="5177"/>
                        <a:pt x="2961" y="5315"/>
                        <a:pt x="2961" y="5485"/>
                      </a:cubicBezTo>
                      <a:lnTo>
                        <a:pt x="2961" y="5500"/>
                      </a:lnTo>
                      <a:lnTo>
                        <a:pt x="307" y="5500"/>
                      </a:lnTo>
                      <a:lnTo>
                        <a:pt x="307" y="5485"/>
                      </a:lnTo>
                      <a:cubicBezTo>
                        <a:pt x="307" y="5315"/>
                        <a:pt x="174" y="5177"/>
                        <a:pt x="7" y="5168"/>
                      </a:cubicBezTo>
                      <a:lnTo>
                        <a:pt x="0" y="5168"/>
                      </a:lnTo>
                      <a:lnTo>
                        <a:pt x="0" y="334"/>
                      </a:lnTo>
                      <a:lnTo>
                        <a:pt x="7" y="334"/>
                      </a:lnTo>
                      <a:cubicBezTo>
                        <a:pt x="174" y="325"/>
                        <a:pt x="307" y="187"/>
                        <a:pt x="307" y="18"/>
                      </a:cubicBezTo>
                      <a:cubicBezTo>
                        <a:pt x="307" y="12"/>
                        <a:pt x="307" y="7"/>
                        <a:pt x="307" y="1"/>
                      </a:cubicBezTo>
                      <a:lnTo>
                        <a:pt x="30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5400">
                  <a:solidFill>
                    <a:srgbClr val="6A6A6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7" name="组合 46"/>
              <p:cNvGrpSpPr/>
              <p:nvPr/>
            </p:nvGrpSpPr>
            <p:grpSpPr>
              <a:xfrm>
                <a:off x="2565" y="3698"/>
                <a:ext cx="2900" cy="4521"/>
                <a:chOff x="6722" y="4255"/>
                <a:chExt cx="2900" cy="4521"/>
              </a:xfrm>
            </p:grpSpPr>
            <p:sp>
              <p:nvSpPr>
                <p:cNvPr id="48" name="文本框 47"/>
                <p:cNvSpPr txBox="1"/>
                <p:nvPr>
                  <p:custDataLst>
                    <p:tags r:id="rId5"/>
                  </p:custDataLst>
                </p:nvPr>
              </p:nvSpPr>
              <p:spPr>
                <a:xfrm flipH="1">
                  <a:off x="6722" y="4255"/>
                  <a:ext cx="2900" cy="6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2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AI陪伴App</a:t>
                  </a:r>
                </a:p>
              </p:txBody>
            </p:sp>
            <p:sp>
              <p:nvSpPr>
                <p:cNvPr id="49" name="文本框 48"/>
                <p:cNvSpPr txBox="1"/>
                <p:nvPr>
                  <p:custDataLst>
                    <p:tags r:id="rId6"/>
                  </p:custDataLst>
                </p:nvPr>
              </p:nvSpPr>
              <p:spPr>
                <a:xfrm flipH="1">
                  <a:off x="6788" y="4852"/>
                  <a:ext cx="2768" cy="39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zh-CN" altLang="en-US" sz="1300" dirty="0">
                      <a:solidFill>
                        <a:srgbClr val="6A6A6A"/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泛聊/浅层疗愈\n倾诉\n无经典依托\n工具性陪伴\n无价值流转\n仅服务人</a:t>
                  </a:r>
                </a:p>
              </p:txBody>
            </p:sp>
          </p:grpSp>
        </p:grpSp>
        <p:grpSp>
          <p:nvGrpSpPr>
            <p:cNvPr id="51" name="组合 50"/>
            <p:cNvGrpSpPr/>
            <p:nvPr/>
          </p:nvGrpSpPr>
          <p:grpSpPr>
            <a:xfrm>
              <a:off x="14176" y="3208"/>
              <a:ext cx="3266" cy="5500"/>
              <a:chOff x="2382" y="3208"/>
              <a:chExt cx="3266" cy="5500"/>
            </a:xfrm>
          </p:grpSpPr>
          <p:grpSp>
            <p:nvGrpSpPr>
              <p:cNvPr id="52" name="组合 51"/>
              <p:cNvGrpSpPr/>
              <p:nvPr/>
            </p:nvGrpSpPr>
            <p:grpSpPr>
              <a:xfrm>
                <a:off x="2382" y="3208"/>
                <a:ext cx="3266" cy="5500"/>
                <a:chOff x="2382" y="3208"/>
                <a:chExt cx="3266" cy="5500"/>
              </a:xfrm>
            </p:grpSpPr>
            <p:sp>
              <p:nvSpPr>
                <p:cNvPr id="53" name="任意多边形 52"/>
                <p:cNvSpPr/>
                <p:nvPr/>
              </p:nvSpPr>
              <p:spPr>
                <a:xfrm>
                  <a:off x="2382" y="3208"/>
                  <a:ext cx="3267" cy="5500"/>
                </a:xfrm>
                <a:custGeom>
                  <a:avLst/>
                  <a:gdLst/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267" h="5500">
                      <a:moveTo>
                        <a:pt x="306" y="0"/>
                      </a:moveTo>
                      <a:lnTo>
                        <a:pt x="2962" y="0"/>
                      </a:lnTo>
                      <a:lnTo>
                        <a:pt x="2961" y="1"/>
                      </a:lnTo>
                      <a:cubicBezTo>
                        <a:pt x="2961" y="7"/>
                        <a:pt x="2961" y="12"/>
                        <a:pt x="2961" y="18"/>
                      </a:cubicBezTo>
                      <a:cubicBezTo>
                        <a:pt x="2961" y="187"/>
                        <a:pt x="3094" y="325"/>
                        <a:pt x="3261" y="334"/>
                      </a:cubicBezTo>
                      <a:lnTo>
                        <a:pt x="3267" y="334"/>
                      </a:lnTo>
                      <a:lnTo>
                        <a:pt x="3267" y="5168"/>
                      </a:lnTo>
                      <a:lnTo>
                        <a:pt x="3261" y="5168"/>
                      </a:lnTo>
                      <a:cubicBezTo>
                        <a:pt x="3094" y="5177"/>
                        <a:pt x="2961" y="5315"/>
                        <a:pt x="2961" y="5485"/>
                      </a:cubicBezTo>
                      <a:lnTo>
                        <a:pt x="2961" y="5500"/>
                      </a:lnTo>
                      <a:lnTo>
                        <a:pt x="307" y="5500"/>
                      </a:lnTo>
                      <a:lnTo>
                        <a:pt x="307" y="5485"/>
                      </a:lnTo>
                      <a:cubicBezTo>
                        <a:pt x="307" y="5315"/>
                        <a:pt x="174" y="5177"/>
                        <a:pt x="7" y="5168"/>
                      </a:cubicBezTo>
                      <a:lnTo>
                        <a:pt x="0" y="5168"/>
                      </a:lnTo>
                      <a:lnTo>
                        <a:pt x="0" y="334"/>
                      </a:lnTo>
                      <a:lnTo>
                        <a:pt x="7" y="334"/>
                      </a:lnTo>
                      <a:cubicBezTo>
                        <a:pt x="174" y="325"/>
                        <a:pt x="307" y="187"/>
                        <a:pt x="307" y="18"/>
                      </a:cubicBezTo>
                      <a:cubicBezTo>
                        <a:pt x="307" y="12"/>
                        <a:pt x="307" y="7"/>
                        <a:pt x="307" y="1"/>
                      </a:cubicBezTo>
                      <a:lnTo>
                        <a:pt x="306" y="0"/>
                      </a:lnTo>
                      <a:close/>
                    </a:path>
                  </a:pathLst>
                </a:custGeom>
                <a:noFill/>
                <a:ln>
                  <a:solidFill>
                    <a:srgbClr val="6A6A6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任意多边形 53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2479" y="3322"/>
                  <a:ext cx="3074" cy="5272"/>
                </a:xfrm>
                <a:custGeom>
                  <a:avLst/>
                  <a:gdLst/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267" h="5500">
                      <a:moveTo>
                        <a:pt x="306" y="0"/>
                      </a:moveTo>
                      <a:lnTo>
                        <a:pt x="2962" y="0"/>
                      </a:lnTo>
                      <a:lnTo>
                        <a:pt x="2961" y="1"/>
                      </a:lnTo>
                      <a:cubicBezTo>
                        <a:pt x="2961" y="7"/>
                        <a:pt x="2961" y="12"/>
                        <a:pt x="2961" y="18"/>
                      </a:cubicBezTo>
                      <a:cubicBezTo>
                        <a:pt x="2961" y="187"/>
                        <a:pt x="3094" y="325"/>
                        <a:pt x="3261" y="334"/>
                      </a:cubicBezTo>
                      <a:lnTo>
                        <a:pt x="3267" y="334"/>
                      </a:lnTo>
                      <a:lnTo>
                        <a:pt x="3267" y="5168"/>
                      </a:lnTo>
                      <a:lnTo>
                        <a:pt x="3261" y="5168"/>
                      </a:lnTo>
                      <a:cubicBezTo>
                        <a:pt x="3094" y="5177"/>
                        <a:pt x="2961" y="5315"/>
                        <a:pt x="2961" y="5485"/>
                      </a:cubicBezTo>
                      <a:lnTo>
                        <a:pt x="2961" y="5500"/>
                      </a:lnTo>
                      <a:lnTo>
                        <a:pt x="307" y="5500"/>
                      </a:lnTo>
                      <a:lnTo>
                        <a:pt x="307" y="5485"/>
                      </a:lnTo>
                      <a:cubicBezTo>
                        <a:pt x="307" y="5315"/>
                        <a:pt x="174" y="5177"/>
                        <a:pt x="7" y="5168"/>
                      </a:cubicBezTo>
                      <a:lnTo>
                        <a:pt x="0" y="5168"/>
                      </a:lnTo>
                      <a:lnTo>
                        <a:pt x="0" y="334"/>
                      </a:lnTo>
                      <a:lnTo>
                        <a:pt x="7" y="334"/>
                      </a:lnTo>
                      <a:cubicBezTo>
                        <a:pt x="174" y="325"/>
                        <a:pt x="307" y="187"/>
                        <a:pt x="307" y="18"/>
                      </a:cubicBezTo>
                      <a:cubicBezTo>
                        <a:pt x="307" y="12"/>
                        <a:pt x="307" y="7"/>
                        <a:pt x="307" y="1"/>
                      </a:cubicBezTo>
                      <a:lnTo>
                        <a:pt x="30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5400">
                  <a:solidFill>
                    <a:srgbClr val="6A6A6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55" name="组合 54"/>
              <p:cNvGrpSpPr/>
              <p:nvPr/>
            </p:nvGrpSpPr>
            <p:grpSpPr>
              <a:xfrm>
                <a:off x="2565" y="3698"/>
                <a:ext cx="2900" cy="4521"/>
                <a:chOff x="6722" y="4255"/>
                <a:chExt cx="2900" cy="4521"/>
              </a:xfrm>
            </p:grpSpPr>
            <p:sp>
              <p:nvSpPr>
                <p:cNvPr id="56" name="文本框 55"/>
                <p:cNvSpPr txBox="1"/>
                <p:nvPr>
                  <p:custDataLst>
                    <p:tags r:id="rId2"/>
                  </p:custDataLst>
                </p:nvPr>
              </p:nvSpPr>
              <p:spPr>
                <a:xfrm flipH="1">
                  <a:off x="6722" y="4255"/>
                  <a:ext cx="2900" cy="6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2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道枢V2.0</a:t>
                  </a:r>
                </a:p>
              </p:txBody>
            </p:sp>
            <p:sp>
              <p:nvSpPr>
                <p:cNvPr id="57" name="文本框 56"/>
                <p:cNvSpPr txBox="1"/>
                <p:nvPr>
                  <p:custDataLst>
                    <p:tags r:id="rId3"/>
                  </p:custDataLst>
                </p:nvPr>
              </p:nvSpPr>
              <p:spPr>
                <a:xfrm flipH="1">
                  <a:off x="6788" y="4852"/>
                  <a:ext cx="2768" cy="39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zh-CN" altLang="en-US" sz="1300" dirty="0">
                      <a:solidFill>
                        <a:srgbClr val="6A6A6A"/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双向深度对话+智能体对齐\n问辩练用悟对齐\n原文+注疏+哲学+场景+宇宙规律+Agent规则\n认养共生：专属/记忆/进化/可传承\n知识引用经济+道枢API授权+行业解决方案\n人+智能体+行业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 descr="templates\picture_hover\&amp;pky290_sjzg_VCG211356148776&amp;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email">
            <a:alphaModFix amt="24000"/>
            <a:lum bright="12000"/>
          </a:blip>
          <a:srcRect/>
          <a:stretch>
            <a:fillRect/>
          </a:stretch>
        </p:blipFill>
        <p:spPr>
          <a:xfrm>
            <a:off x="0" y="3081020"/>
            <a:ext cx="12192000" cy="37769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5948">
                <a:moveTo>
                  <a:pt x="0" y="0"/>
                </a:moveTo>
                <a:lnTo>
                  <a:pt x="19200" y="0"/>
                </a:lnTo>
                <a:lnTo>
                  <a:pt x="19200" y="5948"/>
                </a:lnTo>
                <a:lnTo>
                  <a:pt x="0" y="594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" name="图片 15" descr="幻灯片66"/>
          <p:cNvPicPr>
            <a:picLocks noChangeAspect="1"/>
          </p:cNvPicPr>
          <p:nvPr/>
        </p:nvPicPr>
        <p:blipFill>
          <a:blip r:embed="rId15" cstate="email"/>
          <a:stretch>
            <a:fillRect/>
          </a:stretch>
        </p:blipFill>
        <p:spPr>
          <a:xfrm>
            <a:off x="7672070" y="1713865"/>
            <a:ext cx="3599815" cy="514413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4451033" y="471488"/>
            <a:ext cx="3289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2400" dirty="0">
                <a:solidFill>
                  <a:schemeClr val="tx1"/>
                </a:solidFill>
                <a:latin typeface="楷体"/>
                <a:ea typeface="思源宋体 CN Heavy" panose="02020900000000000000" pitchFamily="18" charset="-122"/>
                <a:cs typeface="+mn-ea"/>
                <a:sym typeface="+mn-lt"/>
              </a:rPr>
              <a:t>窗口期判断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4429760" y="629920"/>
            <a:ext cx="3332480" cy="143510"/>
            <a:chOff x="6699" y="992"/>
            <a:chExt cx="5248" cy="226"/>
          </a:xfrm>
        </p:grpSpPr>
        <p:grpSp>
          <p:nvGrpSpPr>
            <p:cNvPr id="2" name="组合 1"/>
            <p:cNvGrpSpPr/>
            <p:nvPr/>
          </p:nvGrpSpPr>
          <p:grpSpPr>
            <a:xfrm>
              <a:off x="6699" y="992"/>
              <a:ext cx="226" cy="226"/>
              <a:chOff x="7717" y="9163"/>
              <a:chExt cx="226" cy="226"/>
            </a:xfrm>
          </p:grpSpPr>
          <p:sp>
            <p:nvSpPr>
              <p:cNvPr id="3" name="椭圆 2"/>
              <p:cNvSpPr/>
              <p:nvPr>
                <p:custDataLst>
                  <p:tags r:id="rId11"/>
                </p:custDataLst>
              </p:nvPr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18" name="椭圆 17"/>
              <p:cNvSpPr/>
              <p:nvPr>
                <p:custDataLst>
                  <p:tags r:id="rId12"/>
                </p:custDataLst>
              </p:nvPr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11721" y="992"/>
              <a:ext cx="226" cy="226"/>
              <a:chOff x="7717" y="9163"/>
              <a:chExt cx="226" cy="226"/>
            </a:xfrm>
          </p:grpSpPr>
          <p:sp>
            <p:nvSpPr>
              <p:cNvPr id="5" name="椭圆 4"/>
              <p:cNvSpPr/>
              <p:nvPr>
                <p:custDataLst>
                  <p:tags r:id="rId9"/>
                </p:custDataLst>
              </p:nvPr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21" name="椭圆 20"/>
              <p:cNvSpPr/>
              <p:nvPr>
                <p:custDataLst>
                  <p:tags r:id="rId10"/>
                </p:custDataLst>
              </p:nvPr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>
            <a:off x="1254760" y="2018030"/>
            <a:ext cx="5548630" cy="3419475"/>
            <a:chOff x="1800" y="2698"/>
            <a:chExt cx="8738" cy="5385"/>
          </a:xfrm>
        </p:grpSpPr>
        <p:grpSp>
          <p:nvGrpSpPr>
            <p:cNvPr id="19" name="组合 18"/>
            <p:cNvGrpSpPr/>
            <p:nvPr/>
          </p:nvGrpSpPr>
          <p:grpSpPr>
            <a:xfrm>
              <a:off x="1800" y="4856"/>
              <a:ext cx="8738" cy="1069"/>
              <a:chOff x="1800" y="2966"/>
              <a:chExt cx="8738" cy="1069"/>
            </a:xfrm>
          </p:grpSpPr>
          <p:pic>
            <p:nvPicPr>
              <p:cNvPr id="20" name="图片 19" descr="templates\picture_hover\&amp;pky390_sjzg_VCG41N1298925046&amp;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16" cstate="email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  <a:biLevel thresh="50000"/>
                <a:lum bright="36000"/>
              </a:blip>
              <a:stretch>
                <a:fillRect/>
              </a:stretch>
            </p:blipFill>
            <p:spPr>
              <a:xfrm flipH="1">
                <a:off x="1800" y="3018"/>
                <a:ext cx="1017" cy="1017"/>
              </a:xfrm>
              <a:prstGeom prst="rect">
                <a:avLst/>
              </a:prstGeom>
            </p:spPr>
          </p:pic>
          <p:sp>
            <p:nvSpPr>
              <p:cNvPr id="22" name="文本框 21"/>
              <p:cNvSpPr txBox="1"/>
              <p:nvPr>
                <p:custDataLst>
                  <p:tags r:id="rId8"/>
                </p:custDataLst>
              </p:nvPr>
            </p:nvSpPr>
            <p:spPr>
              <a:xfrm flipH="1">
                <a:off x="3022" y="2966"/>
                <a:ext cx="7516" cy="1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300" dirty="0">
                    <a:solidFill>
                      <a:srgbClr val="6A6A6A"/>
                    </a:solidFill>
                    <a:latin typeface="楷体"/>
                    <a:ea typeface="思源宋体 CN Heavy" panose="02020900000000000000" pitchFamily="18" charset="-122"/>
                    <a:cs typeface="+mn-ea"/>
                    <a:sym typeface="+mn-lt"/>
                  </a:rPr>
                  <a:t>情绪经济爆发元年：2.7万亿市场，AI情感陪伴+219%增速</a:t>
                </a: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800" y="2698"/>
              <a:ext cx="8738" cy="5385"/>
              <a:chOff x="1800" y="2966"/>
              <a:chExt cx="8738" cy="5385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1800" y="2966"/>
                <a:ext cx="8738" cy="1069"/>
                <a:chOff x="1800" y="2966"/>
                <a:chExt cx="8738" cy="1069"/>
              </a:xfrm>
            </p:grpSpPr>
            <p:pic>
              <p:nvPicPr>
                <p:cNvPr id="50" name="图片 49" descr="templates\picture_hover\&amp;pky390_sjzg_VCG41N1298925046&amp;"/>
                <p:cNvPicPr>
                  <a:picLocks noChangeAspect="1"/>
                </p:cNvPicPr>
                <p:nvPr>
                  <p:custDataLst>
                    <p:tags r:id="rId5"/>
                  </p:custDataLst>
                </p:nvPr>
              </p:nvPicPr>
              <p:blipFill>
                <a:blip r:embed="rId16" cstate="email">
                  <a:clrChange>
                    <a:clrFrom>
                      <a:srgbClr val="FFFFFF">
                        <a:alpha val="100000"/>
                      </a:srgbClr>
                    </a:clrFrom>
                    <a:clrTo>
                      <a:srgbClr val="FFFFFF">
                        <a:alpha val="100000"/>
                        <a:alpha val="0"/>
                      </a:srgbClr>
                    </a:clrTo>
                  </a:clrChange>
                  <a:biLevel thresh="50000"/>
                  <a:lum bright="36000"/>
                </a:blip>
                <a:stretch>
                  <a:fillRect/>
                </a:stretch>
              </p:blipFill>
              <p:spPr>
                <a:xfrm flipH="1">
                  <a:off x="1800" y="3018"/>
                  <a:ext cx="1017" cy="1017"/>
                </a:xfrm>
                <a:prstGeom prst="rect">
                  <a:avLst/>
                </a:prstGeom>
              </p:spPr>
            </p:pic>
            <p:sp>
              <p:nvSpPr>
                <p:cNvPr id="44" name="文本框 43"/>
                <p:cNvSpPr txBox="1"/>
                <p:nvPr>
                  <p:custDataLst>
                    <p:tags r:id="rId6"/>
                  </p:custDataLst>
                </p:nvPr>
              </p:nvSpPr>
              <p:spPr>
                <a:xfrm flipH="1">
                  <a:off x="3022" y="2966"/>
                  <a:ext cx="7516" cy="10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z="1300" dirty="0">
                      <a:solidFill>
                        <a:srgbClr val="6A6A6A"/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2026年政策窗口开启：典籍→智能体成为国学创新传播主流方向</a:t>
                  </a: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800" y="7282"/>
                <a:ext cx="8738" cy="1069"/>
                <a:chOff x="1800" y="2966"/>
                <a:chExt cx="8738" cy="1069"/>
              </a:xfrm>
            </p:grpSpPr>
            <p:pic>
              <p:nvPicPr>
                <p:cNvPr id="27" name="图片 26" descr="templates\picture_hover\&amp;pky390_sjzg_VCG41N1298925046&amp;"/>
                <p:cNvPicPr>
                  <a:picLocks noChangeAspect="1"/>
                </p:cNvPicPr>
                <p:nvPr>
                  <p:custDataLst>
                    <p:tags r:id="rId3"/>
                  </p:custDataLst>
                </p:nvPr>
              </p:nvPicPr>
              <p:blipFill>
                <a:blip r:embed="rId16" cstate="email">
                  <a:clrChange>
                    <a:clrFrom>
                      <a:srgbClr val="FFFFFF">
                        <a:alpha val="100000"/>
                      </a:srgbClr>
                    </a:clrFrom>
                    <a:clrTo>
                      <a:srgbClr val="FFFFFF">
                        <a:alpha val="100000"/>
                        <a:alpha val="0"/>
                      </a:srgbClr>
                    </a:clrTo>
                  </a:clrChange>
                  <a:biLevel thresh="50000"/>
                  <a:lum bright="36000"/>
                </a:blip>
                <a:stretch>
                  <a:fillRect/>
                </a:stretch>
              </p:blipFill>
              <p:spPr>
                <a:xfrm flipH="1">
                  <a:off x="1800" y="3018"/>
                  <a:ext cx="1017" cy="1017"/>
                </a:xfrm>
                <a:prstGeom prst="rect">
                  <a:avLst/>
                </a:prstGeom>
              </p:spPr>
            </p:pic>
            <p:sp>
              <p:nvSpPr>
                <p:cNvPr id="28" name="文本框 27"/>
                <p:cNvSpPr txBox="1"/>
                <p:nvPr>
                  <p:custDataLst>
                    <p:tags r:id="rId4"/>
                  </p:custDataLst>
                </p:nvPr>
              </p:nvSpPr>
              <p:spPr>
                <a:xfrm flipH="1">
                  <a:off x="3022" y="2966"/>
                  <a:ext cx="7516" cy="10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z="1300" dirty="0">
                      <a:solidFill>
                        <a:srgbClr val="6A6A6A"/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AI Agent落地元年：价值对齐需求从理论走向商用，空白市场待填补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 flipH="1">
            <a:off x="-47625" y="-13970"/>
            <a:ext cx="12239625" cy="6903720"/>
            <a:chOff x="-75" y="-22"/>
            <a:chExt cx="19275" cy="10872"/>
          </a:xfrm>
        </p:grpSpPr>
        <p:pic>
          <p:nvPicPr>
            <p:cNvPr id="35" name="图片 34" descr="templates\picture_hover\&amp;pky290_sjzg_VCG211356148776&amp;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 cstate="email">
              <a:alphaModFix amt="24000"/>
              <a:lum bright="12000"/>
            </a:blip>
            <a:srcRect/>
            <a:stretch>
              <a:fillRect/>
            </a:stretch>
          </p:blipFill>
          <p:spPr>
            <a:xfrm>
              <a:off x="0" y="893"/>
              <a:ext cx="19200" cy="990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000" h="8772">
                  <a:moveTo>
                    <a:pt x="0" y="0"/>
                  </a:moveTo>
                  <a:lnTo>
                    <a:pt x="17000" y="0"/>
                  </a:lnTo>
                  <a:lnTo>
                    <a:pt x="17000" y="8772"/>
                  </a:lnTo>
                  <a:lnTo>
                    <a:pt x="0" y="8772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36" name="图片 35" descr="幻灯片127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2" cstate="email">
              <a:alphaModFix amt="80000"/>
            </a:blip>
            <a:stretch>
              <a:fillRect/>
            </a:stretch>
          </p:blipFill>
          <p:spPr>
            <a:xfrm>
              <a:off x="-75" y="-22"/>
              <a:ext cx="2527" cy="2508"/>
            </a:xfrm>
            <a:prstGeom prst="rect">
              <a:avLst/>
            </a:prstGeom>
          </p:spPr>
        </p:pic>
        <p:pic>
          <p:nvPicPr>
            <p:cNvPr id="37" name="图片 36" descr="幻灯片127-1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3" cstate="email">
              <a:alphaModFix amt="80000"/>
            </a:blip>
            <a:stretch>
              <a:fillRect/>
            </a:stretch>
          </p:blipFill>
          <p:spPr>
            <a:xfrm flipH="1">
              <a:off x="16468" y="5400"/>
              <a:ext cx="2732" cy="5450"/>
            </a:xfrm>
            <a:prstGeom prst="rect">
              <a:avLst/>
            </a:prstGeom>
          </p:spPr>
        </p:pic>
        <p:pic>
          <p:nvPicPr>
            <p:cNvPr id="38" name="图片 37" descr="templates\picture_hover\&amp;pky8189327183&amp;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4" cstate="email">
              <a:alphaModFix amt="40000"/>
            </a:blip>
            <a:stretch>
              <a:fillRect/>
            </a:stretch>
          </p:blipFill>
          <p:spPr>
            <a:xfrm>
              <a:off x="1751" y="6859"/>
              <a:ext cx="4902" cy="2979"/>
            </a:xfrm>
            <a:prstGeom prst="rect">
              <a:avLst/>
            </a:prstGeom>
          </p:spPr>
        </p:pic>
        <p:pic>
          <p:nvPicPr>
            <p:cNvPr id="39" name="图片 38" descr="templates\picture_hover\&amp;pky8389331009&amp;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5" cstate="email">
              <a:alphaModFix amt="60000"/>
            </a:blip>
            <a:srcRect/>
            <a:stretch>
              <a:fillRect/>
            </a:stretch>
          </p:blipFill>
          <p:spPr>
            <a:xfrm rot="21060000">
              <a:off x="13575" y="1132"/>
              <a:ext cx="2150" cy="1989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850" h="2636">
                  <a:moveTo>
                    <a:pt x="0" y="0"/>
                  </a:moveTo>
                  <a:lnTo>
                    <a:pt x="2850" y="0"/>
                  </a:lnTo>
                  <a:lnTo>
                    <a:pt x="2850" y="2636"/>
                  </a:lnTo>
                  <a:lnTo>
                    <a:pt x="0" y="2636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grpSp>
        <p:nvGrpSpPr>
          <p:cNvPr id="2" name="组合 1"/>
          <p:cNvGrpSpPr/>
          <p:nvPr/>
        </p:nvGrpSpPr>
        <p:grpSpPr>
          <a:xfrm>
            <a:off x="873760" y="1528763"/>
            <a:ext cx="10444480" cy="3820795"/>
            <a:chOff x="1376" y="2559"/>
            <a:chExt cx="16448" cy="6017"/>
          </a:xfrm>
        </p:grpSpPr>
        <p:grpSp>
          <p:nvGrpSpPr>
            <p:cNvPr id="11" name="组合 10"/>
            <p:cNvGrpSpPr/>
            <p:nvPr/>
          </p:nvGrpSpPr>
          <p:grpSpPr>
            <a:xfrm>
              <a:off x="1376" y="4094"/>
              <a:ext cx="16448" cy="4482"/>
              <a:chOff x="1376" y="2538"/>
              <a:chExt cx="16448" cy="4483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1376" y="4878"/>
                <a:ext cx="16448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sz="3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楷体"/>
                    <a:ea typeface="思源宋体 CN Heavy" panose="02020900000000000000" pitchFamily="18" charset="-122"/>
                    <a:cs typeface="+mn-ea"/>
                    <a:sym typeface="+mn-lt"/>
                  </a:rPr>
                  <a:t>破局 · 双生之智</a:t>
                </a:r>
              </a:p>
            </p:txBody>
          </p:sp>
          <p:sp>
            <p:nvSpPr>
              <p:cNvPr id="172" name="文本框 17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045" y="5815"/>
                <a:ext cx="7110" cy="120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300" dirty="0">
                    <a:solidFill>
                      <a:srgbClr val="6A6A6A"/>
                    </a:solidFill>
                    <a:latin typeface="楷体"/>
                    <a:ea typeface="思源宋体 CN Heavy" panose="02020900000000000000" pitchFamily="18" charset="-122"/>
                    <a:cs typeface="+mn-ea"/>
                    <a:sym typeface="+mn-lt"/>
                  </a:rPr>
                  <a:t>让人与AI共享同一套顶层思维操作系统</a:t>
                </a: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1376" y="2538"/>
                <a:ext cx="16448" cy="1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sz="6000" b="1" dirty="0">
                    <a:latin typeface="楷体"/>
                    <a:ea typeface="思源宋体 CN Heavy" panose="02020900000000000000" pitchFamily="18" charset="-122"/>
                    <a:cs typeface="+mn-ea"/>
                    <a:sym typeface="+mn-lt"/>
                  </a:rPr>
                  <a:t>贰</a:t>
                </a: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9487" y="5906"/>
              <a:ext cx="226" cy="226"/>
              <a:chOff x="7717" y="9163"/>
              <a:chExt cx="226" cy="226"/>
            </a:xfrm>
          </p:grpSpPr>
          <p:sp>
            <p:nvSpPr>
              <p:cNvPr id="6" name="椭圆 5"/>
              <p:cNvSpPr/>
              <p:nvPr>
                <p:custDataLst>
                  <p:tags r:id="rId2"/>
                </p:custDataLst>
              </p:nvPr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30" name="椭圆 29"/>
              <p:cNvSpPr/>
              <p:nvPr>
                <p:custDataLst>
                  <p:tags r:id="rId3"/>
                </p:custDataLst>
              </p:nvPr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  <p:pic>
          <p:nvPicPr>
            <p:cNvPr id="22" name="图片 21" descr="templates\picture_hover\&amp;pky240_sjzg_VCG211275366148&amp;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6" cstate="email"/>
            <a:srcRect/>
            <a:stretch>
              <a:fillRect/>
            </a:stretch>
          </p:blipFill>
          <p:spPr>
            <a:xfrm>
              <a:off x="9251" y="2559"/>
              <a:ext cx="699" cy="76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99" h="767">
                  <a:moveTo>
                    <a:pt x="0" y="0"/>
                  </a:moveTo>
                  <a:lnTo>
                    <a:pt x="699" y="0"/>
                  </a:lnTo>
                  <a:lnTo>
                    <a:pt x="699" y="767"/>
                  </a:lnTo>
                  <a:lnTo>
                    <a:pt x="0" y="767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 descr="templates\picture_hover\&amp;pky290_sjzg_VCG211356148776&amp;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 cstate="email">
            <a:alphaModFix amt="24000"/>
            <a:lum bright="12000"/>
          </a:blip>
          <a:srcRect/>
          <a:stretch>
            <a:fillRect/>
          </a:stretch>
        </p:blipFill>
        <p:spPr>
          <a:xfrm>
            <a:off x="0" y="3081020"/>
            <a:ext cx="12192000" cy="37769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5948">
                <a:moveTo>
                  <a:pt x="0" y="0"/>
                </a:moveTo>
                <a:lnTo>
                  <a:pt x="19200" y="0"/>
                </a:lnTo>
                <a:lnTo>
                  <a:pt x="19200" y="5948"/>
                </a:lnTo>
                <a:lnTo>
                  <a:pt x="0" y="594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0" name="图片 19" descr="templates\picture_hover\&amp;pky270_sjzg_VCG41N178384599&amp;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 cstate="email"/>
          <a:srcRect/>
          <a:stretch>
            <a:fillRect/>
          </a:stretch>
        </p:blipFill>
        <p:spPr>
          <a:xfrm>
            <a:off x="0" y="0"/>
            <a:ext cx="4135120" cy="685800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3"/>
            </p:custDataLst>
          </p:nvPr>
        </p:nvSpPr>
        <p:spPr>
          <a:xfrm>
            <a:off x="4451033" y="471488"/>
            <a:ext cx="3289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2400" dirty="0">
                <a:solidFill>
                  <a:schemeClr val="tx1"/>
                </a:solidFill>
                <a:latin typeface="楷体"/>
                <a:ea typeface="思源宋体 CN Heavy" panose="02020900000000000000" pitchFamily="18" charset="-122"/>
                <a:cs typeface="+mn-ea"/>
                <a:sym typeface="+mn-lt"/>
              </a:rPr>
              <a:t>双服务对象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4429760" y="629920"/>
            <a:ext cx="3332480" cy="143510"/>
            <a:chOff x="6699" y="992"/>
            <a:chExt cx="5248" cy="226"/>
          </a:xfrm>
        </p:grpSpPr>
        <p:grpSp>
          <p:nvGrpSpPr>
            <p:cNvPr id="33" name="组合 32"/>
            <p:cNvGrpSpPr/>
            <p:nvPr/>
          </p:nvGrpSpPr>
          <p:grpSpPr>
            <a:xfrm>
              <a:off x="6699" y="992"/>
              <a:ext cx="226" cy="226"/>
              <a:chOff x="7717" y="9163"/>
              <a:chExt cx="226" cy="226"/>
            </a:xfrm>
          </p:grpSpPr>
          <p:sp>
            <p:nvSpPr>
              <p:cNvPr id="36" name="椭圆 35"/>
              <p:cNvSpPr/>
              <p:nvPr>
                <p:custDataLst>
                  <p:tags r:id="rId15"/>
                </p:custDataLst>
              </p:nvPr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37" name="椭圆 36"/>
              <p:cNvSpPr/>
              <p:nvPr>
                <p:custDataLst>
                  <p:tags r:id="rId16"/>
                </p:custDataLst>
              </p:nvPr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1721" y="992"/>
              <a:ext cx="226" cy="226"/>
              <a:chOff x="7717" y="9163"/>
              <a:chExt cx="226" cy="226"/>
            </a:xfrm>
          </p:grpSpPr>
          <p:sp>
            <p:nvSpPr>
              <p:cNvPr id="39" name="椭圆 38"/>
              <p:cNvSpPr/>
              <p:nvPr>
                <p:custDataLst>
                  <p:tags r:id="rId13"/>
                </p:custDataLst>
              </p:nvPr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椭圆 39"/>
              <p:cNvSpPr/>
              <p:nvPr>
                <p:custDataLst>
                  <p:tags r:id="rId14"/>
                </p:custDataLst>
              </p:nvPr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94" name="组合 93"/>
          <p:cNvGrpSpPr/>
          <p:nvPr/>
        </p:nvGrpSpPr>
        <p:grpSpPr>
          <a:xfrm>
            <a:off x="5006975" y="3158490"/>
            <a:ext cx="5858510" cy="1040130"/>
            <a:chOff x="7853" y="4958"/>
            <a:chExt cx="9226" cy="1638"/>
          </a:xfrm>
        </p:grpSpPr>
        <p:pic>
          <p:nvPicPr>
            <p:cNvPr id="71" name="图片 70" descr="templates\picture_hover\&amp;pky230_sjzg_VCG211248479250&amp;"/>
            <p:cNvPicPr>
              <a:picLocks noChangeAspect="1"/>
            </p:cNvPicPr>
            <p:nvPr/>
          </p:nvPicPr>
          <p:blipFill>
            <a:blip r:embed="rId20" cstate="email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lum bright="12000"/>
            </a:blip>
            <a:srcRect/>
            <a:stretch>
              <a:fillRect/>
            </a:stretch>
          </p:blipFill>
          <p:spPr>
            <a:xfrm>
              <a:off x="7894" y="5297"/>
              <a:ext cx="1148" cy="100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069" h="3570">
                  <a:moveTo>
                    <a:pt x="0" y="0"/>
                  </a:moveTo>
                  <a:lnTo>
                    <a:pt x="4070" y="0"/>
                  </a:lnTo>
                  <a:lnTo>
                    <a:pt x="4070" y="3570"/>
                  </a:lnTo>
                  <a:lnTo>
                    <a:pt x="0" y="357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sp>
          <p:nvSpPr>
            <p:cNvPr id="76" name="文本框 75"/>
            <p:cNvSpPr txBox="1"/>
            <p:nvPr>
              <p:custDataLst>
                <p:tags r:id="rId10"/>
              </p:custDataLst>
            </p:nvPr>
          </p:nvSpPr>
          <p:spPr>
            <a:xfrm>
              <a:off x="7853" y="5315"/>
              <a:ext cx="1231" cy="81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sz="2800" b="1" dirty="0">
                  <a:solidFill>
                    <a:srgbClr val="FFFFFF"/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贰</a:t>
              </a:r>
            </a:p>
          </p:txBody>
        </p:sp>
        <p:sp>
          <p:nvSpPr>
            <p:cNvPr id="78" name="文本框 77"/>
            <p:cNvSpPr txBox="1"/>
            <p:nvPr>
              <p:custDataLst>
                <p:tags r:id="rId11"/>
              </p:custDataLst>
            </p:nvPr>
          </p:nvSpPr>
          <p:spPr>
            <a:xfrm flipH="1">
              <a:off x="9563" y="4958"/>
              <a:ext cx="2900" cy="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对智能体 B端</a:t>
              </a:r>
            </a:p>
          </p:txBody>
        </p:sp>
        <p:sp>
          <p:nvSpPr>
            <p:cNvPr id="79" name="文本框 78"/>
            <p:cNvSpPr txBox="1"/>
            <p:nvPr>
              <p:custDataLst>
                <p:tags r:id="rId12"/>
              </p:custDataLst>
            </p:nvPr>
          </p:nvSpPr>
          <p:spPr>
            <a:xfrm flipH="1">
              <a:off x="9563" y="5555"/>
              <a:ext cx="7516" cy="1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300" dirty="0">
                  <a:solidFill>
                    <a:srgbClr val="6A6A6A"/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道枢思维底座\n把道德经思维原则编码为价值对齐层与高阶推理元规则\n让各行业AI带着老子的眼睛看世界</a:t>
              </a: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5006975" y="1496695"/>
            <a:ext cx="5858510" cy="1040130"/>
            <a:chOff x="7853" y="2341"/>
            <a:chExt cx="9226" cy="1638"/>
          </a:xfrm>
        </p:grpSpPr>
        <p:grpSp>
          <p:nvGrpSpPr>
            <p:cNvPr id="45" name="组合 44"/>
            <p:cNvGrpSpPr/>
            <p:nvPr/>
          </p:nvGrpSpPr>
          <p:grpSpPr>
            <a:xfrm>
              <a:off x="9563" y="2341"/>
              <a:ext cx="7516" cy="1638"/>
              <a:chOff x="5294" y="2704"/>
              <a:chExt cx="7516" cy="1638"/>
            </a:xfrm>
          </p:grpSpPr>
          <p:sp>
            <p:nvSpPr>
              <p:cNvPr id="43" name="文本框 42"/>
              <p:cNvSpPr txBox="1"/>
              <p:nvPr>
                <p:custDataLst>
                  <p:tags r:id="rId8"/>
                </p:custDataLst>
              </p:nvPr>
            </p:nvSpPr>
            <p:spPr>
              <a:xfrm flipH="1">
                <a:off x="5294" y="2704"/>
                <a:ext cx="2900" cy="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楷体"/>
                    <a:ea typeface="思源宋体 CN Heavy" panose="02020900000000000000" pitchFamily="18" charset="-122"/>
                    <a:cs typeface="+mn-ea"/>
                    <a:sym typeface="+mn-lt"/>
                  </a:rPr>
                  <a:t>对人 C端</a:t>
                </a:r>
              </a:p>
            </p:txBody>
          </p:sp>
          <p:sp>
            <p:nvSpPr>
              <p:cNvPr id="44" name="文本框 43"/>
              <p:cNvSpPr txBox="1"/>
              <p:nvPr>
                <p:custDataLst>
                  <p:tags r:id="rId9"/>
                </p:custDataLst>
              </p:nvPr>
            </p:nvSpPr>
            <p:spPr>
              <a:xfrm flipH="1">
                <a:off x="5294" y="3301"/>
                <a:ext cx="7516" cy="1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300" dirty="0">
                    <a:solidFill>
                      <a:srgbClr val="6A6A6A"/>
                    </a:solidFill>
                    <a:latin typeface="楷体"/>
                    <a:ea typeface="思源宋体 CN Heavy" panose="02020900000000000000" pitchFamily="18" charset="-122"/>
                    <a:cs typeface="+mn-ea"/>
                    <a:sym typeface="+mn-lt"/>
                  </a:rPr>
                  <a:t>智慧导师+情绪疗愈器+认知升维引擎\n让人减少焦虑、认识大道与宇宙规律\n并把智慧迁移到真实人生决策</a:t>
                </a:r>
              </a:p>
            </p:txBody>
          </p:sp>
        </p:grpSp>
        <p:pic>
          <p:nvPicPr>
            <p:cNvPr id="66" name="图片 65" descr="templates\picture_hover\&amp;pky230_sjzg_VCG211248479250&amp;"/>
            <p:cNvPicPr>
              <a:picLocks noChangeAspect="1"/>
            </p:cNvPicPr>
            <p:nvPr/>
          </p:nvPicPr>
          <p:blipFill>
            <a:blip r:embed="rId21" cstate="email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lum bright="12000"/>
            </a:blip>
            <a:srcRect/>
            <a:stretch>
              <a:fillRect/>
            </a:stretch>
          </p:blipFill>
          <p:spPr>
            <a:xfrm>
              <a:off x="7889" y="2680"/>
              <a:ext cx="1158" cy="100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103" h="3570">
                  <a:moveTo>
                    <a:pt x="0" y="0"/>
                  </a:moveTo>
                  <a:lnTo>
                    <a:pt x="4103" y="0"/>
                  </a:lnTo>
                  <a:lnTo>
                    <a:pt x="4103" y="3570"/>
                  </a:lnTo>
                  <a:lnTo>
                    <a:pt x="0" y="357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sp>
          <p:nvSpPr>
            <p:cNvPr id="74" name="文本框 73"/>
            <p:cNvSpPr txBox="1"/>
            <p:nvPr>
              <p:custDataLst>
                <p:tags r:id="rId7"/>
              </p:custDataLst>
            </p:nvPr>
          </p:nvSpPr>
          <p:spPr>
            <a:xfrm>
              <a:off x="7853" y="2698"/>
              <a:ext cx="1231" cy="81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壹</a:t>
              </a:r>
            </a:p>
          </p:txBody>
        </p:sp>
      </p:grpSp>
      <p:grpSp>
        <p:nvGrpSpPr>
          <p:cNvPr id="95" name="组合 94"/>
          <p:cNvGrpSpPr/>
          <p:nvPr/>
        </p:nvGrpSpPr>
        <p:grpSpPr>
          <a:xfrm>
            <a:off x="5006975" y="4820285"/>
            <a:ext cx="5858510" cy="1040130"/>
            <a:chOff x="7853" y="7575"/>
            <a:chExt cx="9226" cy="1638"/>
          </a:xfrm>
        </p:grpSpPr>
        <p:grpSp>
          <p:nvGrpSpPr>
            <p:cNvPr id="81" name="组合 80"/>
            <p:cNvGrpSpPr/>
            <p:nvPr/>
          </p:nvGrpSpPr>
          <p:grpSpPr>
            <a:xfrm>
              <a:off x="9563" y="7575"/>
              <a:ext cx="7516" cy="1638"/>
              <a:chOff x="5294" y="2704"/>
              <a:chExt cx="7516" cy="1638"/>
            </a:xfrm>
          </p:grpSpPr>
          <p:sp>
            <p:nvSpPr>
              <p:cNvPr id="82" name="文本框 81"/>
              <p:cNvSpPr txBox="1"/>
              <p:nvPr>
                <p:custDataLst>
                  <p:tags r:id="rId5"/>
                </p:custDataLst>
              </p:nvPr>
            </p:nvSpPr>
            <p:spPr>
              <a:xfrm flipH="1">
                <a:off x="5294" y="2704"/>
                <a:ext cx="2900" cy="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楷体"/>
                    <a:ea typeface="思源宋体 CN Heavy" panose="02020900000000000000" pitchFamily="18" charset="-122"/>
                    <a:cs typeface="+mn-ea"/>
                    <a:sym typeface="+mn-lt"/>
                  </a:rPr>
                  <a:t>对行业 B端应用</a:t>
                </a:r>
              </a:p>
            </p:txBody>
          </p:sp>
          <p:sp>
            <p:nvSpPr>
              <p:cNvPr id="83" name="文本框 82"/>
              <p:cNvSpPr txBox="1"/>
              <p:nvPr>
                <p:custDataLst>
                  <p:tags r:id="rId6"/>
                </p:custDataLst>
              </p:nvPr>
            </p:nvSpPr>
            <p:spPr>
              <a:xfrm flipH="1">
                <a:off x="5294" y="3301"/>
                <a:ext cx="7516" cy="1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300" dirty="0">
                    <a:solidFill>
                      <a:srgbClr val="6A6A6A"/>
                    </a:solidFill>
                    <a:latin typeface="楷体"/>
                    <a:ea typeface="思源宋体 CN Heavy" panose="02020900000000000000" pitchFamily="18" charset="-122"/>
                    <a:cs typeface="+mn-ea"/>
                    <a:sym typeface="+mn-lt"/>
                  </a:rPr>
                  <a:t>垂直行业Agent与解决方案\n心理/客服/管理/金融/教育/康养/电商\n让智慧直接服务行业</a:t>
                </a:r>
              </a:p>
            </p:txBody>
          </p:sp>
        </p:grpSp>
        <p:pic>
          <p:nvPicPr>
            <p:cNvPr id="84" name="图片 83" descr="templates\picture_hover\&amp;pky230_sjzg_VCG211248479250&amp;"/>
            <p:cNvPicPr>
              <a:picLocks noChangeAspect="1"/>
            </p:cNvPicPr>
            <p:nvPr/>
          </p:nvPicPr>
          <p:blipFill>
            <a:blip r:embed="rId21" cstate="email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lum bright="12000"/>
            </a:blip>
            <a:srcRect/>
            <a:stretch>
              <a:fillRect/>
            </a:stretch>
          </p:blipFill>
          <p:spPr>
            <a:xfrm>
              <a:off x="7889" y="7914"/>
              <a:ext cx="1158" cy="100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103" h="3570">
                  <a:moveTo>
                    <a:pt x="0" y="0"/>
                  </a:moveTo>
                  <a:lnTo>
                    <a:pt x="4103" y="0"/>
                  </a:lnTo>
                  <a:lnTo>
                    <a:pt x="4103" y="3570"/>
                  </a:lnTo>
                  <a:lnTo>
                    <a:pt x="0" y="3570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sp>
          <p:nvSpPr>
            <p:cNvPr id="85" name="文本框 84"/>
            <p:cNvSpPr txBox="1"/>
            <p:nvPr>
              <p:custDataLst>
                <p:tags r:id="rId4"/>
              </p:custDataLst>
            </p:nvPr>
          </p:nvSpPr>
          <p:spPr>
            <a:xfrm>
              <a:off x="7853" y="7932"/>
              <a:ext cx="1231" cy="81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sz="28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叁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UTO::custom::page-11-method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::page-11-method::met-title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C00000"/>
                </a:solidFill>
                <a:latin typeface="楷体"/>
              </a:rPr>
              <a:t>一源五用 × 三闭环</a:t>
            </a:r>
          </a:p>
        </p:txBody>
      </p:sp>
      <p:cxnSp>
        <p:nvCxnSpPr>
          <p:cNvPr id="3" name="AUTO::page-11-method::met-line"/>
          <p:cNvCxnSpPr/>
          <p:nvPr/>
        </p:nvCxnSpPr>
        <p:spPr>
          <a:xfrm>
            <a:off x="5029200" y="868680"/>
            <a:ext cx="210312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AUTO::page-11-method::met-source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333333"/>
                </a:solidFill>
                <a:latin typeface="楷体"/>
              </a:rPr>
              <a:t>【一源】《道德经》81章原文 —— 帛书甲乙本 + 王弼/河上公注疏 + 汪胜岩注解2026</a:t>
            </a:r>
          </a:p>
        </p:txBody>
      </p:sp>
      <p:sp>
        <p:nvSpPr>
          <p:cNvPr id="5" name="AUTO::page-11-method::met-l1"/>
          <p:cNvSpPr txBox="1"/>
          <p:nvPr/>
        </p:nvSpPr>
        <p:spPr>
          <a:xfrm>
            <a:off x="640080" y="155448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楷体"/>
              </a:rPr>
              <a:t>释义层（懂）</a:t>
            </a:r>
          </a:p>
        </p:txBody>
      </p:sp>
      <p:sp>
        <p:nvSpPr>
          <p:cNvPr id="6" name="AUTO::page-11-method::met-d1"/>
          <p:cNvSpPr txBox="1"/>
          <p:nvPr/>
        </p:nvSpPr>
        <p:spPr>
          <a:xfrm>
            <a:off x="640080" y="1874519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A6A6A"/>
                </a:solidFill>
                <a:latin typeface="楷体"/>
              </a:rPr>
              <a:t>原文精解\n历代注疏</a:t>
            </a:r>
          </a:p>
        </p:txBody>
      </p:sp>
      <p:sp>
        <p:nvSpPr>
          <p:cNvPr id="7" name="AUTO::page-11-method::met-l2"/>
          <p:cNvSpPr txBox="1"/>
          <p:nvPr/>
        </p:nvSpPr>
        <p:spPr>
          <a:xfrm>
            <a:off x="2926080" y="155448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楷体"/>
              </a:rPr>
              <a:t>映射层（通）</a:t>
            </a:r>
          </a:p>
        </p:txBody>
      </p:sp>
      <p:sp>
        <p:nvSpPr>
          <p:cNvPr id="8" name="AUTO::page-11-method::met-d2"/>
          <p:cNvSpPr txBox="1"/>
          <p:nvPr/>
        </p:nvSpPr>
        <p:spPr>
          <a:xfrm>
            <a:off x="2926080" y="1874519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A6A6A"/>
                </a:solidFill>
                <a:latin typeface="楷体"/>
              </a:rPr>
              <a:t>概念→场景\n知识图谱</a:t>
            </a:r>
          </a:p>
        </p:txBody>
      </p:sp>
      <p:sp>
        <p:nvSpPr>
          <p:cNvPr id="9" name="AUTO::page-11-method::met-l3"/>
          <p:cNvSpPr txBox="1"/>
          <p:nvPr/>
        </p:nvSpPr>
        <p:spPr>
          <a:xfrm>
            <a:off x="5212080" y="155448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楷体"/>
              </a:rPr>
              <a:t>应用层（用）</a:t>
            </a:r>
          </a:p>
        </p:txBody>
      </p:sp>
      <p:sp>
        <p:nvSpPr>
          <p:cNvPr id="10" name="AUTO::page-11-method::met-d3"/>
          <p:cNvSpPr txBox="1"/>
          <p:nvPr/>
        </p:nvSpPr>
        <p:spPr>
          <a:xfrm>
            <a:off x="5212080" y="1874519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A6A6A"/>
                </a:solidFill>
                <a:latin typeface="楷体"/>
              </a:rPr>
              <a:t>行业注入\n决策产出</a:t>
            </a:r>
          </a:p>
        </p:txBody>
      </p:sp>
      <p:sp>
        <p:nvSpPr>
          <p:cNvPr id="11" name="AUTO::page-11-method::met-l4"/>
          <p:cNvSpPr txBox="1"/>
          <p:nvPr/>
        </p:nvSpPr>
        <p:spPr>
          <a:xfrm>
            <a:off x="7498079" y="155448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楷体"/>
              </a:rPr>
              <a:t>对齐层（守）</a:t>
            </a:r>
          </a:p>
        </p:txBody>
      </p:sp>
      <p:sp>
        <p:nvSpPr>
          <p:cNvPr id="12" name="AUTO::page-11-method::met-d4"/>
          <p:cNvSpPr txBox="1"/>
          <p:nvPr/>
        </p:nvSpPr>
        <p:spPr>
          <a:xfrm>
            <a:off x="7498079" y="1874519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A6A6A"/>
                </a:solidFill>
                <a:latin typeface="楷体"/>
              </a:rPr>
              <a:t>8维价值观\n行为准则</a:t>
            </a:r>
          </a:p>
        </p:txBody>
      </p:sp>
      <p:sp>
        <p:nvSpPr>
          <p:cNvPr id="13" name="AUTO::page-11-method::met-l5"/>
          <p:cNvSpPr txBox="1"/>
          <p:nvPr/>
        </p:nvSpPr>
        <p:spPr>
          <a:xfrm>
            <a:off x="9784080" y="155448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00000"/>
                </a:solidFill>
                <a:latin typeface="楷体"/>
              </a:rPr>
              <a:t>元层（悟）</a:t>
            </a:r>
          </a:p>
        </p:txBody>
      </p:sp>
      <p:sp>
        <p:nvSpPr>
          <p:cNvPr id="14" name="AUTO::page-11-method::met-d5"/>
          <p:cNvSpPr txBox="1"/>
          <p:nvPr/>
        </p:nvSpPr>
        <p:spPr>
          <a:xfrm>
            <a:off x="9784080" y="1874519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A6A6A"/>
                </a:solidFill>
                <a:latin typeface="楷体"/>
              </a:rPr>
              <a:t>宇宙规律\n高阶元规则</a:t>
            </a:r>
          </a:p>
        </p:txBody>
      </p:sp>
      <p:cxnSp>
        <p:nvCxnSpPr>
          <p:cNvPr id="15" name="AUTO::page-11-method::met-sep"/>
          <p:cNvCxnSpPr/>
          <p:nvPr/>
        </p:nvCxnSpPr>
        <p:spPr>
          <a:xfrm>
            <a:off x="640080" y="2377440"/>
            <a:ext cx="10972800" cy="0"/>
          </a:xfrm>
          <a:prstGeom prst="line">
            <a:avLst/>
          </a:prstGeom>
          <a:ln w="12700">
            <a:solidFill>
              <a:srgbClr val="D4C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AUTO::page-11-method::met-loop-title"/>
          <p:cNvSpPr txBox="1"/>
          <p:nvPr/>
        </p:nvSpPr>
        <p:spPr>
          <a:xfrm>
            <a:off x="640080" y="2560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333333"/>
                </a:solidFill>
                <a:latin typeface="楷体"/>
              </a:rPr>
              <a:t>【三闭环】</a:t>
            </a:r>
          </a:p>
        </p:txBody>
      </p:sp>
      <p:sp>
        <p:nvSpPr>
          <p:cNvPr id="17" name="AUTO::page-11-method::met-loop1"/>
          <p:cNvSpPr/>
          <p:nvPr/>
        </p:nvSpPr>
        <p:spPr>
          <a:xfrm>
            <a:off x="640080" y="3017520"/>
            <a:ext cx="3474720" cy="1463040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楷体"/>
              </a:rPr>
              <a:t>闭环A：对人\n认养→对话/疗愈→进化→复盘→现实应用→反馈成长</a:t>
            </a:r>
          </a:p>
        </p:txBody>
      </p:sp>
      <p:sp>
        <p:nvSpPr>
          <p:cNvPr id="18" name="AUTO::page-11-method::met-loop2"/>
          <p:cNvSpPr/>
          <p:nvPr/>
        </p:nvSpPr>
        <p:spPr>
          <a:xfrm>
            <a:off x="4389120" y="3017520"/>
            <a:ext cx="3474720" cy="146304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楷体"/>
              </a:rPr>
              <a:t>闭环B：对智能体\n接入道枢底座→行业Agent推理→结果回流→案例沉淀→底座进化</a:t>
            </a:r>
          </a:p>
        </p:txBody>
      </p:sp>
      <p:sp>
        <p:nvSpPr>
          <p:cNvPr id="19" name="AUTO::page-11-method::met-loop3"/>
          <p:cNvSpPr/>
          <p:nvPr/>
        </p:nvSpPr>
        <p:spPr>
          <a:xfrm>
            <a:off x="8138160" y="3017520"/>
            <a:ext cx="3474720" cy="1463040"/>
          </a:xfrm>
          <a:prstGeom prst="roundRect">
            <a:avLst/>
          </a:prstGeom>
          <a:solidFill>
            <a:srgbClr val="F5FFF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楷体"/>
              </a:rPr>
              <a:t>闭环C：价值\n产出→脱敏公开→他人/智能体引用付费→收益回流70%/30%</a:t>
            </a:r>
          </a:p>
        </p:txBody>
      </p:sp>
      <p:cxnSp>
        <p:nvCxnSpPr>
          <p:cNvPr id="20" name="AUTO::page-11-method::met-arrow1"/>
          <p:cNvCxnSpPr/>
          <p:nvPr/>
        </p:nvCxnSpPr>
        <p:spPr>
          <a:xfrm>
            <a:off x="4114800" y="3749039"/>
            <a:ext cx="274320" cy="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UTO::page-11-method::met-arrow2"/>
          <p:cNvCxnSpPr/>
          <p:nvPr/>
        </p:nvCxnSpPr>
        <p:spPr>
          <a:xfrm>
            <a:off x="7863840" y="3749039"/>
            <a:ext cx="274320" cy="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AUTO::page-11-method::met-summary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A6A6A"/>
                </a:solidFill>
                <a:latin typeface="楷体"/>
              </a:rPr>
              <a:t>三闭环交汇形成数据护城河：行业案例回流→反哺人类学习→再服务行业，越用越深、越用越难复制</a:t>
            </a:r>
          </a:p>
        </p:txBody>
      </p:sp>
      <p:cxnSp>
        <p:nvCxnSpPr>
          <p:cNvPr id="23" name="AUTO::page-11-method::met-bottom-line"/>
          <p:cNvCxnSpPr/>
          <p:nvPr/>
        </p:nvCxnSpPr>
        <p:spPr>
          <a:xfrm>
            <a:off x="640080" y="5303520"/>
            <a:ext cx="10972800" cy="0"/>
          </a:xfrm>
          <a:prstGeom prst="line">
            <a:avLst/>
          </a:prstGeom>
          <a:ln w="12700">
            <a:solidFill>
              <a:srgbClr val="D4C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UTO::custom::page-12-mapping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::page-12-mapping::map-title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C00000"/>
                </a:solidFill>
                <a:latin typeface="楷体"/>
              </a:rPr>
              <a:t>场景映射：道德经 × 现代世界</a:t>
            </a:r>
          </a:p>
        </p:txBody>
      </p:sp>
      <p:cxnSp>
        <p:nvCxnSpPr>
          <p:cNvPr id="3" name="AUTO::page-12-mapping::map-line"/>
          <p:cNvCxnSpPr/>
          <p:nvPr/>
        </p:nvCxnSpPr>
        <p:spPr>
          <a:xfrm>
            <a:off x="5029200" y="868680"/>
            <a:ext cx="210312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AUTO::page-12-mapping::map-table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718457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楷体"/>
                        </a:rPr>
                        <a:t>道德经概念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楷体"/>
                        </a:rPr>
                        <a:t>行业/商业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楷体"/>
                        </a:rPr>
                        <a:t>个人发展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楷体"/>
                        </a:rPr>
                        <a:t>处世/关系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楷体"/>
                        </a:rPr>
                        <a:t>智能体对齐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道法自然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顺势而为的产品战略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匹配禀赋的赛道选择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不强求、不内耗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尊重系统边界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无为而无不为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减少干预的管理模式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抓大放小的时间管理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边界感与放权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最小干预达成目标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柔弱胜刚强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以柔克刚的谈判/服务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以退为进的职业谈判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非暴力沟通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先倾听后回应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上善若水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适应变化的商业模式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职业韧性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人际弹性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动态适应上下文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反者道之动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逆周期布局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低谷期的战略耐心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物极必反的智慧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决策纳入周期信号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知足不辱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克制扩张的财务观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欲望管理/职业倦怠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幸福感来源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尊重用户自主权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 descr="templates\picture_hover\&amp;pky290_sjzg_VCG211356148776&amp;"/>
          <p:cNvPicPr>
            <a:picLocks noChangeAspect="1"/>
          </p:cNvPicPr>
          <p:nvPr/>
        </p:nvPicPr>
        <p:blipFill>
          <a:blip r:embed="rId14" cstate="email">
            <a:alphaModFix amt="24000"/>
            <a:lum bright="12000"/>
          </a:blip>
          <a:srcRect/>
          <a:stretch>
            <a:fillRect/>
          </a:stretch>
        </p:blipFill>
        <p:spPr>
          <a:xfrm>
            <a:off x="0" y="3081020"/>
            <a:ext cx="12192000" cy="37769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5948">
                <a:moveTo>
                  <a:pt x="0" y="0"/>
                </a:moveTo>
                <a:lnTo>
                  <a:pt x="19200" y="0"/>
                </a:lnTo>
                <a:lnTo>
                  <a:pt x="19200" y="5948"/>
                </a:lnTo>
                <a:lnTo>
                  <a:pt x="0" y="594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" name="图片 15" descr="幻灯片66"/>
          <p:cNvPicPr>
            <a:picLocks noChangeAspect="1"/>
          </p:cNvPicPr>
          <p:nvPr/>
        </p:nvPicPr>
        <p:blipFill>
          <a:blip r:embed="rId15" cstate="email"/>
          <a:stretch>
            <a:fillRect/>
          </a:stretch>
        </p:blipFill>
        <p:spPr>
          <a:xfrm>
            <a:off x="7672070" y="1713865"/>
            <a:ext cx="3599815" cy="514413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451033" y="471488"/>
            <a:ext cx="3289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2400" dirty="0">
                <a:solidFill>
                  <a:schemeClr val="tx1"/>
                </a:solidFill>
                <a:latin typeface="楷体"/>
                <a:ea typeface="思源宋体 CN Heavy" panose="02020900000000000000" pitchFamily="18" charset="-122"/>
                <a:cs typeface="+mn-ea"/>
                <a:sym typeface="+mn-lt"/>
              </a:rPr>
              <a:t>三重护城河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4429760" y="629920"/>
            <a:ext cx="3332480" cy="143510"/>
            <a:chOff x="6699" y="992"/>
            <a:chExt cx="5248" cy="226"/>
          </a:xfrm>
        </p:grpSpPr>
        <p:grpSp>
          <p:nvGrpSpPr>
            <p:cNvPr id="2" name="组合 1"/>
            <p:cNvGrpSpPr/>
            <p:nvPr/>
          </p:nvGrpSpPr>
          <p:grpSpPr>
            <a:xfrm>
              <a:off x="6699" y="992"/>
              <a:ext cx="226" cy="226"/>
              <a:chOff x="7717" y="9163"/>
              <a:chExt cx="226" cy="226"/>
            </a:xfrm>
          </p:grpSpPr>
          <p:sp>
            <p:nvSpPr>
              <p:cNvPr id="3" name="椭圆 2"/>
              <p:cNvSpPr/>
              <p:nvPr/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11721" y="992"/>
              <a:ext cx="226" cy="226"/>
              <a:chOff x="7717" y="9163"/>
              <a:chExt cx="226" cy="226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>
            <a:off x="1254760" y="2018030"/>
            <a:ext cx="5548630" cy="3419475"/>
            <a:chOff x="1800" y="2698"/>
            <a:chExt cx="8738" cy="5385"/>
          </a:xfrm>
        </p:grpSpPr>
        <p:grpSp>
          <p:nvGrpSpPr>
            <p:cNvPr id="19" name="组合 18"/>
            <p:cNvGrpSpPr/>
            <p:nvPr/>
          </p:nvGrpSpPr>
          <p:grpSpPr>
            <a:xfrm>
              <a:off x="1800" y="4856"/>
              <a:ext cx="8738" cy="1069"/>
              <a:chOff x="1800" y="2966"/>
              <a:chExt cx="8738" cy="1069"/>
            </a:xfrm>
          </p:grpSpPr>
          <p:pic>
            <p:nvPicPr>
              <p:cNvPr id="20" name="图片 19" descr="templates\picture_hover\&amp;pky390_sjzg_VCG41N1298925046&amp;"/>
              <p:cNvPicPr>
                <a:picLocks noChangeAspect="1"/>
              </p:cNvPicPr>
              <p:nvPr/>
            </p:nvPicPr>
            <p:blipFill>
              <a:blip r:embed="rId16" cstate="email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  <a:biLevel thresh="50000"/>
                <a:lum bright="36000"/>
              </a:blip>
              <a:stretch>
                <a:fillRect/>
              </a:stretch>
            </p:blipFill>
            <p:spPr>
              <a:xfrm flipH="1">
                <a:off x="1800" y="3018"/>
                <a:ext cx="1017" cy="1017"/>
              </a:xfrm>
              <a:prstGeom prst="rect">
                <a:avLst/>
              </a:prstGeom>
            </p:spPr>
          </p:pic>
          <p:sp>
            <p:nvSpPr>
              <p:cNvPr id="22" name="文本框 21"/>
              <p:cNvSpPr txBox="1"/>
              <p:nvPr/>
            </p:nvSpPr>
            <p:spPr>
              <a:xfrm flipH="1">
                <a:off x="3022" y="2966"/>
                <a:ext cx="7516" cy="1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300" dirty="0">
                    <a:solidFill>
                      <a:srgbClr val="6A6A6A"/>
                    </a:solidFill>
                    <a:latin typeface="楷体"/>
                    <a:ea typeface="思源宋体 CN Heavy" panose="02020900000000000000" pitchFamily="18" charset="-122"/>
                    <a:cs typeface="+mn-ea"/>
                    <a:sym typeface="+mn-lt"/>
                  </a:rPr>
                  <a:t>认养关系壁垒：一对一认养、专属记忆、四级进化、可传承，情感绑定难以迁移</a:t>
                </a: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800" y="2698"/>
              <a:ext cx="8738" cy="5385"/>
              <a:chOff x="1800" y="2966"/>
              <a:chExt cx="8738" cy="5385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1800" y="2966"/>
                <a:ext cx="8738" cy="1069"/>
                <a:chOff x="1800" y="2966"/>
                <a:chExt cx="8738" cy="1069"/>
              </a:xfrm>
            </p:grpSpPr>
            <p:pic>
              <p:nvPicPr>
                <p:cNvPr id="50" name="图片 49" descr="templates\picture_hover\&amp;pky390_sjzg_VCG41N1298925046&amp;"/>
                <p:cNvPicPr>
                  <a:picLocks noChangeAspect="1"/>
                </p:cNvPicPr>
                <p:nvPr/>
              </p:nvPicPr>
              <p:blipFill>
                <a:blip r:embed="rId16" cstate="email">
                  <a:clrChange>
                    <a:clrFrom>
                      <a:srgbClr val="FFFFFF">
                        <a:alpha val="100000"/>
                      </a:srgbClr>
                    </a:clrFrom>
                    <a:clrTo>
                      <a:srgbClr val="FFFFFF">
                        <a:alpha val="100000"/>
                        <a:alpha val="0"/>
                      </a:srgbClr>
                    </a:clrTo>
                  </a:clrChange>
                  <a:biLevel thresh="50000"/>
                  <a:lum bright="36000"/>
                </a:blip>
                <a:stretch>
                  <a:fillRect/>
                </a:stretch>
              </p:blipFill>
              <p:spPr>
                <a:xfrm flipH="1">
                  <a:off x="1800" y="3018"/>
                  <a:ext cx="1017" cy="1017"/>
                </a:xfrm>
                <a:prstGeom prst="rect">
                  <a:avLst/>
                </a:prstGeom>
              </p:spPr>
            </p:pic>
            <p:sp>
              <p:nvSpPr>
                <p:cNvPr id="44" name="文本框 43"/>
                <p:cNvSpPr txBox="1"/>
                <p:nvPr/>
              </p:nvSpPr>
              <p:spPr>
                <a:xfrm flipH="1">
                  <a:off x="3022" y="2966"/>
                  <a:ext cx="7516" cy="10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z="1300" dirty="0">
                      <a:solidFill>
                        <a:srgbClr val="6A6A6A"/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权威注疏底座：汪胜岩注解2026已结构化入库，81章原文+历代注疏+现代诠释</a:t>
                  </a: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800" y="7282"/>
                <a:ext cx="8738" cy="1069"/>
                <a:chOff x="1800" y="2966"/>
                <a:chExt cx="8738" cy="1069"/>
              </a:xfrm>
            </p:grpSpPr>
            <p:pic>
              <p:nvPicPr>
                <p:cNvPr id="27" name="图片 26" descr="templates\picture_hover\&amp;pky390_sjzg_VCG41N1298925046&amp;"/>
                <p:cNvPicPr>
                  <a:picLocks noChangeAspect="1"/>
                </p:cNvPicPr>
                <p:nvPr/>
              </p:nvPicPr>
              <p:blipFill>
                <a:blip r:embed="rId16" cstate="email">
                  <a:clrChange>
                    <a:clrFrom>
                      <a:srgbClr val="FFFFFF">
                        <a:alpha val="100000"/>
                      </a:srgbClr>
                    </a:clrFrom>
                    <a:clrTo>
                      <a:srgbClr val="FFFFFF">
                        <a:alpha val="100000"/>
                        <a:alpha val="0"/>
                      </a:srgbClr>
                    </a:clrTo>
                  </a:clrChange>
                  <a:biLevel thresh="50000"/>
                  <a:lum bright="36000"/>
                </a:blip>
                <a:stretch>
                  <a:fillRect/>
                </a:stretch>
              </p:blipFill>
              <p:spPr>
                <a:xfrm flipH="1">
                  <a:off x="1800" y="3018"/>
                  <a:ext cx="1017" cy="1017"/>
                </a:xfrm>
                <a:prstGeom prst="rect">
                  <a:avLst/>
                </a:prstGeom>
              </p:spPr>
            </p:pic>
            <p:sp>
              <p:nvSpPr>
                <p:cNvPr id="28" name="文本框 27"/>
                <p:cNvSpPr txBox="1"/>
                <p:nvPr/>
              </p:nvSpPr>
              <p:spPr>
                <a:xfrm flipH="1">
                  <a:off x="3022" y="2966"/>
                  <a:ext cx="7516" cy="10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z="1300" dirty="0">
                      <a:solidFill>
                        <a:srgbClr val="6A6A6A"/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双对象产品矩阵：人+智能体+行业三端交织，越用越深、越用越难复制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 flipH="1">
            <a:off x="-47625" y="-13970"/>
            <a:ext cx="12239625" cy="6903720"/>
            <a:chOff x="-75" y="-22"/>
            <a:chExt cx="19275" cy="10872"/>
          </a:xfrm>
        </p:grpSpPr>
        <p:pic>
          <p:nvPicPr>
            <p:cNvPr id="35" name="图片 34" descr="templates\picture_hover\&amp;pky290_sjzg_VCG211356148776&amp;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 cstate="email">
              <a:alphaModFix amt="24000"/>
              <a:lum bright="12000"/>
            </a:blip>
            <a:srcRect/>
            <a:stretch>
              <a:fillRect/>
            </a:stretch>
          </p:blipFill>
          <p:spPr>
            <a:xfrm>
              <a:off x="0" y="893"/>
              <a:ext cx="19200" cy="990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000" h="8772">
                  <a:moveTo>
                    <a:pt x="0" y="0"/>
                  </a:moveTo>
                  <a:lnTo>
                    <a:pt x="17000" y="0"/>
                  </a:lnTo>
                  <a:lnTo>
                    <a:pt x="17000" y="8772"/>
                  </a:lnTo>
                  <a:lnTo>
                    <a:pt x="0" y="8772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36" name="图片 35" descr="幻灯片127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2" cstate="email">
              <a:alphaModFix amt="80000"/>
            </a:blip>
            <a:stretch>
              <a:fillRect/>
            </a:stretch>
          </p:blipFill>
          <p:spPr>
            <a:xfrm>
              <a:off x="-75" y="-22"/>
              <a:ext cx="2527" cy="2508"/>
            </a:xfrm>
            <a:prstGeom prst="rect">
              <a:avLst/>
            </a:prstGeom>
          </p:spPr>
        </p:pic>
        <p:pic>
          <p:nvPicPr>
            <p:cNvPr id="37" name="图片 36" descr="幻灯片127-1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3" cstate="email">
              <a:alphaModFix amt="80000"/>
            </a:blip>
            <a:stretch>
              <a:fillRect/>
            </a:stretch>
          </p:blipFill>
          <p:spPr>
            <a:xfrm flipH="1">
              <a:off x="16468" y="5400"/>
              <a:ext cx="2732" cy="5450"/>
            </a:xfrm>
            <a:prstGeom prst="rect">
              <a:avLst/>
            </a:prstGeom>
          </p:spPr>
        </p:pic>
        <p:pic>
          <p:nvPicPr>
            <p:cNvPr id="38" name="图片 37" descr="templates\picture_hover\&amp;pky8189327183&amp;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4" cstate="email">
              <a:alphaModFix amt="40000"/>
            </a:blip>
            <a:stretch>
              <a:fillRect/>
            </a:stretch>
          </p:blipFill>
          <p:spPr>
            <a:xfrm>
              <a:off x="1751" y="6859"/>
              <a:ext cx="4902" cy="2979"/>
            </a:xfrm>
            <a:prstGeom prst="rect">
              <a:avLst/>
            </a:prstGeom>
          </p:spPr>
        </p:pic>
        <p:pic>
          <p:nvPicPr>
            <p:cNvPr id="39" name="图片 38" descr="templates\picture_hover\&amp;pky8389331009&amp;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5" cstate="email">
              <a:alphaModFix amt="60000"/>
            </a:blip>
            <a:srcRect/>
            <a:stretch>
              <a:fillRect/>
            </a:stretch>
          </p:blipFill>
          <p:spPr>
            <a:xfrm rot="21060000">
              <a:off x="13575" y="1132"/>
              <a:ext cx="2150" cy="1989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850" h="2636">
                  <a:moveTo>
                    <a:pt x="0" y="0"/>
                  </a:moveTo>
                  <a:lnTo>
                    <a:pt x="2850" y="0"/>
                  </a:lnTo>
                  <a:lnTo>
                    <a:pt x="2850" y="2636"/>
                  </a:lnTo>
                  <a:lnTo>
                    <a:pt x="0" y="2636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grpSp>
        <p:nvGrpSpPr>
          <p:cNvPr id="2" name="组合 1"/>
          <p:cNvGrpSpPr/>
          <p:nvPr/>
        </p:nvGrpSpPr>
        <p:grpSpPr>
          <a:xfrm>
            <a:off x="873760" y="1528763"/>
            <a:ext cx="10444480" cy="3820795"/>
            <a:chOff x="1376" y="2559"/>
            <a:chExt cx="16448" cy="6017"/>
          </a:xfrm>
        </p:grpSpPr>
        <p:grpSp>
          <p:nvGrpSpPr>
            <p:cNvPr id="11" name="组合 10"/>
            <p:cNvGrpSpPr/>
            <p:nvPr/>
          </p:nvGrpSpPr>
          <p:grpSpPr>
            <a:xfrm>
              <a:off x="1376" y="4094"/>
              <a:ext cx="16448" cy="4482"/>
              <a:chOff x="1376" y="2538"/>
              <a:chExt cx="16448" cy="4483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1376" y="4878"/>
                <a:ext cx="16448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sz="3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楷体"/>
                    <a:ea typeface="思源宋体 CN Heavy" panose="02020900000000000000" pitchFamily="18" charset="-122"/>
                    <a:cs typeface="+mn-ea"/>
                    <a:sym typeface="+mn-lt"/>
                  </a:rPr>
                  <a:t>落地 · 智慧引擎</a:t>
                </a:r>
              </a:p>
            </p:txBody>
          </p:sp>
          <p:sp>
            <p:nvSpPr>
              <p:cNvPr id="172" name="文本框 17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045" y="5815"/>
                <a:ext cx="7110" cy="120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300" dirty="0">
                    <a:solidFill>
                      <a:srgbClr val="6A6A6A"/>
                    </a:solidFill>
                    <a:latin typeface="楷体"/>
                    <a:ea typeface="思源宋体 CN Heavy" panose="02020900000000000000" pitchFamily="18" charset="-122"/>
                    <a:cs typeface="+mn-ea"/>
                    <a:sym typeface="+mn-lt"/>
                  </a:rPr>
                  <a:t>V2.0已开发、已部署，五大模块全线就绪</a:t>
                </a: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1376" y="2538"/>
                <a:ext cx="16448" cy="1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sz="6000" b="1" dirty="0">
                    <a:latin typeface="楷体"/>
                    <a:ea typeface="思源宋体 CN Heavy" panose="02020900000000000000" pitchFamily="18" charset="-122"/>
                    <a:cs typeface="+mn-ea"/>
                    <a:sym typeface="+mn-lt"/>
                  </a:rPr>
                  <a:t>叁</a:t>
                </a: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9487" y="5906"/>
              <a:ext cx="226" cy="226"/>
              <a:chOff x="7717" y="9163"/>
              <a:chExt cx="226" cy="226"/>
            </a:xfrm>
          </p:grpSpPr>
          <p:sp>
            <p:nvSpPr>
              <p:cNvPr id="6" name="椭圆 5"/>
              <p:cNvSpPr/>
              <p:nvPr>
                <p:custDataLst>
                  <p:tags r:id="rId2"/>
                </p:custDataLst>
              </p:nvPr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30" name="椭圆 29"/>
              <p:cNvSpPr/>
              <p:nvPr>
                <p:custDataLst>
                  <p:tags r:id="rId3"/>
                </p:custDataLst>
              </p:nvPr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  <p:pic>
          <p:nvPicPr>
            <p:cNvPr id="22" name="图片 21" descr="templates\picture_hover\&amp;pky240_sjzg_VCG211275366148&amp;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6" cstate="email"/>
            <a:srcRect/>
            <a:stretch>
              <a:fillRect/>
            </a:stretch>
          </p:blipFill>
          <p:spPr>
            <a:xfrm>
              <a:off x="9251" y="2559"/>
              <a:ext cx="699" cy="76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99" h="767">
                  <a:moveTo>
                    <a:pt x="0" y="0"/>
                  </a:moveTo>
                  <a:lnTo>
                    <a:pt x="699" y="0"/>
                  </a:lnTo>
                  <a:lnTo>
                    <a:pt x="699" y="767"/>
                  </a:lnTo>
                  <a:lnTo>
                    <a:pt x="0" y="767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UTO::custom::page-15-runtime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::page-15-runtime::rt-title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C00000"/>
                </a:solidFill>
                <a:latin typeface="楷体"/>
              </a:rPr>
              <a:t>道枢思维底座：AI的东方操作系统</a:t>
            </a:r>
          </a:p>
        </p:txBody>
      </p:sp>
      <p:cxnSp>
        <p:nvCxnSpPr>
          <p:cNvPr id="3" name="AUTO::page-15-runtime::rt-line"/>
          <p:cNvCxnSpPr/>
          <p:nvPr/>
        </p:nvCxnSpPr>
        <p:spPr>
          <a:xfrm>
            <a:off x="5029200" y="868680"/>
            <a:ext cx="210312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AUTO::page-15-runtime::rt-card1"/>
          <p:cNvSpPr/>
          <p:nvPr/>
        </p:nvSpPr>
        <p:spPr>
          <a:xfrm>
            <a:off x="640080" y="1188720"/>
            <a:ext cx="3566160" cy="2560320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楷体"/>
              </a:rPr>
              <a:t>注入层\n\n价值观提示词包\n反思链四问\n(过度干预？违背周期？\n诱导上瘾？短期牺牲？)\n\n兼容国产LLM</a:t>
            </a:r>
          </a:p>
        </p:txBody>
      </p:sp>
      <p:sp>
        <p:nvSpPr>
          <p:cNvPr id="5" name="AUTO::page-15-runtime::rt-card2"/>
          <p:cNvSpPr/>
          <p:nvPr/>
        </p:nvSpPr>
        <p:spPr>
          <a:xfrm>
            <a:off x="4480560" y="1188720"/>
            <a:ext cx="3566160" cy="256032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楷体"/>
              </a:rPr>
              <a:t>审计层\n\n四维评分API\n无为度 / 守中度\n自然度 / 知足度\n\n可解释报告\n企业内控留痕</a:t>
            </a:r>
          </a:p>
        </p:txBody>
      </p:sp>
      <p:sp>
        <p:nvSpPr>
          <p:cNvPr id="6" name="AUTO::page-15-runtime::rt-card3"/>
          <p:cNvSpPr/>
          <p:nvPr/>
        </p:nvSpPr>
        <p:spPr>
          <a:xfrm>
            <a:off x="8321040" y="1188720"/>
            <a:ext cx="3566160" cy="2560320"/>
          </a:xfrm>
          <a:prstGeom prst="roundRect">
            <a:avLst/>
          </a:prstGeom>
          <a:solidFill>
            <a:srgbClr val="F5FFF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楷体"/>
              </a:rPr>
              <a:t>SDK生态\n\nPython / Node / HTTP\n三形态SDK\nLangChain生态兼容\n开发者控制台\n调用计量+案例广场</a:t>
            </a:r>
          </a:p>
        </p:txBody>
      </p:sp>
      <p:sp>
        <p:nvSpPr>
          <p:cNvPr id="7" name="AUTO::page-15-runtime::rt-tech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33333"/>
                </a:solidFill>
                <a:latin typeface="楷体"/>
              </a:rPr>
              <a:t>技术路径：MVP结构化提示词包 → P2 Runtime+审计API → P3 打分模型（LLM-as-a-judge校准）</a:t>
            </a:r>
          </a:p>
        </p:txBody>
      </p:sp>
      <p:sp>
        <p:nvSpPr>
          <p:cNvPr id="8" name="AUTO::page-15-runtime::rt-note"/>
          <p:cNvSpPr txBox="1"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A6A6A"/>
                </a:solidFill>
                <a:latin typeface="楷体"/>
              </a:rPr>
              <a:t>数据安全：租户级隔离、案例强制脱敏；C端与B端数据物理隔离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 descr="templates\picture_hover\&amp;pky290_sjzg_VCG211356148776&amp;"/>
          <p:cNvPicPr>
            <a:picLocks noChangeAspect="1"/>
          </p:cNvPicPr>
          <p:nvPr/>
        </p:nvPicPr>
        <p:blipFill>
          <a:blip r:embed="rId22" cstate="email">
            <a:alphaModFix amt="24000"/>
            <a:lum bright="12000"/>
          </a:blip>
          <a:srcRect/>
          <a:stretch>
            <a:fillRect/>
          </a:stretch>
        </p:blipFill>
        <p:spPr>
          <a:xfrm>
            <a:off x="0" y="3081020"/>
            <a:ext cx="12192000" cy="37769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5948">
                <a:moveTo>
                  <a:pt x="0" y="0"/>
                </a:moveTo>
                <a:lnTo>
                  <a:pt x="19200" y="0"/>
                </a:lnTo>
                <a:lnTo>
                  <a:pt x="19200" y="5948"/>
                </a:lnTo>
                <a:lnTo>
                  <a:pt x="0" y="594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" name="图片 2" descr="templates\picture_hover\&amp;pky260_sjzg_VCG211356166098&amp;"/>
          <p:cNvPicPr>
            <a:picLocks noChangeAspect="1"/>
          </p:cNvPicPr>
          <p:nvPr/>
        </p:nvPicPr>
        <p:blipFill>
          <a:blip r:embed="rId23" cstate="email">
            <a:alphaModFix amt="80000"/>
          </a:blip>
          <a:stretch>
            <a:fillRect/>
          </a:stretch>
        </p:blipFill>
        <p:spPr>
          <a:xfrm>
            <a:off x="241300" y="1003300"/>
            <a:ext cx="5461000" cy="54610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4429760" y="471805"/>
            <a:ext cx="3332480" cy="459740"/>
            <a:chOff x="6976" y="743"/>
            <a:chExt cx="5248" cy="724"/>
          </a:xfrm>
        </p:grpSpPr>
        <p:sp>
          <p:nvSpPr>
            <p:cNvPr id="31" name="文本框 30"/>
            <p:cNvSpPr txBox="1"/>
            <p:nvPr/>
          </p:nvSpPr>
          <p:spPr>
            <a:xfrm>
              <a:off x="7010" y="743"/>
              <a:ext cx="518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tx1"/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疗愈引擎</a:t>
              </a: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6976" y="992"/>
              <a:ext cx="226" cy="226"/>
              <a:chOff x="7717" y="9163"/>
              <a:chExt cx="226" cy="226"/>
            </a:xfrm>
          </p:grpSpPr>
          <p:sp>
            <p:nvSpPr>
              <p:cNvPr id="36" name="椭圆 35"/>
              <p:cNvSpPr/>
              <p:nvPr/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1998" y="992"/>
              <a:ext cx="226" cy="226"/>
              <a:chOff x="7717" y="9163"/>
              <a:chExt cx="226" cy="226"/>
            </a:xfrm>
          </p:grpSpPr>
          <p:sp>
            <p:nvSpPr>
              <p:cNvPr id="39" name="椭圆 38"/>
              <p:cNvSpPr/>
              <p:nvPr/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66" name="组合 65"/>
          <p:cNvGrpSpPr/>
          <p:nvPr/>
        </p:nvGrpSpPr>
        <p:grpSpPr>
          <a:xfrm>
            <a:off x="5895340" y="1916430"/>
            <a:ext cx="5366385" cy="3605530"/>
            <a:chOff x="9284" y="3018"/>
            <a:chExt cx="8451" cy="5678"/>
          </a:xfrm>
        </p:grpSpPr>
        <p:sp>
          <p:nvSpPr>
            <p:cNvPr id="2" name="文本框 1"/>
            <p:cNvSpPr txBox="1"/>
            <p:nvPr/>
          </p:nvSpPr>
          <p:spPr>
            <a:xfrm flipH="1">
              <a:off x="10219" y="3188"/>
              <a:ext cx="2900" cy="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焦虑急救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 flipH="1">
              <a:off x="10219" y="3977"/>
              <a:ext cx="7516" cy="1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300" dirty="0">
                  <a:solidFill>
                    <a:srgbClr val="6A6A6A"/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3-5分钟对话引导：呼吸调息+认知重构+静心引语语音，可离线触发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 flipH="1">
              <a:off x="10219" y="5129"/>
              <a:ext cx="7516" cy="1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300" dirty="0">
                  <a:solidFill>
                    <a:srgbClr val="6A6A6A"/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道家情绪调节四练习：知足不辱(欲望管理)/清凉降火(情绪降温)/致虚守静(观想)/反者道之动(周期观)</a:t>
              </a:r>
            </a:p>
          </p:txBody>
        </p:sp>
        <p:grpSp>
          <p:nvGrpSpPr>
            <p:cNvPr id="65" name="组合 64"/>
            <p:cNvGrpSpPr/>
            <p:nvPr/>
          </p:nvGrpSpPr>
          <p:grpSpPr>
            <a:xfrm>
              <a:off x="9696" y="4409"/>
              <a:ext cx="226" cy="1378"/>
              <a:chOff x="9742" y="4409"/>
              <a:chExt cx="226" cy="1378"/>
            </a:xfrm>
          </p:grpSpPr>
          <p:sp>
            <p:nvSpPr>
              <p:cNvPr id="6" name="椭圆 5"/>
              <p:cNvSpPr/>
              <p:nvPr/>
            </p:nvSpPr>
            <p:spPr>
              <a:xfrm>
                <a:off x="9785" y="4452"/>
                <a:ext cx="142" cy="142"/>
              </a:xfrm>
              <a:prstGeom prst="ellipse">
                <a:avLst/>
              </a:prstGeom>
              <a:solidFill>
                <a:srgbClr val="6A6A6A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9785" y="5604"/>
                <a:ext cx="142" cy="142"/>
              </a:xfrm>
              <a:prstGeom prst="ellipse">
                <a:avLst/>
              </a:prstGeom>
              <a:solidFill>
                <a:srgbClr val="6A6A6A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grpSp>
            <p:nvGrpSpPr>
              <p:cNvPr id="64" name="组合 63"/>
              <p:cNvGrpSpPr/>
              <p:nvPr/>
            </p:nvGrpSpPr>
            <p:grpSpPr>
              <a:xfrm>
                <a:off x="9742" y="4409"/>
                <a:ext cx="226" cy="1378"/>
                <a:chOff x="9742" y="4409"/>
                <a:chExt cx="226" cy="1378"/>
              </a:xfrm>
            </p:grpSpPr>
            <p:sp>
              <p:nvSpPr>
                <p:cNvPr id="7" name="椭圆 6"/>
                <p:cNvSpPr/>
                <p:nvPr/>
              </p:nvSpPr>
              <p:spPr>
                <a:xfrm>
                  <a:off x="9742" y="4409"/>
                  <a:ext cx="227" cy="227"/>
                </a:xfrm>
                <a:prstGeom prst="ellipse">
                  <a:avLst/>
                </a:prstGeom>
                <a:noFill/>
                <a:ln>
                  <a:solidFill>
                    <a:srgbClr val="6A6A6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椭圆 16"/>
                <p:cNvSpPr/>
                <p:nvPr/>
              </p:nvSpPr>
              <p:spPr>
                <a:xfrm>
                  <a:off x="9742" y="5561"/>
                  <a:ext cx="227" cy="227"/>
                </a:xfrm>
                <a:prstGeom prst="ellipse">
                  <a:avLst/>
                </a:prstGeom>
                <a:noFill/>
                <a:ln>
                  <a:solidFill>
                    <a:srgbClr val="6A6A6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</p:grpSp>
        </p:grpSp>
        <p:pic>
          <p:nvPicPr>
            <p:cNvPr id="50" name="图片 49" descr="templates\picture_hover\&amp;pky390_sjzg_VCG41N1298925046&amp;"/>
            <p:cNvPicPr>
              <a:picLocks noChangeAspect="1"/>
            </p:cNvPicPr>
            <p:nvPr/>
          </p:nvPicPr>
          <p:blipFill>
            <a:blip r:embed="rId24" cstate="email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36000"/>
            </a:blip>
            <a:stretch>
              <a:fillRect/>
            </a:stretch>
          </p:blipFill>
          <p:spPr>
            <a:xfrm flipH="1">
              <a:off x="9284" y="3018"/>
              <a:ext cx="1017" cy="1017"/>
            </a:xfrm>
            <a:prstGeom prst="rect">
              <a:avLst/>
            </a:prstGeom>
          </p:spPr>
        </p:pic>
        <p:sp>
          <p:nvSpPr>
            <p:cNvPr id="51" name="文本框 50"/>
            <p:cNvSpPr txBox="1"/>
            <p:nvPr/>
          </p:nvSpPr>
          <p:spPr>
            <a:xfrm flipH="1">
              <a:off x="10219" y="6866"/>
              <a:ext cx="2900" cy="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每周复盘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 flipH="1">
              <a:off x="10219" y="7655"/>
              <a:ext cx="7516" cy="1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300" dirty="0">
                  <a:solidFill>
                    <a:srgbClr val="6A6A6A"/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情绪日记×道德经框架生成上善若水周报：本周情绪波动/根源/下周行动；高危自动转介12356热线</a:t>
              </a:r>
            </a:p>
          </p:txBody>
        </p:sp>
        <p:grpSp>
          <p:nvGrpSpPr>
            <p:cNvPr id="63" name="组合 62"/>
            <p:cNvGrpSpPr/>
            <p:nvPr/>
          </p:nvGrpSpPr>
          <p:grpSpPr>
            <a:xfrm>
              <a:off x="9696" y="8087"/>
              <a:ext cx="226" cy="226"/>
              <a:chOff x="9742" y="8087"/>
              <a:chExt cx="226" cy="226"/>
            </a:xfrm>
          </p:grpSpPr>
          <p:sp>
            <p:nvSpPr>
              <p:cNvPr id="54" name="椭圆 53"/>
              <p:cNvSpPr/>
              <p:nvPr/>
            </p:nvSpPr>
            <p:spPr>
              <a:xfrm>
                <a:off x="9785" y="8130"/>
                <a:ext cx="142" cy="142"/>
              </a:xfrm>
              <a:prstGeom prst="ellipse">
                <a:avLst/>
              </a:prstGeom>
              <a:solidFill>
                <a:srgbClr val="6A6A6A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55" name="椭圆 54"/>
              <p:cNvSpPr/>
              <p:nvPr/>
            </p:nvSpPr>
            <p:spPr>
              <a:xfrm>
                <a:off x="9742" y="8087"/>
                <a:ext cx="227" cy="227"/>
              </a:xfrm>
              <a:prstGeom prst="ellipse">
                <a:avLst/>
              </a:prstGeom>
              <a:noFill/>
              <a:ln>
                <a:solidFill>
                  <a:srgbClr val="6A6A6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  <p:pic>
          <p:nvPicPr>
            <p:cNvPr id="60" name="图片 59" descr="templates\picture_hover\&amp;pky390_sjzg_VCG41N1298925046&amp;"/>
            <p:cNvPicPr>
              <a:picLocks noChangeAspect="1"/>
            </p:cNvPicPr>
            <p:nvPr/>
          </p:nvPicPr>
          <p:blipFill>
            <a:blip r:embed="rId24" cstate="email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36000"/>
            </a:blip>
            <a:stretch>
              <a:fillRect/>
            </a:stretch>
          </p:blipFill>
          <p:spPr>
            <a:xfrm flipH="1">
              <a:off x="9284" y="6696"/>
              <a:ext cx="1017" cy="10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UTO::custom::page-17-industry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::page-17-industry::ind-title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C00000"/>
                </a:solidFill>
                <a:latin typeface="楷体"/>
              </a:rPr>
              <a:t>七大行业Agent矩阵</a:t>
            </a:r>
          </a:p>
        </p:txBody>
      </p:sp>
      <p:cxnSp>
        <p:nvCxnSpPr>
          <p:cNvPr id="3" name="AUTO::page-17-industry::ind-line"/>
          <p:cNvCxnSpPr/>
          <p:nvPr/>
        </p:nvCxnSpPr>
        <p:spPr>
          <a:xfrm>
            <a:off x="5029200" y="868680"/>
            <a:ext cx="210312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AUTO::page-17-industry::ind-table"/>
          <p:cNvGraphicFramePr>
            <a:graphicFrameLocks noGrp="1"/>
          </p:cNvGraphicFramePr>
          <p:nvPr/>
        </p:nvGraphicFramePr>
        <p:xfrm>
          <a:off x="457200" y="118872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715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楷体"/>
                        </a:rPr>
                        <a:t>行业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楷体"/>
                        </a:rPr>
                        <a:t>Agent形态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楷体"/>
                        </a:rPr>
                        <a:t>道的注入点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楷体"/>
                        </a:rPr>
                        <a:t>落地模式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心理健康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柔静陪伴Agent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非评判倾听+静观引导+高危转介兜底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SaaS 3-10万/年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客户服务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上善若水客服Agent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先共情后解决+柔性话术+不机械复读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SaaS 3-10万/年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企业管理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无为而治管理Agent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授权与复盘框架+减少微管理提示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解决方案 20-80万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金融/投资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反者道之动决策Agent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周期信号提示+逆周期检查清单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解决方案 20-80万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教育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因材施教教学Agent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尊重个体节奏+不揠苗助长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SaaS+定制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康养/银发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知足乐老陪伴Agent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情绪陪伴+认知增强+风险感知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SaaS+共营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电商/运营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知止不殆运营Agent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防过度营销+页面留白+打扰降频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  <a:latin typeface="楷体"/>
                        </a:rPr>
                        <a:t>SaaS 3-10万/年</a:t>
                      </a:r>
                    </a:p>
                  </a:txBody>
                  <a:tcPr>
                    <a:solidFill>
                      <a:srgbClr val="FFF8F0"/>
                    </a:solidFill>
                  </a:tcPr>
                </a:tc>
              </a:tr>
            </a:tbl>
          </a:graphicData>
        </a:graphic>
      </p:graphicFrame>
      <p:sp>
        <p:nvSpPr>
          <p:cNvPr id="5" name="AUTO::page-17-industry::ind-note"/>
          <p:cNvSpPr txBox="1"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A6A6A"/>
                </a:solidFill>
                <a:latin typeface="楷体"/>
              </a:rPr>
              <a:t>行业优先级：心理/管理/客服第一梯队（市场大×痛点明确×AI渗透快）；金融/教育/康养第二梯队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UTO::custom::page-18-arch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::page-18-arch::arch-title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C00000"/>
                </a:solidFill>
                <a:latin typeface="楷体"/>
              </a:rPr>
              <a:t>双通路技术架构</a:t>
            </a:r>
          </a:p>
        </p:txBody>
      </p:sp>
      <p:cxnSp>
        <p:nvCxnSpPr>
          <p:cNvPr id="3" name="AUTO::page-18-arch::arch-line"/>
          <p:cNvCxnSpPr/>
          <p:nvPr/>
        </p:nvCxnSpPr>
        <p:spPr>
          <a:xfrm>
            <a:off x="5029200" y="868680"/>
            <a:ext cx="210312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AUTO::page-18-arch::arch-layer1"/>
          <p:cNvSpPr/>
          <p:nvPr/>
        </p:nvSpPr>
        <p:spPr>
          <a:xfrm>
            <a:off x="640080" y="1188720"/>
            <a:ext cx="10972800" cy="548640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楷体"/>
              </a:rPr>
              <a:t>客户端：微信小程序 / H5 / App（uni-app三端复用）</a:t>
            </a:r>
          </a:p>
        </p:txBody>
      </p:sp>
      <p:sp>
        <p:nvSpPr>
          <p:cNvPr id="5" name="AUTO::page-18-arch::arch-layer2"/>
          <p:cNvSpPr/>
          <p:nvPr/>
        </p:nvSpPr>
        <p:spPr>
          <a:xfrm>
            <a:off x="640080" y="1920240"/>
            <a:ext cx="10972800" cy="54864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楷体"/>
              </a:rPr>
              <a:t>应用层：用户 / 认养 / 学习路径 / 进化 / 情绪疗愈 / 社区 / 积分 / 支付 / IP资产</a:t>
            </a:r>
          </a:p>
        </p:txBody>
      </p:sp>
      <p:sp>
        <p:nvSpPr>
          <p:cNvPr id="6" name="AUTO::page-18-arch::arch-layer3"/>
          <p:cNvSpPr/>
          <p:nvPr/>
        </p:nvSpPr>
        <p:spPr>
          <a:xfrm>
            <a:off x="640080" y="2651760"/>
            <a:ext cx="10972800" cy="548640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楷体"/>
              </a:rPr>
              <a:t>AI编排层：解析/导师/场景/思辨/进化/知识Agent + 疗愈Agent + 对齐审计Agent</a:t>
            </a:r>
          </a:p>
        </p:txBody>
      </p:sp>
      <p:sp>
        <p:nvSpPr>
          <p:cNvPr id="7" name="AUTO::page-18-arch::arch-layer4"/>
          <p:cNvSpPr/>
          <p:nvPr/>
        </p:nvSpPr>
        <p:spPr>
          <a:xfrm>
            <a:off x="640080" y="3383280"/>
            <a:ext cx="10972800" cy="548640"/>
          </a:xfrm>
          <a:prstGeom prst="roundRect">
            <a:avLst/>
          </a:prstGeom>
          <a:solidFill>
            <a:srgbClr val="F5FFF0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00000"/>
                </a:solidFill>
                <a:latin typeface="楷体"/>
              </a:rPr>
              <a:t>道枢接入层：道枢Runtime + 审计API + 开放平台（开发者控制台/调用计量/案例广场）</a:t>
            </a:r>
          </a:p>
        </p:txBody>
      </p:sp>
      <p:sp>
        <p:nvSpPr>
          <p:cNvPr id="8" name="AUTO::page-18-arch::arch-layer5"/>
          <p:cNvSpPr/>
          <p:nvPr/>
        </p:nvSpPr>
        <p:spPr>
          <a:xfrm>
            <a:off x="640080" y="4114800"/>
            <a:ext cx="10972800" cy="5486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A5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楷体"/>
              </a:rPr>
              <a:t>数据层：PostgreSQL+pgvector / 知识图谱 / Redis / 账务表</a:t>
            </a:r>
          </a:p>
        </p:txBody>
      </p:sp>
      <p:sp>
        <p:nvSpPr>
          <p:cNvPr id="9" name="AUTO::page-18-arch::arch-tech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333333"/>
                </a:solidFill>
                <a:latin typeface="楷体"/>
              </a:rPr>
              <a:t>技术栈：uni-app(Vue3+TS) + NestJS + PostgreSQL16+pgvector + Redis + BullMQ + LangChain.js</a:t>
            </a:r>
          </a:p>
        </p:txBody>
      </p:sp>
      <p:sp>
        <p:nvSpPr>
          <p:cNvPr id="10" name="AUTO::page-18-arch::arch-note"/>
          <p:cNvSpPr txBox="1"/>
          <p:nvPr/>
        </p:nvSpPr>
        <p:spPr>
          <a:xfrm>
            <a:off x="640080" y="539496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00000"/>
                </a:solidFill>
                <a:latin typeface="楷体"/>
              </a:rPr>
              <a:t>已部署公网：115.191.9.57:3349 | 50项冒烟测试全绿 | 前端5页面+后端5模块全线就绪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 descr="templates\picture_hover\&amp;pky290_sjzg_VCG211356148776&amp;"/>
          <p:cNvPicPr>
            <a:picLocks noChangeAspect="1"/>
          </p:cNvPicPr>
          <p:nvPr/>
        </p:nvPicPr>
        <p:blipFill>
          <a:blip r:embed="rId14" cstate="email">
            <a:alphaModFix amt="24000"/>
            <a:lum bright="12000"/>
          </a:blip>
          <a:srcRect/>
          <a:stretch>
            <a:fillRect/>
          </a:stretch>
        </p:blipFill>
        <p:spPr>
          <a:xfrm>
            <a:off x="0" y="3081020"/>
            <a:ext cx="12192000" cy="37769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5948">
                <a:moveTo>
                  <a:pt x="0" y="0"/>
                </a:moveTo>
                <a:lnTo>
                  <a:pt x="19200" y="0"/>
                </a:lnTo>
                <a:lnTo>
                  <a:pt x="19200" y="5948"/>
                </a:lnTo>
                <a:lnTo>
                  <a:pt x="0" y="594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" name="图片 15" descr="幻灯片66"/>
          <p:cNvPicPr>
            <a:picLocks noChangeAspect="1"/>
          </p:cNvPicPr>
          <p:nvPr/>
        </p:nvPicPr>
        <p:blipFill>
          <a:blip r:embed="rId15" cstate="email"/>
          <a:stretch>
            <a:fillRect/>
          </a:stretch>
        </p:blipFill>
        <p:spPr>
          <a:xfrm>
            <a:off x="7672070" y="1713865"/>
            <a:ext cx="3599815" cy="514413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451033" y="471488"/>
            <a:ext cx="3289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2400" dirty="0">
                <a:solidFill>
                  <a:schemeClr val="tx1"/>
                </a:solidFill>
                <a:latin typeface="楷体"/>
                <a:ea typeface="思源宋体 CN Heavy" panose="02020900000000000000" pitchFamily="18" charset="-122"/>
                <a:cs typeface="+mn-ea"/>
                <a:sym typeface="+mn-lt"/>
              </a:rPr>
              <a:t>落地进展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4429760" y="629920"/>
            <a:ext cx="3332480" cy="143510"/>
            <a:chOff x="6699" y="992"/>
            <a:chExt cx="5248" cy="226"/>
          </a:xfrm>
        </p:grpSpPr>
        <p:grpSp>
          <p:nvGrpSpPr>
            <p:cNvPr id="2" name="组合 1"/>
            <p:cNvGrpSpPr/>
            <p:nvPr/>
          </p:nvGrpSpPr>
          <p:grpSpPr>
            <a:xfrm>
              <a:off x="6699" y="992"/>
              <a:ext cx="226" cy="226"/>
              <a:chOff x="7717" y="9163"/>
              <a:chExt cx="226" cy="226"/>
            </a:xfrm>
          </p:grpSpPr>
          <p:sp>
            <p:nvSpPr>
              <p:cNvPr id="3" name="椭圆 2"/>
              <p:cNvSpPr/>
              <p:nvPr/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11721" y="992"/>
              <a:ext cx="226" cy="226"/>
              <a:chOff x="7717" y="9163"/>
              <a:chExt cx="226" cy="226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>
            <a:off x="1254760" y="2018030"/>
            <a:ext cx="5548630" cy="3419475"/>
            <a:chOff x="1800" y="2698"/>
            <a:chExt cx="8738" cy="5385"/>
          </a:xfrm>
        </p:grpSpPr>
        <p:grpSp>
          <p:nvGrpSpPr>
            <p:cNvPr id="19" name="组合 18"/>
            <p:cNvGrpSpPr/>
            <p:nvPr/>
          </p:nvGrpSpPr>
          <p:grpSpPr>
            <a:xfrm>
              <a:off x="1800" y="4856"/>
              <a:ext cx="8738" cy="1069"/>
              <a:chOff x="1800" y="2966"/>
              <a:chExt cx="8738" cy="1069"/>
            </a:xfrm>
          </p:grpSpPr>
          <p:pic>
            <p:nvPicPr>
              <p:cNvPr id="20" name="图片 19" descr="templates\picture_hover\&amp;pky390_sjzg_VCG41N1298925046&amp;"/>
              <p:cNvPicPr>
                <a:picLocks noChangeAspect="1"/>
              </p:cNvPicPr>
              <p:nvPr/>
            </p:nvPicPr>
            <p:blipFill>
              <a:blip r:embed="rId16" cstate="email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  <a:biLevel thresh="50000"/>
                <a:lum bright="36000"/>
              </a:blip>
              <a:stretch>
                <a:fillRect/>
              </a:stretch>
            </p:blipFill>
            <p:spPr>
              <a:xfrm flipH="1">
                <a:off x="1800" y="3018"/>
                <a:ext cx="1017" cy="1017"/>
              </a:xfrm>
              <a:prstGeom prst="rect">
                <a:avLst/>
              </a:prstGeom>
            </p:spPr>
          </p:pic>
          <p:sp>
            <p:nvSpPr>
              <p:cNvPr id="22" name="文本框 21"/>
              <p:cNvSpPr txBox="1"/>
              <p:nvPr/>
            </p:nvSpPr>
            <p:spPr>
              <a:xfrm flipH="1">
                <a:off x="3022" y="2966"/>
                <a:ext cx="7516" cy="1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300" dirty="0">
                    <a:solidFill>
                      <a:srgbClr val="6A6A6A"/>
                    </a:solidFill>
                    <a:latin typeface="楷体"/>
                    <a:ea typeface="思源宋体 CN Heavy" panose="02020900000000000000" pitchFamily="18" charset="-122"/>
                    <a:cs typeface="+mn-ea"/>
                    <a:sym typeface="+mn-lt"/>
                  </a:rPr>
                  <a:t>数据库：4表+3枚举，27项新增冒烟测试；50项公网全绿</a:t>
                </a: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800" y="2698"/>
              <a:ext cx="8738" cy="5385"/>
              <a:chOff x="1800" y="2966"/>
              <a:chExt cx="8738" cy="5385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1800" y="2966"/>
                <a:ext cx="8738" cy="1069"/>
                <a:chOff x="1800" y="2966"/>
                <a:chExt cx="8738" cy="1069"/>
              </a:xfrm>
            </p:grpSpPr>
            <p:pic>
              <p:nvPicPr>
                <p:cNvPr id="50" name="图片 49" descr="templates\picture_hover\&amp;pky390_sjzg_VCG41N1298925046&amp;"/>
                <p:cNvPicPr>
                  <a:picLocks noChangeAspect="1"/>
                </p:cNvPicPr>
                <p:nvPr/>
              </p:nvPicPr>
              <p:blipFill>
                <a:blip r:embed="rId16" cstate="email">
                  <a:clrChange>
                    <a:clrFrom>
                      <a:srgbClr val="FFFFFF">
                        <a:alpha val="100000"/>
                      </a:srgbClr>
                    </a:clrFrom>
                    <a:clrTo>
                      <a:srgbClr val="FFFFFF">
                        <a:alpha val="100000"/>
                        <a:alpha val="0"/>
                      </a:srgbClr>
                    </a:clrTo>
                  </a:clrChange>
                  <a:biLevel thresh="50000"/>
                  <a:lum bright="36000"/>
                </a:blip>
                <a:stretch>
                  <a:fillRect/>
                </a:stretch>
              </p:blipFill>
              <p:spPr>
                <a:xfrm flipH="1">
                  <a:off x="1800" y="3018"/>
                  <a:ext cx="1017" cy="1017"/>
                </a:xfrm>
                <a:prstGeom prst="rect">
                  <a:avLst/>
                </a:prstGeom>
              </p:spPr>
            </p:pic>
            <p:sp>
              <p:nvSpPr>
                <p:cNvPr id="44" name="文本框 43"/>
                <p:cNvSpPr txBox="1"/>
                <p:nvPr/>
              </p:nvSpPr>
              <p:spPr>
                <a:xfrm flipH="1">
                  <a:off x="3022" y="2966"/>
                  <a:ext cx="7516" cy="10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z="1300" dirty="0">
                      <a:solidFill>
                        <a:srgbClr val="6A6A6A"/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后端：5模块20源码文件，道枢/疗愈/增长/行业/订阅闭环</a:t>
                  </a: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800" y="7282"/>
                <a:ext cx="8738" cy="1069"/>
                <a:chOff x="1800" y="2966"/>
                <a:chExt cx="8738" cy="1069"/>
              </a:xfrm>
            </p:grpSpPr>
            <p:pic>
              <p:nvPicPr>
                <p:cNvPr id="27" name="图片 26" descr="templates\picture_hover\&amp;pky390_sjzg_VCG41N1298925046&amp;"/>
                <p:cNvPicPr>
                  <a:picLocks noChangeAspect="1"/>
                </p:cNvPicPr>
                <p:nvPr/>
              </p:nvPicPr>
              <p:blipFill>
                <a:blip r:embed="rId16" cstate="email">
                  <a:clrChange>
                    <a:clrFrom>
                      <a:srgbClr val="FFFFFF">
                        <a:alpha val="100000"/>
                      </a:srgbClr>
                    </a:clrFrom>
                    <a:clrTo>
                      <a:srgbClr val="FFFFFF">
                        <a:alpha val="100000"/>
                        <a:alpha val="0"/>
                      </a:srgbClr>
                    </a:clrTo>
                  </a:clrChange>
                  <a:biLevel thresh="50000"/>
                  <a:lum bright="36000"/>
                </a:blip>
                <a:stretch>
                  <a:fillRect/>
                </a:stretch>
              </p:blipFill>
              <p:spPr>
                <a:xfrm flipH="1">
                  <a:off x="1800" y="3018"/>
                  <a:ext cx="1017" cy="1017"/>
                </a:xfrm>
                <a:prstGeom prst="rect">
                  <a:avLst/>
                </a:prstGeom>
              </p:spPr>
            </p:pic>
            <p:sp>
              <p:nvSpPr>
                <p:cNvPr id="28" name="文本框 27"/>
                <p:cNvSpPr txBox="1"/>
                <p:nvPr/>
              </p:nvSpPr>
              <p:spPr>
                <a:xfrm flipH="1">
                  <a:off x="3022" y="2966"/>
                  <a:ext cx="7516" cy="10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z="1300" dirty="0">
                      <a:solidFill>
                        <a:srgbClr val="6A6A6A"/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前端：5新页面全部上线，公网验证通过；部署115.191.9.57:3349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 flipH="1">
            <a:off x="-47625" y="-13970"/>
            <a:ext cx="12239625" cy="6903720"/>
            <a:chOff x="-75" y="-22"/>
            <a:chExt cx="19275" cy="10872"/>
          </a:xfrm>
        </p:grpSpPr>
        <p:pic>
          <p:nvPicPr>
            <p:cNvPr id="35" name="图片 34" descr="templates\picture_hover\&amp;pky290_sjzg_VCG211356148776&amp;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 cstate="email">
              <a:alphaModFix amt="24000"/>
              <a:lum bright="12000"/>
            </a:blip>
            <a:srcRect/>
            <a:stretch>
              <a:fillRect/>
            </a:stretch>
          </p:blipFill>
          <p:spPr>
            <a:xfrm>
              <a:off x="0" y="893"/>
              <a:ext cx="19200" cy="990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000" h="8772">
                  <a:moveTo>
                    <a:pt x="0" y="0"/>
                  </a:moveTo>
                  <a:lnTo>
                    <a:pt x="17000" y="0"/>
                  </a:lnTo>
                  <a:lnTo>
                    <a:pt x="17000" y="8772"/>
                  </a:lnTo>
                  <a:lnTo>
                    <a:pt x="0" y="8772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36" name="图片 35" descr="幻灯片127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2" cstate="email">
              <a:alphaModFix amt="80000"/>
            </a:blip>
            <a:stretch>
              <a:fillRect/>
            </a:stretch>
          </p:blipFill>
          <p:spPr>
            <a:xfrm>
              <a:off x="-75" y="-22"/>
              <a:ext cx="2527" cy="2508"/>
            </a:xfrm>
            <a:prstGeom prst="rect">
              <a:avLst/>
            </a:prstGeom>
          </p:spPr>
        </p:pic>
        <p:pic>
          <p:nvPicPr>
            <p:cNvPr id="37" name="图片 36" descr="幻灯片127-1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3" cstate="email">
              <a:alphaModFix amt="80000"/>
            </a:blip>
            <a:stretch>
              <a:fillRect/>
            </a:stretch>
          </p:blipFill>
          <p:spPr>
            <a:xfrm flipH="1">
              <a:off x="16468" y="5400"/>
              <a:ext cx="2732" cy="5450"/>
            </a:xfrm>
            <a:prstGeom prst="rect">
              <a:avLst/>
            </a:prstGeom>
          </p:spPr>
        </p:pic>
        <p:pic>
          <p:nvPicPr>
            <p:cNvPr id="38" name="图片 37" descr="templates\picture_hover\&amp;pky8189327183&amp;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4" cstate="email">
              <a:alphaModFix amt="40000"/>
            </a:blip>
            <a:stretch>
              <a:fillRect/>
            </a:stretch>
          </p:blipFill>
          <p:spPr>
            <a:xfrm>
              <a:off x="1751" y="6859"/>
              <a:ext cx="4902" cy="2979"/>
            </a:xfrm>
            <a:prstGeom prst="rect">
              <a:avLst/>
            </a:prstGeom>
          </p:spPr>
        </p:pic>
        <p:pic>
          <p:nvPicPr>
            <p:cNvPr id="39" name="图片 38" descr="templates\picture_hover\&amp;pky8389331009&amp;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5" cstate="email">
              <a:alphaModFix amt="60000"/>
            </a:blip>
            <a:srcRect/>
            <a:stretch>
              <a:fillRect/>
            </a:stretch>
          </p:blipFill>
          <p:spPr>
            <a:xfrm rot="21060000">
              <a:off x="13575" y="1132"/>
              <a:ext cx="2150" cy="1989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850" h="2636">
                  <a:moveTo>
                    <a:pt x="0" y="0"/>
                  </a:moveTo>
                  <a:lnTo>
                    <a:pt x="2850" y="0"/>
                  </a:lnTo>
                  <a:lnTo>
                    <a:pt x="2850" y="2636"/>
                  </a:lnTo>
                  <a:lnTo>
                    <a:pt x="0" y="2636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grpSp>
        <p:nvGrpSpPr>
          <p:cNvPr id="2" name="组合 1"/>
          <p:cNvGrpSpPr/>
          <p:nvPr/>
        </p:nvGrpSpPr>
        <p:grpSpPr>
          <a:xfrm>
            <a:off x="873760" y="1528763"/>
            <a:ext cx="10444480" cy="3820795"/>
            <a:chOff x="1376" y="2559"/>
            <a:chExt cx="16448" cy="6017"/>
          </a:xfrm>
        </p:grpSpPr>
        <p:grpSp>
          <p:nvGrpSpPr>
            <p:cNvPr id="11" name="组合 10"/>
            <p:cNvGrpSpPr/>
            <p:nvPr/>
          </p:nvGrpSpPr>
          <p:grpSpPr>
            <a:xfrm>
              <a:off x="1376" y="4094"/>
              <a:ext cx="16448" cy="4482"/>
              <a:chOff x="1376" y="2538"/>
              <a:chExt cx="16448" cy="4483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1376" y="4878"/>
                <a:ext cx="16448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sz="3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楷体"/>
                    <a:ea typeface="思源宋体 CN Heavy" panose="02020900000000000000" pitchFamily="18" charset="-122"/>
                    <a:cs typeface="+mn-ea"/>
                    <a:sym typeface="+mn-lt"/>
                  </a:rPr>
                  <a:t>乘势 · 增长飞轮</a:t>
                </a:r>
              </a:p>
            </p:txBody>
          </p:sp>
          <p:sp>
            <p:nvSpPr>
              <p:cNvPr id="172" name="文本框 171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045" y="5815"/>
                <a:ext cx="7110" cy="120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300" dirty="0">
                    <a:solidFill>
                      <a:srgbClr val="6A6A6A"/>
                    </a:solidFill>
                    <a:latin typeface="楷体"/>
                    <a:ea typeface="思源宋体 CN Heavy" panose="02020900000000000000" pitchFamily="18" charset="-122"/>
                    <a:cs typeface="+mn-ea"/>
                    <a:sym typeface="+mn-lt"/>
                  </a:rPr>
                  <a:t>不烧钱买量，用内容×关系×AI代际传播做低成本裂变</a:t>
                </a: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1376" y="2538"/>
                <a:ext cx="16448" cy="1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sz="6000" b="1" dirty="0">
                    <a:latin typeface="楷体"/>
                    <a:ea typeface="思源宋体 CN Heavy" panose="02020900000000000000" pitchFamily="18" charset="-122"/>
                    <a:cs typeface="+mn-ea"/>
                    <a:sym typeface="+mn-lt"/>
                  </a:rPr>
                  <a:t>肆</a:t>
                </a:r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9487" y="5906"/>
              <a:ext cx="226" cy="226"/>
              <a:chOff x="7717" y="9163"/>
              <a:chExt cx="226" cy="226"/>
            </a:xfrm>
          </p:grpSpPr>
          <p:sp>
            <p:nvSpPr>
              <p:cNvPr id="6" name="椭圆 5"/>
              <p:cNvSpPr/>
              <p:nvPr>
                <p:custDataLst>
                  <p:tags r:id="rId2"/>
                </p:custDataLst>
              </p:nvPr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30" name="椭圆 29"/>
              <p:cNvSpPr/>
              <p:nvPr>
                <p:custDataLst>
                  <p:tags r:id="rId3"/>
                </p:custDataLst>
              </p:nvPr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  <p:pic>
          <p:nvPicPr>
            <p:cNvPr id="22" name="图片 21" descr="templates\picture_hover\&amp;pky240_sjzg_VCG211275366148&amp;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6" cstate="email"/>
            <a:srcRect/>
            <a:stretch>
              <a:fillRect/>
            </a:stretch>
          </p:blipFill>
          <p:spPr>
            <a:xfrm>
              <a:off x="9251" y="2559"/>
              <a:ext cx="699" cy="76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99" h="767">
                  <a:moveTo>
                    <a:pt x="0" y="0"/>
                  </a:moveTo>
                  <a:lnTo>
                    <a:pt x="699" y="0"/>
                  </a:lnTo>
                  <a:lnTo>
                    <a:pt x="699" y="767"/>
                  </a:lnTo>
                  <a:lnTo>
                    <a:pt x="0" y="767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UTO::custom::page-21-revenue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::page-21-revenue::rev-title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C00000"/>
                </a:solidFill>
                <a:latin typeface="楷体"/>
              </a:rPr>
              <a:t>三级火箭商业模式</a:t>
            </a:r>
          </a:p>
        </p:txBody>
      </p:sp>
      <p:cxnSp>
        <p:nvCxnSpPr>
          <p:cNvPr id="3" name="AUTO::page-21-revenue::rev-line"/>
          <p:cNvCxnSpPr/>
          <p:nvPr/>
        </p:nvCxnSpPr>
        <p:spPr>
          <a:xfrm>
            <a:off x="5029200" y="868680"/>
            <a:ext cx="210312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AUTO::page-21-revenue::rev-l1"/>
          <p:cNvSpPr/>
          <p:nvPr/>
        </p:nvSpPr>
        <p:spPr>
          <a:xfrm>
            <a:off x="640080" y="1188720"/>
            <a:ext cx="3566160" cy="3200400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楷体"/>
              </a:rPr>
              <a:t>第一级 · 体验\n（免费获客）\n\n每日一课\n道系人格测试\n焦虑急救基础版\n道枢API免费层\n\n目的：30秒内\n让用户感到\n道德经有用</a:t>
            </a:r>
          </a:p>
        </p:txBody>
      </p:sp>
      <p:sp>
        <p:nvSpPr>
          <p:cNvPr id="5" name="AUTO::page-21-revenue::rev-l2"/>
          <p:cNvSpPr/>
          <p:nvPr/>
        </p:nvSpPr>
        <p:spPr>
          <a:xfrm>
            <a:off x="4480560" y="1188720"/>
            <a:ext cx="3566160" cy="320040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楷体"/>
              </a:rPr>
              <a:t>第二级 · C端订阅\n（现金流主体）\n\nPro订阅 39元/月\n认养权益（记忆/进化/形象）\n知识市场引用分成\n数字人IP经济\n\nPro转化目标：3-5%</a:t>
            </a:r>
          </a:p>
        </p:txBody>
      </p:sp>
      <p:sp>
        <p:nvSpPr>
          <p:cNvPr id="6" name="AUTO::page-21-revenue::rev-l3"/>
          <p:cNvSpPr/>
          <p:nvPr/>
        </p:nvSpPr>
        <p:spPr>
          <a:xfrm>
            <a:off x="8321040" y="1188720"/>
            <a:ext cx="3566160" cy="3200400"/>
          </a:xfrm>
          <a:prstGeom prst="roundRect">
            <a:avLst/>
          </a:prstGeom>
          <a:solidFill>
            <a:srgbClr val="F5FFF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楷体"/>
              </a:rPr>
              <a:t>第三级 · B端生态\n（规模化利润）\n\n道枢API/SDK订阅\n行业Agent解决方案\n企业领导力内训\n智能体对齐学院\n政府文化合作\n\n10家B端年收入\n超50万C端用户</a:t>
            </a:r>
          </a:p>
        </p:txBody>
      </p:sp>
      <p:cxnSp>
        <p:nvCxnSpPr>
          <p:cNvPr id="7" name="AUTO::page-21-revenue::rev-arrow1"/>
          <p:cNvCxnSpPr/>
          <p:nvPr/>
        </p:nvCxnSpPr>
        <p:spPr>
          <a:xfrm>
            <a:off x="4206240" y="2743200"/>
            <a:ext cx="274320" cy="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AUTO::page-21-revenue::rev-arrow2"/>
          <p:cNvCxnSpPr/>
          <p:nvPr/>
        </p:nvCxnSpPr>
        <p:spPr>
          <a:xfrm>
            <a:off x="8046720" y="2743200"/>
            <a:ext cx="274320" cy="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UTO::page-21-revenue::rev-unit"/>
          <p:cNvSpPr txBox="1"/>
          <p:nvPr/>
        </p:nvSpPr>
        <p:spPr>
          <a:xfrm>
            <a:off x="640080" y="4663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33333"/>
                </a:solidFill>
                <a:latin typeface="楷体"/>
              </a:rPr>
              <a:t>单位经济：CAC &lt; 10元（裂变驱动） | Pro LTV &gt; 120元（6个月续费） | LTV/CAC &gt; 3</a:t>
            </a:r>
          </a:p>
        </p:txBody>
      </p:sp>
      <p:sp>
        <p:nvSpPr>
          <p:cNvPr id="10" name="AUTO::page-21-revenue::rev-source"/>
          <p:cNvSpPr txBox="1"/>
          <p:nvPr/>
        </p:nvSpPr>
        <p:spPr>
          <a:xfrm>
            <a:off x="640080" y="5212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5A5A5"/>
                </a:solidFill>
                <a:latin typeface="楷体"/>
              </a:rPr>
              <a:t>数据来源：知识付费行业报告（2026）、微信生态行业数据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UTO::custom::page-22-growth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::page-22-growth::grw-title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C00000"/>
                </a:solidFill>
                <a:latin typeface="楷体"/>
              </a:rPr>
              <a:t>五大裂变杠杆</a:t>
            </a:r>
          </a:p>
        </p:txBody>
      </p:sp>
      <p:cxnSp>
        <p:nvCxnSpPr>
          <p:cNvPr id="3" name="AUTO::page-22-growth::grw-line"/>
          <p:cNvCxnSpPr/>
          <p:nvPr/>
        </p:nvCxnSpPr>
        <p:spPr>
          <a:xfrm>
            <a:off x="5029200" y="868680"/>
            <a:ext cx="210312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AUTO::page-22-growth::grw-c1"/>
          <p:cNvSpPr/>
          <p:nvPr/>
        </p:nvSpPr>
        <p:spPr>
          <a:xfrm>
            <a:off x="640080" y="1188720"/>
            <a:ext cx="3566160" cy="2194560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楷体"/>
              </a:rPr>
              <a:t>道系人格测试\n\n8维→16型人格海报\n上善若水型/反者道之动型...\n分享解锁完整解读\n双人拼测有彩蛋</a:t>
            </a:r>
          </a:p>
        </p:txBody>
      </p:sp>
      <p:sp>
        <p:nvSpPr>
          <p:cNvPr id="5" name="AUTO::page-22-growth::grw-c2"/>
          <p:cNvSpPr/>
          <p:nvPr/>
        </p:nvSpPr>
        <p:spPr>
          <a:xfrm>
            <a:off x="4480560" y="1188720"/>
            <a:ext cx="3566160" cy="219456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楷体"/>
              </a:rPr>
              <a:t>数字人出海\n\n认养即得诞生证书\n进化里程碑分享卡\n我的数字人第21天\n学会了不内耗</a:t>
            </a:r>
          </a:p>
        </p:txBody>
      </p:sp>
      <p:sp>
        <p:nvSpPr>
          <p:cNvPr id="6" name="AUTO::page-22-growth::grw-c3"/>
          <p:cNvSpPr/>
          <p:nvPr/>
        </p:nvSpPr>
        <p:spPr>
          <a:xfrm>
            <a:off x="8321040" y="1188720"/>
            <a:ext cx="3566160" cy="2194560"/>
          </a:xfrm>
          <a:prstGeom prst="roundRect">
            <a:avLst/>
          </a:prstGeom>
          <a:solidFill>
            <a:srgbClr val="F5FFF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楷体"/>
              </a:rPr>
              <a:t>共学邀请\n\n共读81章组队\n3人成团解锁进阶\n邀请认养各得\n进化加速7天</a:t>
            </a:r>
          </a:p>
        </p:txBody>
      </p:sp>
      <p:sp>
        <p:nvSpPr>
          <p:cNvPr id="7" name="AUTO::page-22-growth::grw-c4"/>
          <p:cNvSpPr/>
          <p:nvPr/>
        </p:nvSpPr>
        <p:spPr>
          <a:xfrm>
            <a:off x="640080" y="3657600"/>
            <a:ext cx="3566160" cy="2194560"/>
          </a:xfrm>
          <a:prstGeom prst="roundRect">
            <a:avLst/>
          </a:prstGeom>
          <a:solidFill>
            <a:srgbClr val="FFF0F5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楷体"/>
              </a:rPr>
              <a:t>每日箴言卡\n\n章句+现代诠释\n+场景应用\n天然微信分享货币\n支持定制水印</a:t>
            </a:r>
          </a:p>
        </p:txBody>
      </p:sp>
      <p:sp>
        <p:nvSpPr>
          <p:cNvPr id="8" name="AUTO::page-22-growth::grw-c5"/>
          <p:cNvSpPr/>
          <p:nvPr/>
        </p:nvSpPr>
        <p:spPr>
          <a:xfrm>
            <a:off x="4480560" y="3657600"/>
            <a:ext cx="3566160" cy="2194560"/>
          </a:xfrm>
          <a:prstGeom prst="roundRect">
            <a:avLst/>
          </a:prstGeom>
          <a:solidFill>
            <a:srgbClr val="F5F0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楷体"/>
              </a:rPr>
              <a:t>开发者传播\n\n道枢API免费层\n每日500次调用\n开发者带入自己的产品\n品牌露出+案例集</a:t>
            </a:r>
          </a:p>
        </p:txBody>
      </p:sp>
      <p:sp>
        <p:nvSpPr>
          <p:cNvPr id="9" name="AUTO::page-22-growth::grw-core"/>
          <p:cNvSpPr/>
          <p:nvPr/>
        </p:nvSpPr>
        <p:spPr>
          <a:xfrm>
            <a:off x="8321040" y="3657600"/>
            <a:ext cx="3566160" cy="219456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楷体"/>
              </a:rPr>
              <a:t>增长飞轮\n\n免费钩子→新用户\n→价值体验→认养绑定\n→自然分享→裂变回流\n→付费转化→B端转化</a:t>
            </a:r>
          </a:p>
        </p:txBody>
      </p:sp>
      <p:sp>
        <p:nvSpPr>
          <p:cNvPr id="10" name="AUTO::page-22-growth::grw-note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A6A6A"/>
                </a:solidFill>
                <a:latin typeface="楷体"/>
              </a:rPr>
              <a:t>核心原则：不烧钱买量，产品端遵循3步内体验核心价值（每多一步流失约30%）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/>
          <p:cNvGrpSpPr/>
          <p:nvPr/>
        </p:nvGrpSpPr>
        <p:grpSpPr>
          <a:xfrm>
            <a:off x="0" y="717550"/>
            <a:ext cx="12192000" cy="6140450"/>
            <a:chOff x="0" y="1130"/>
            <a:chExt cx="19200" cy="9670"/>
          </a:xfrm>
        </p:grpSpPr>
        <p:pic>
          <p:nvPicPr>
            <p:cNvPr id="35" name="图片 34" descr="templates\picture_hover\&amp;pky290_sjzg_VCG211356148776&amp;"/>
            <p:cNvPicPr>
              <a:picLocks noChangeAspect="1"/>
            </p:cNvPicPr>
            <p:nvPr/>
          </p:nvPicPr>
          <p:blipFill>
            <a:blip r:embed="rId21" cstate="email">
              <a:alphaModFix amt="80000"/>
              <a:lum bright="12000"/>
            </a:blip>
            <a:srcRect/>
            <a:stretch>
              <a:fillRect/>
            </a:stretch>
          </p:blipFill>
          <p:spPr>
            <a:xfrm>
              <a:off x="0" y="4852"/>
              <a:ext cx="19200" cy="594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200" h="5948">
                  <a:moveTo>
                    <a:pt x="0" y="0"/>
                  </a:moveTo>
                  <a:lnTo>
                    <a:pt x="19200" y="0"/>
                  </a:lnTo>
                  <a:lnTo>
                    <a:pt x="19200" y="5948"/>
                  </a:lnTo>
                  <a:lnTo>
                    <a:pt x="0" y="5948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20" name="图片 19" descr="templates\picture_hover\&amp;pky8389331009&amp;"/>
            <p:cNvPicPr>
              <a:picLocks noChangeAspect="1"/>
            </p:cNvPicPr>
            <p:nvPr/>
          </p:nvPicPr>
          <p:blipFill>
            <a:blip r:embed="rId22" cstate="email">
              <a:alphaModFix amt="40000"/>
            </a:blip>
            <a:srcRect/>
            <a:stretch>
              <a:fillRect/>
            </a:stretch>
          </p:blipFill>
          <p:spPr>
            <a:xfrm rot="21060000">
              <a:off x="15642" y="1130"/>
              <a:ext cx="2150" cy="1989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850" h="2636">
                  <a:moveTo>
                    <a:pt x="0" y="0"/>
                  </a:moveTo>
                  <a:lnTo>
                    <a:pt x="2850" y="0"/>
                  </a:lnTo>
                  <a:lnTo>
                    <a:pt x="2850" y="2636"/>
                  </a:lnTo>
                  <a:lnTo>
                    <a:pt x="0" y="2636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sp>
        <p:nvSpPr>
          <p:cNvPr id="11" name="文本框 10"/>
          <p:cNvSpPr txBox="1"/>
          <p:nvPr/>
        </p:nvSpPr>
        <p:spPr>
          <a:xfrm>
            <a:off x="4451033" y="471488"/>
            <a:ext cx="3289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2400" dirty="0">
                <a:solidFill>
                  <a:schemeClr val="tx1"/>
                </a:solidFill>
                <a:latin typeface="楷体"/>
                <a:ea typeface="思源宋体 CN Heavy" panose="02020900000000000000" pitchFamily="18" charset="-122"/>
                <a:cs typeface="+mn-ea"/>
                <a:sym typeface="+mn-lt"/>
              </a:rPr>
              <a:t>四重留存防线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4429760" y="629920"/>
            <a:ext cx="3332480" cy="143510"/>
            <a:chOff x="6699" y="992"/>
            <a:chExt cx="5248" cy="226"/>
          </a:xfrm>
        </p:grpSpPr>
        <p:grpSp>
          <p:nvGrpSpPr>
            <p:cNvPr id="2" name="组合 1"/>
            <p:cNvGrpSpPr/>
            <p:nvPr/>
          </p:nvGrpSpPr>
          <p:grpSpPr>
            <a:xfrm>
              <a:off x="6699" y="992"/>
              <a:ext cx="226" cy="226"/>
              <a:chOff x="7717" y="9163"/>
              <a:chExt cx="226" cy="226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11721" y="992"/>
              <a:ext cx="226" cy="226"/>
              <a:chOff x="7717" y="9163"/>
              <a:chExt cx="226" cy="226"/>
            </a:xfrm>
          </p:grpSpPr>
          <p:sp>
            <p:nvSpPr>
              <p:cNvPr id="4" name="椭圆 3"/>
              <p:cNvSpPr/>
              <p:nvPr/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9" name="组合 58"/>
          <p:cNvGrpSpPr/>
          <p:nvPr/>
        </p:nvGrpSpPr>
        <p:grpSpPr>
          <a:xfrm>
            <a:off x="1314450" y="2037080"/>
            <a:ext cx="9563100" cy="3492500"/>
            <a:chOff x="2382" y="3208"/>
            <a:chExt cx="15060" cy="5500"/>
          </a:xfrm>
        </p:grpSpPr>
        <p:grpSp>
          <p:nvGrpSpPr>
            <p:cNvPr id="31" name="组合 30"/>
            <p:cNvGrpSpPr/>
            <p:nvPr/>
          </p:nvGrpSpPr>
          <p:grpSpPr>
            <a:xfrm>
              <a:off x="2382" y="3208"/>
              <a:ext cx="3266" cy="5500"/>
              <a:chOff x="2382" y="3208"/>
              <a:chExt cx="3266" cy="5500"/>
            </a:xfrm>
          </p:grpSpPr>
          <p:grpSp>
            <p:nvGrpSpPr>
              <p:cNvPr id="30" name="组合 29"/>
              <p:cNvGrpSpPr/>
              <p:nvPr/>
            </p:nvGrpSpPr>
            <p:grpSpPr>
              <a:xfrm>
                <a:off x="2382" y="3208"/>
                <a:ext cx="3266" cy="5500"/>
                <a:chOff x="2382" y="3208"/>
                <a:chExt cx="3266" cy="5500"/>
              </a:xfrm>
            </p:grpSpPr>
            <p:sp>
              <p:nvSpPr>
                <p:cNvPr id="5" name="任意多边形 4"/>
                <p:cNvSpPr/>
                <p:nvPr/>
              </p:nvSpPr>
              <p:spPr>
                <a:xfrm>
                  <a:off x="2382" y="3208"/>
                  <a:ext cx="3267" cy="5500"/>
                </a:xfrm>
                <a:custGeom>
                  <a:avLst/>
                  <a:gdLst/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267" h="5500">
                      <a:moveTo>
                        <a:pt x="306" y="0"/>
                      </a:moveTo>
                      <a:lnTo>
                        <a:pt x="2962" y="0"/>
                      </a:lnTo>
                      <a:lnTo>
                        <a:pt x="2961" y="1"/>
                      </a:lnTo>
                      <a:cubicBezTo>
                        <a:pt x="2961" y="7"/>
                        <a:pt x="2961" y="12"/>
                        <a:pt x="2961" y="18"/>
                      </a:cubicBezTo>
                      <a:cubicBezTo>
                        <a:pt x="2961" y="187"/>
                        <a:pt x="3094" y="325"/>
                        <a:pt x="3261" y="334"/>
                      </a:cubicBezTo>
                      <a:lnTo>
                        <a:pt x="3267" y="334"/>
                      </a:lnTo>
                      <a:lnTo>
                        <a:pt x="3267" y="5168"/>
                      </a:lnTo>
                      <a:lnTo>
                        <a:pt x="3261" y="5168"/>
                      </a:lnTo>
                      <a:cubicBezTo>
                        <a:pt x="3094" y="5177"/>
                        <a:pt x="2961" y="5315"/>
                        <a:pt x="2961" y="5485"/>
                      </a:cubicBezTo>
                      <a:lnTo>
                        <a:pt x="2961" y="5500"/>
                      </a:lnTo>
                      <a:lnTo>
                        <a:pt x="307" y="5500"/>
                      </a:lnTo>
                      <a:lnTo>
                        <a:pt x="307" y="5485"/>
                      </a:lnTo>
                      <a:cubicBezTo>
                        <a:pt x="307" y="5315"/>
                        <a:pt x="174" y="5177"/>
                        <a:pt x="7" y="5168"/>
                      </a:cubicBezTo>
                      <a:lnTo>
                        <a:pt x="0" y="5168"/>
                      </a:lnTo>
                      <a:lnTo>
                        <a:pt x="0" y="334"/>
                      </a:lnTo>
                      <a:lnTo>
                        <a:pt x="7" y="334"/>
                      </a:lnTo>
                      <a:cubicBezTo>
                        <a:pt x="174" y="325"/>
                        <a:pt x="307" y="187"/>
                        <a:pt x="307" y="18"/>
                      </a:cubicBezTo>
                      <a:cubicBezTo>
                        <a:pt x="307" y="12"/>
                        <a:pt x="307" y="7"/>
                        <a:pt x="307" y="1"/>
                      </a:cubicBezTo>
                      <a:lnTo>
                        <a:pt x="306" y="0"/>
                      </a:lnTo>
                      <a:close/>
                    </a:path>
                  </a:pathLst>
                </a:custGeom>
                <a:noFill/>
                <a:ln>
                  <a:solidFill>
                    <a:srgbClr val="6A6A6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2479" y="3322"/>
                  <a:ext cx="3074" cy="5272"/>
                </a:xfrm>
                <a:custGeom>
                  <a:avLst/>
                  <a:gdLst/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267" h="5500">
                      <a:moveTo>
                        <a:pt x="306" y="0"/>
                      </a:moveTo>
                      <a:lnTo>
                        <a:pt x="2962" y="0"/>
                      </a:lnTo>
                      <a:lnTo>
                        <a:pt x="2961" y="1"/>
                      </a:lnTo>
                      <a:cubicBezTo>
                        <a:pt x="2961" y="7"/>
                        <a:pt x="2961" y="12"/>
                        <a:pt x="2961" y="18"/>
                      </a:cubicBezTo>
                      <a:cubicBezTo>
                        <a:pt x="2961" y="187"/>
                        <a:pt x="3094" y="325"/>
                        <a:pt x="3261" y="334"/>
                      </a:cubicBezTo>
                      <a:lnTo>
                        <a:pt x="3267" y="334"/>
                      </a:lnTo>
                      <a:lnTo>
                        <a:pt x="3267" y="5168"/>
                      </a:lnTo>
                      <a:lnTo>
                        <a:pt x="3261" y="5168"/>
                      </a:lnTo>
                      <a:cubicBezTo>
                        <a:pt x="3094" y="5177"/>
                        <a:pt x="2961" y="5315"/>
                        <a:pt x="2961" y="5485"/>
                      </a:cubicBezTo>
                      <a:lnTo>
                        <a:pt x="2961" y="5500"/>
                      </a:lnTo>
                      <a:lnTo>
                        <a:pt x="307" y="5500"/>
                      </a:lnTo>
                      <a:lnTo>
                        <a:pt x="307" y="5485"/>
                      </a:lnTo>
                      <a:cubicBezTo>
                        <a:pt x="307" y="5315"/>
                        <a:pt x="174" y="5177"/>
                        <a:pt x="7" y="5168"/>
                      </a:cubicBezTo>
                      <a:lnTo>
                        <a:pt x="0" y="5168"/>
                      </a:lnTo>
                      <a:lnTo>
                        <a:pt x="0" y="334"/>
                      </a:lnTo>
                      <a:lnTo>
                        <a:pt x="7" y="334"/>
                      </a:lnTo>
                      <a:cubicBezTo>
                        <a:pt x="174" y="325"/>
                        <a:pt x="307" y="187"/>
                        <a:pt x="307" y="18"/>
                      </a:cubicBezTo>
                      <a:cubicBezTo>
                        <a:pt x="307" y="12"/>
                        <a:pt x="307" y="7"/>
                        <a:pt x="307" y="1"/>
                      </a:cubicBezTo>
                      <a:lnTo>
                        <a:pt x="30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5400">
                  <a:solidFill>
                    <a:srgbClr val="6A6A6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6" name="组合 5"/>
              <p:cNvGrpSpPr/>
              <p:nvPr/>
            </p:nvGrpSpPr>
            <p:grpSpPr>
              <a:xfrm>
                <a:off x="2565" y="3698"/>
                <a:ext cx="2900" cy="4521"/>
                <a:chOff x="6722" y="4255"/>
                <a:chExt cx="2900" cy="4521"/>
              </a:xfrm>
            </p:grpSpPr>
            <p:sp>
              <p:nvSpPr>
                <p:cNvPr id="43" name="文本框 42"/>
                <p:cNvSpPr txBox="1"/>
                <p:nvPr/>
              </p:nvSpPr>
              <p:spPr>
                <a:xfrm flipH="1">
                  <a:off x="6722" y="4255"/>
                  <a:ext cx="2900" cy="6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2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习惯回路</a:t>
                  </a:r>
                </a:p>
              </p:txBody>
            </p:sp>
            <p:sp>
              <p:nvSpPr>
                <p:cNvPr id="44" name="文本框 43"/>
                <p:cNvSpPr txBox="1"/>
                <p:nvPr/>
              </p:nvSpPr>
              <p:spPr>
                <a:xfrm flipH="1">
                  <a:off x="6788" y="4852"/>
                  <a:ext cx="2768" cy="39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zh-CN" altLang="en-US" sz="1300" dirty="0">
                      <a:solidFill>
                        <a:srgbClr val="6A6A6A"/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每日一课+连续打卡7天加成；行业实证：签到使次日留存提升约47%</a:t>
                  </a:r>
                </a:p>
              </p:txBody>
            </p:sp>
          </p:grpSp>
        </p:grpSp>
        <p:grpSp>
          <p:nvGrpSpPr>
            <p:cNvPr id="32" name="组合 31"/>
            <p:cNvGrpSpPr/>
            <p:nvPr/>
          </p:nvGrpSpPr>
          <p:grpSpPr>
            <a:xfrm>
              <a:off x="6271" y="3208"/>
              <a:ext cx="3266" cy="5500"/>
              <a:chOff x="2382" y="3208"/>
              <a:chExt cx="3266" cy="5500"/>
            </a:xfrm>
          </p:grpSpPr>
          <p:grpSp>
            <p:nvGrpSpPr>
              <p:cNvPr id="33" name="组合 32"/>
              <p:cNvGrpSpPr/>
              <p:nvPr/>
            </p:nvGrpSpPr>
            <p:grpSpPr>
              <a:xfrm>
                <a:off x="2382" y="3208"/>
                <a:ext cx="3266" cy="5500"/>
                <a:chOff x="2382" y="3208"/>
                <a:chExt cx="3266" cy="5500"/>
              </a:xfrm>
            </p:grpSpPr>
            <p:sp>
              <p:nvSpPr>
                <p:cNvPr id="34" name="任意多边形 33"/>
                <p:cNvSpPr/>
                <p:nvPr/>
              </p:nvSpPr>
              <p:spPr>
                <a:xfrm>
                  <a:off x="2382" y="3208"/>
                  <a:ext cx="3267" cy="5500"/>
                </a:xfrm>
                <a:custGeom>
                  <a:avLst/>
                  <a:gdLst/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267" h="5500">
                      <a:moveTo>
                        <a:pt x="306" y="0"/>
                      </a:moveTo>
                      <a:lnTo>
                        <a:pt x="2962" y="0"/>
                      </a:lnTo>
                      <a:lnTo>
                        <a:pt x="2961" y="1"/>
                      </a:lnTo>
                      <a:cubicBezTo>
                        <a:pt x="2961" y="7"/>
                        <a:pt x="2961" y="12"/>
                        <a:pt x="2961" y="18"/>
                      </a:cubicBezTo>
                      <a:cubicBezTo>
                        <a:pt x="2961" y="187"/>
                        <a:pt x="3094" y="325"/>
                        <a:pt x="3261" y="334"/>
                      </a:cubicBezTo>
                      <a:lnTo>
                        <a:pt x="3267" y="334"/>
                      </a:lnTo>
                      <a:lnTo>
                        <a:pt x="3267" y="5168"/>
                      </a:lnTo>
                      <a:lnTo>
                        <a:pt x="3261" y="5168"/>
                      </a:lnTo>
                      <a:cubicBezTo>
                        <a:pt x="3094" y="5177"/>
                        <a:pt x="2961" y="5315"/>
                        <a:pt x="2961" y="5485"/>
                      </a:cubicBezTo>
                      <a:lnTo>
                        <a:pt x="2961" y="5500"/>
                      </a:lnTo>
                      <a:lnTo>
                        <a:pt x="307" y="5500"/>
                      </a:lnTo>
                      <a:lnTo>
                        <a:pt x="307" y="5485"/>
                      </a:lnTo>
                      <a:cubicBezTo>
                        <a:pt x="307" y="5315"/>
                        <a:pt x="174" y="5177"/>
                        <a:pt x="7" y="5168"/>
                      </a:cubicBezTo>
                      <a:lnTo>
                        <a:pt x="0" y="5168"/>
                      </a:lnTo>
                      <a:lnTo>
                        <a:pt x="0" y="334"/>
                      </a:lnTo>
                      <a:lnTo>
                        <a:pt x="7" y="334"/>
                      </a:lnTo>
                      <a:cubicBezTo>
                        <a:pt x="174" y="325"/>
                        <a:pt x="307" y="187"/>
                        <a:pt x="307" y="18"/>
                      </a:cubicBezTo>
                      <a:cubicBezTo>
                        <a:pt x="307" y="12"/>
                        <a:pt x="307" y="7"/>
                        <a:pt x="307" y="1"/>
                      </a:cubicBezTo>
                      <a:lnTo>
                        <a:pt x="306" y="0"/>
                      </a:lnTo>
                      <a:close/>
                    </a:path>
                  </a:pathLst>
                </a:custGeom>
                <a:noFill/>
                <a:ln>
                  <a:solidFill>
                    <a:srgbClr val="6A6A6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任意多边形 35"/>
                <p:cNvSpPr/>
                <p:nvPr/>
              </p:nvSpPr>
              <p:spPr>
                <a:xfrm>
                  <a:off x="2479" y="3322"/>
                  <a:ext cx="3074" cy="5272"/>
                </a:xfrm>
                <a:custGeom>
                  <a:avLst/>
                  <a:gdLst/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267" h="5500">
                      <a:moveTo>
                        <a:pt x="306" y="0"/>
                      </a:moveTo>
                      <a:lnTo>
                        <a:pt x="2962" y="0"/>
                      </a:lnTo>
                      <a:lnTo>
                        <a:pt x="2961" y="1"/>
                      </a:lnTo>
                      <a:cubicBezTo>
                        <a:pt x="2961" y="7"/>
                        <a:pt x="2961" y="12"/>
                        <a:pt x="2961" y="18"/>
                      </a:cubicBezTo>
                      <a:cubicBezTo>
                        <a:pt x="2961" y="187"/>
                        <a:pt x="3094" y="325"/>
                        <a:pt x="3261" y="334"/>
                      </a:cubicBezTo>
                      <a:lnTo>
                        <a:pt x="3267" y="334"/>
                      </a:lnTo>
                      <a:lnTo>
                        <a:pt x="3267" y="5168"/>
                      </a:lnTo>
                      <a:lnTo>
                        <a:pt x="3261" y="5168"/>
                      </a:lnTo>
                      <a:cubicBezTo>
                        <a:pt x="3094" y="5177"/>
                        <a:pt x="2961" y="5315"/>
                        <a:pt x="2961" y="5485"/>
                      </a:cubicBezTo>
                      <a:lnTo>
                        <a:pt x="2961" y="5500"/>
                      </a:lnTo>
                      <a:lnTo>
                        <a:pt x="307" y="5500"/>
                      </a:lnTo>
                      <a:lnTo>
                        <a:pt x="307" y="5485"/>
                      </a:lnTo>
                      <a:cubicBezTo>
                        <a:pt x="307" y="5315"/>
                        <a:pt x="174" y="5177"/>
                        <a:pt x="7" y="5168"/>
                      </a:cubicBezTo>
                      <a:lnTo>
                        <a:pt x="0" y="5168"/>
                      </a:lnTo>
                      <a:lnTo>
                        <a:pt x="0" y="334"/>
                      </a:lnTo>
                      <a:lnTo>
                        <a:pt x="7" y="334"/>
                      </a:lnTo>
                      <a:cubicBezTo>
                        <a:pt x="174" y="325"/>
                        <a:pt x="307" y="187"/>
                        <a:pt x="307" y="18"/>
                      </a:cubicBezTo>
                      <a:cubicBezTo>
                        <a:pt x="307" y="12"/>
                        <a:pt x="307" y="7"/>
                        <a:pt x="307" y="1"/>
                      </a:cubicBezTo>
                      <a:lnTo>
                        <a:pt x="30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5400">
                  <a:solidFill>
                    <a:srgbClr val="6A6A6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2565" y="3698"/>
                <a:ext cx="2900" cy="4521"/>
                <a:chOff x="6722" y="4255"/>
                <a:chExt cx="2900" cy="4521"/>
              </a:xfrm>
            </p:grpSpPr>
            <p:sp>
              <p:nvSpPr>
                <p:cNvPr id="38" name="文本框 37"/>
                <p:cNvSpPr txBox="1"/>
                <p:nvPr/>
              </p:nvSpPr>
              <p:spPr>
                <a:xfrm flipH="1">
                  <a:off x="6722" y="4255"/>
                  <a:ext cx="2900" cy="6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2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触达通道</a:t>
                  </a:r>
                </a:p>
              </p:txBody>
            </p:sp>
            <p:sp>
              <p:nvSpPr>
                <p:cNvPr id="39" name="文本框 38"/>
                <p:cNvSpPr txBox="1"/>
                <p:nvPr/>
              </p:nvSpPr>
              <p:spPr>
                <a:xfrm flipH="1">
                  <a:off x="6788" y="4852"/>
                  <a:ext cx="2768" cy="39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zh-CN" altLang="en-US" sz="1300" dirty="0">
                      <a:solidFill>
                        <a:srgbClr val="6A6A6A"/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订阅消息触达率从12%提升至29%；箴言推送/进化提醒/复盘提醒</a:t>
                  </a:r>
                </a:p>
              </p:txBody>
            </p:sp>
          </p:grpSp>
        </p:grpSp>
        <p:grpSp>
          <p:nvGrpSpPr>
            <p:cNvPr id="40" name="组合 39"/>
            <p:cNvGrpSpPr/>
            <p:nvPr/>
          </p:nvGrpSpPr>
          <p:grpSpPr>
            <a:xfrm>
              <a:off x="10175" y="3208"/>
              <a:ext cx="3266" cy="5500"/>
              <a:chOff x="2382" y="3208"/>
              <a:chExt cx="3266" cy="5500"/>
            </a:xfrm>
          </p:grpSpPr>
          <p:grpSp>
            <p:nvGrpSpPr>
              <p:cNvPr id="41" name="组合 40"/>
              <p:cNvGrpSpPr/>
              <p:nvPr/>
            </p:nvGrpSpPr>
            <p:grpSpPr>
              <a:xfrm>
                <a:off x="2382" y="3208"/>
                <a:ext cx="3266" cy="5500"/>
                <a:chOff x="2382" y="3208"/>
                <a:chExt cx="3266" cy="5500"/>
              </a:xfrm>
            </p:grpSpPr>
            <p:sp>
              <p:nvSpPr>
                <p:cNvPr id="45" name="任意多边形 44"/>
                <p:cNvSpPr/>
                <p:nvPr/>
              </p:nvSpPr>
              <p:spPr>
                <a:xfrm>
                  <a:off x="2382" y="3208"/>
                  <a:ext cx="3267" cy="5500"/>
                </a:xfrm>
                <a:custGeom>
                  <a:avLst/>
                  <a:gdLst/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267" h="5500">
                      <a:moveTo>
                        <a:pt x="306" y="0"/>
                      </a:moveTo>
                      <a:lnTo>
                        <a:pt x="2962" y="0"/>
                      </a:lnTo>
                      <a:lnTo>
                        <a:pt x="2961" y="1"/>
                      </a:lnTo>
                      <a:cubicBezTo>
                        <a:pt x="2961" y="7"/>
                        <a:pt x="2961" y="12"/>
                        <a:pt x="2961" y="18"/>
                      </a:cubicBezTo>
                      <a:cubicBezTo>
                        <a:pt x="2961" y="187"/>
                        <a:pt x="3094" y="325"/>
                        <a:pt x="3261" y="334"/>
                      </a:cubicBezTo>
                      <a:lnTo>
                        <a:pt x="3267" y="334"/>
                      </a:lnTo>
                      <a:lnTo>
                        <a:pt x="3267" y="5168"/>
                      </a:lnTo>
                      <a:lnTo>
                        <a:pt x="3261" y="5168"/>
                      </a:lnTo>
                      <a:cubicBezTo>
                        <a:pt x="3094" y="5177"/>
                        <a:pt x="2961" y="5315"/>
                        <a:pt x="2961" y="5485"/>
                      </a:cubicBezTo>
                      <a:lnTo>
                        <a:pt x="2961" y="5500"/>
                      </a:lnTo>
                      <a:lnTo>
                        <a:pt x="307" y="5500"/>
                      </a:lnTo>
                      <a:lnTo>
                        <a:pt x="307" y="5485"/>
                      </a:lnTo>
                      <a:cubicBezTo>
                        <a:pt x="307" y="5315"/>
                        <a:pt x="174" y="5177"/>
                        <a:pt x="7" y="5168"/>
                      </a:cubicBezTo>
                      <a:lnTo>
                        <a:pt x="0" y="5168"/>
                      </a:lnTo>
                      <a:lnTo>
                        <a:pt x="0" y="334"/>
                      </a:lnTo>
                      <a:lnTo>
                        <a:pt x="7" y="334"/>
                      </a:lnTo>
                      <a:cubicBezTo>
                        <a:pt x="174" y="325"/>
                        <a:pt x="307" y="187"/>
                        <a:pt x="307" y="18"/>
                      </a:cubicBezTo>
                      <a:cubicBezTo>
                        <a:pt x="307" y="12"/>
                        <a:pt x="307" y="7"/>
                        <a:pt x="307" y="1"/>
                      </a:cubicBezTo>
                      <a:lnTo>
                        <a:pt x="306" y="0"/>
                      </a:lnTo>
                      <a:close/>
                    </a:path>
                  </a:pathLst>
                </a:custGeom>
                <a:noFill/>
                <a:ln>
                  <a:solidFill>
                    <a:srgbClr val="6A6A6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任意多边形 45"/>
                <p:cNvSpPr/>
                <p:nvPr/>
              </p:nvSpPr>
              <p:spPr>
                <a:xfrm>
                  <a:off x="2479" y="3322"/>
                  <a:ext cx="3074" cy="5272"/>
                </a:xfrm>
                <a:custGeom>
                  <a:avLst/>
                  <a:gdLst/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267" h="5500">
                      <a:moveTo>
                        <a:pt x="306" y="0"/>
                      </a:moveTo>
                      <a:lnTo>
                        <a:pt x="2962" y="0"/>
                      </a:lnTo>
                      <a:lnTo>
                        <a:pt x="2961" y="1"/>
                      </a:lnTo>
                      <a:cubicBezTo>
                        <a:pt x="2961" y="7"/>
                        <a:pt x="2961" y="12"/>
                        <a:pt x="2961" y="18"/>
                      </a:cubicBezTo>
                      <a:cubicBezTo>
                        <a:pt x="2961" y="187"/>
                        <a:pt x="3094" y="325"/>
                        <a:pt x="3261" y="334"/>
                      </a:cubicBezTo>
                      <a:lnTo>
                        <a:pt x="3267" y="334"/>
                      </a:lnTo>
                      <a:lnTo>
                        <a:pt x="3267" y="5168"/>
                      </a:lnTo>
                      <a:lnTo>
                        <a:pt x="3261" y="5168"/>
                      </a:lnTo>
                      <a:cubicBezTo>
                        <a:pt x="3094" y="5177"/>
                        <a:pt x="2961" y="5315"/>
                        <a:pt x="2961" y="5485"/>
                      </a:cubicBezTo>
                      <a:lnTo>
                        <a:pt x="2961" y="5500"/>
                      </a:lnTo>
                      <a:lnTo>
                        <a:pt x="307" y="5500"/>
                      </a:lnTo>
                      <a:lnTo>
                        <a:pt x="307" y="5485"/>
                      </a:lnTo>
                      <a:cubicBezTo>
                        <a:pt x="307" y="5315"/>
                        <a:pt x="174" y="5177"/>
                        <a:pt x="7" y="5168"/>
                      </a:cubicBezTo>
                      <a:lnTo>
                        <a:pt x="0" y="5168"/>
                      </a:lnTo>
                      <a:lnTo>
                        <a:pt x="0" y="334"/>
                      </a:lnTo>
                      <a:lnTo>
                        <a:pt x="7" y="334"/>
                      </a:lnTo>
                      <a:cubicBezTo>
                        <a:pt x="174" y="325"/>
                        <a:pt x="307" y="187"/>
                        <a:pt x="307" y="18"/>
                      </a:cubicBezTo>
                      <a:cubicBezTo>
                        <a:pt x="307" y="12"/>
                        <a:pt x="307" y="7"/>
                        <a:pt x="307" y="1"/>
                      </a:cubicBezTo>
                      <a:lnTo>
                        <a:pt x="30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5400">
                  <a:solidFill>
                    <a:srgbClr val="6A6A6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7" name="组合 46"/>
              <p:cNvGrpSpPr/>
              <p:nvPr/>
            </p:nvGrpSpPr>
            <p:grpSpPr>
              <a:xfrm>
                <a:off x="2565" y="3698"/>
                <a:ext cx="2900" cy="4521"/>
                <a:chOff x="6722" y="4255"/>
                <a:chExt cx="2900" cy="4521"/>
              </a:xfrm>
            </p:grpSpPr>
            <p:sp>
              <p:nvSpPr>
                <p:cNvPr id="48" name="文本框 47"/>
                <p:cNvSpPr txBox="1"/>
                <p:nvPr/>
              </p:nvSpPr>
              <p:spPr>
                <a:xfrm flipH="1">
                  <a:off x="6722" y="4255"/>
                  <a:ext cx="2900" cy="6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2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关系沉淀</a:t>
                  </a:r>
                </a:p>
              </p:txBody>
            </p:sp>
            <p:sp>
              <p:nvSpPr>
                <p:cNvPr id="49" name="文本框 48"/>
                <p:cNvSpPr txBox="1"/>
                <p:nvPr/>
              </p:nvSpPr>
              <p:spPr>
                <a:xfrm flipH="1">
                  <a:off x="6788" y="4852"/>
                  <a:ext cx="2768" cy="39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zh-CN" altLang="en-US" sz="1300" dirty="0">
                      <a:solidFill>
                        <a:srgbClr val="6A6A6A"/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认养即第二个自我的心智；数字人主动探问制造回访；记得你产生情感绑定</a:t>
                  </a:r>
                </a:p>
              </p:txBody>
            </p:sp>
          </p:grpSp>
        </p:grpSp>
        <p:grpSp>
          <p:nvGrpSpPr>
            <p:cNvPr id="51" name="组合 50"/>
            <p:cNvGrpSpPr/>
            <p:nvPr/>
          </p:nvGrpSpPr>
          <p:grpSpPr>
            <a:xfrm>
              <a:off x="14176" y="3208"/>
              <a:ext cx="3266" cy="5500"/>
              <a:chOff x="2382" y="3208"/>
              <a:chExt cx="3266" cy="5500"/>
            </a:xfrm>
          </p:grpSpPr>
          <p:grpSp>
            <p:nvGrpSpPr>
              <p:cNvPr id="52" name="组合 51"/>
              <p:cNvGrpSpPr/>
              <p:nvPr/>
            </p:nvGrpSpPr>
            <p:grpSpPr>
              <a:xfrm>
                <a:off x="2382" y="3208"/>
                <a:ext cx="3266" cy="5500"/>
                <a:chOff x="2382" y="3208"/>
                <a:chExt cx="3266" cy="5500"/>
              </a:xfrm>
            </p:grpSpPr>
            <p:sp>
              <p:nvSpPr>
                <p:cNvPr id="53" name="任意多边形 52"/>
                <p:cNvSpPr/>
                <p:nvPr/>
              </p:nvSpPr>
              <p:spPr>
                <a:xfrm>
                  <a:off x="2382" y="3208"/>
                  <a:ext cx="3267" cy="5500"/>
                </a:xfrm>
                <a:custGeom>
                  <a:avLst/>
                  <a:gdLst/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267" h="5500">
                      <a:moveTo>
                        <a:pt x="306" y="0"/>
                      </a:moveTo>
                      <a:lnTo>
                        <a:pt x="2962" y="0"/>
                      </a:lnTo>
                      <a:lnTo>
                        <a:pt x="2961" y="1"/>
                      </a:lnTo>
                      <a:cubicBezTo>
                        <a:pt x="2961" y="7"/>
                        <a:pt x="2961" y="12"/>
                        <a:pt x="2961" y="18"/>
                      </a:cubicBezTo>
                      <a:cubicBezTo>
                        <a:pt x="2961" y="187"/>
                        <a:pt x="3094" y="325"/>
                        <a:pt x="3261" y="334"/>
                      </a:cubicBezTo>
                      <a:lnTo>
                        <a:pt x="3267" y="334"/>
                      </a:lnTo>
                      <a:lnTo>
                        <a:pt x="3267" y="5168"/>
                      </a:lnTo>
                      <a:lnTo>
                        <a:pt x="3261" y="5168"/>
                      </a:lnTo>
                      <a:cubicBezTo>
                        <a:pt x="3094" y="5177"/>
                        <a:pt x="2961" y="5315"/>
                        <a:pt x="2961" y="5485"/>
                      </a:cubicBezTo>
                      <a:lnTo>
                        <a:pt x="2961" y="5500"/>
                      </a:lnTo>
                      <a:lnTo>
                        <a:pt x="307" y="5500"/>
                      </a:lnTo>
                      <a:lnTo>
                        <a:pt x="307" y="5485"/>
                      </a:lnTo>
                      <a:cubicBezTo>
                        <a:pt x="307" y="5315"/>
                        <a:pt x="174" y="5177"/>
                        <a:pt x="7" y="5168"/>
                      </a:cubicBezTo>
                      <a:lnTo>
                        <a:pt x="0" y="5168"/>
                      </a:lnTo>
                      <a:lnTo>
                        <a:pt x="0" y="334"/>
                      </a:lnTo>
                      <a:lnTo>
                        <a:pt x="7" y="334"/>
                      </a:lnTo>
                      <a:cubicBezTo>
                        <a:pt x="174" y="325"/>
                        <a:pt x="307" y="187"/>
                        <a:pt x="307" y="18"/>
                      </a:cubicBezTo>
                      <a:cubicBezTo>
                        <a:pt x="307" y="12"/>
                        <a:pt x="307" y="7"/>
                        <a:pt x="307" y="1"/>
                      </a:cubicBezTo>
                      <a:lnTo>
                        <a:pt x="306" y="0"/>
                      </a:lnTo>
                      <a:close/>
                    </a:path>
                  </a:pathLst>
                </a:custGeom>
                <a:noFill/>
                <a:ln>
                  <a:solidFill>
                    <a:srgbClr val="6A6A6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任意多边形 53"/>
                <p:cNvSpPr/>
                <p:nvPr/>
              </p:nvSpPr>
              <p:spPr>
                <a:xfrm>
                  <a:off x="2479" y="3322"/>
                  <a:ext cx="3074" cy="5272"/>
                </a:xfrm>
                <a:custGeom>
                  <a:avLst/>
                  <a:gdLst/>
                  <a:ahLst/>
                  <a:cxnLst>
                    <a:cxn ang="3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267" h="5500">
                      <a:moveTo>
                        <a:pt x="306" y="0"/>
                      </a:moveTo>
                      <a:lnTo>
                        <a:pt x="2962" y="0"/>
                      </a:lnTo>
                      <a:lnTo>
                        <a:pt x="2961" y="1"/>
                      </a:lnTo>
                      <a:cubicBezTo>
                        <a:pt x="2961" y="7"/>
                        <a:pt x="2961" y="12"/>
                        <a:pt x="2961" y="18"/>
                      </a:cubicBezTo>
                      <a:cubicBezTo>
                        <a:pt x="2961" y="187"/>
                        <a:pt x="3094" y="325"/>
                        <a:pt x="3261" y="334"/>
                      </a:cubicBezTo>
                      <a:lnTo>
                        <a:pt x="3267" y="334"/>
                      </a:lnTo>
                      <a:lnTo>
                        <a:pt x="3267" y="5168"/>
                      </a:lnTo>
                      <a:lnTo>
                        <a:pt x="3261" y="5168"/>
                      </a:lnTo>
                      <a:cubicBezTo>
                        <a:pt x="3094" y="5177"/>
                        <a:pt x="2961" y="5315"/>
                        <a:pt x="2961" y="5485"/>
                      </a:cubicBezTo>
                      <a:lnTo>
                        <a:pt x="2961" y="5500"/>
                      </a:lnTo>
                      <a:lnTo>
                        <a:pt x="307" y="5500"/>
                      </a:lnTo>
                      <a:lnTo>
                        <a:pt x="307" y="5485"/>
                      </a:lnTo>
                      <a:cubicBezTo>
                        <a:pt x="307" y="5315"/>
                        <a:pt x="174" y="5177"/>
                        <a:pt x="7" y="5168"/>
                      </a:cubicBezTo>
                      <a:lnTo>
                        <a:pt x="0" y="5168"/>
                      </a:lnTo>
                      <a:lnTo>
                        <a:pt x="0" y="334"/>
                      </a:lnTo>
                      <a:lnTo>
                        <a:pt x="7" y="334"/>
                      </a:lnTo>
                      <a:cubicBezTo>
                        <a:pt x="174" y="325"/>
                        <a:pt x="307" y="187"/>
                        <a:pt x="307" y="18"/>
                      </a:cubicBezTo>
                      <a:cubicBezTo>
                        <a:pt x="307" y="12"/>
                        <a:pt x="307" y="7"/>
                        <a:pt x="307" y="1"/>
                      </a:cubicBezTo>
                      <a:lnTo>
                        <a:pt x="306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5400">
                  <a:solidFill>
                    <a:srgbClr val="6A6A6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55" name="组合 54"/>
              <p:cNvGrpSpPr/>
              <p:nvPr/>
            </p:nvGrpSpPr>
            <p:grpSpPr>
              <a:xfrm>
                <a:off x="2565" y="3698"/>
                <a:ext cx="2900" cy="4521"/>
                <a:chOff x="6722" y="4255"/>
                <a:chExt cx="2900" cy="4521"/>
              </a:xfrm>
            </p:grpSpPr>
            <p:sp>
              <p:nvSpPr>
                <p:cNvPr id="56" name="文本框 55"/>
                <p:cNvSpPr txBox="1"/>
                <p:nvPr/>
              </p:nvSpPr>
              <p:spPr>
                <a:xfrm flipH="1">
                  <a:off x="6722" y="4255"/>
                  <a:ext cx="2900" cy="6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2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私域承接</a:t>
                  </a:r>
                </a:p>
              </p:txBody>
            </p:sp>
            <p:sp>
              <p:nvSpPr>
                <p:cNvPr id="57" name="文本框 56"/>
                <p:cNvSpPr txBox="1"/>
                <p:nvPr/>
              </p:nvSpPr>
              <p:spPr>
                <a:xfrm flipH="1">
                  <a:off x="6788" y="4852"/>
                  <a:ext cx="2768" cy="39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zh-CN" altLang="en-US" sz="1300" dirty="0">
                      <a:solidFill>
                        <a:srgbClr val="6A6A6A"/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企业微信社群+会员体系；知识变现商家会员复购3.2倍，LTV提升约240%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UTO::custom::page-24-metrics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::page-24-metrics::met-title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C00000"/>
                </a:solidFill>
                <a:latin typeface="楷体"/>
              </a:rPr>
              <a:t>增长指标体系</a:t>
            </a:r>
          </a:p>
        </p:txBody>
      </p:sp>
      <p:cxnSp>
        <p:nvCxnSpPr>
          <p:cNvPr id="3" name="AUTO::page-24-metrics::met-line"/>
          <p:cNvCxnSpPr/>
          <p:nvPr/>
        </p:nvCxnSpPr>
        <p:spPr>
          <a:xfrm>
            <a:off x="5029200" y="868680"/>
            <a:ext cx="210312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AUTO::page-24-metrics::met-north"/>
          <p:cNvSpPr/>
          <p:nvPr/>
        </p:nvSpPr>
        <p:spPr>
          <a:xfrm>
            <a:off x="640080" y="1188720"/>
            <a:ext cx="10972800" cy="54864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楷体"/>
              </a:rPr>
              <a:t>北极星指标：有效认养数（完成认养的付费潜力用户）</a:t>
            </a:r>
          </a:p>
        </p:txBody>
      </p:sp>
      <p:sp>
        <p:nvSpPr>
          <p:cNvPr id="5" name="AUTO::page-24-metrics::met-p1-title"/>
          <p:cNvSpPr txBox="1"/>
          <p:nvPr/>
        </p:nvSpPr>
        <p:spPr>
          <a:xfrm>
            <a:off x="640080" y="19202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00000"/>
                </a:solidFill>
                <a:latin typeface="楷体"/>
              </a:rPr>
              <a:t>过程指标</a:t>
            </a:r>
          </a:p>
        </p:txBody>
      </p:sp>
      <p:sp>
        <p:nvSpPr>
          <p:cNvPr id="6" name="AUTO::page-24-metrics::met-p1"/>
          <p:cNvSpPr txBox="1"/>
          <p:nvPr/>
        </p:nvSpPr>
        <p:spPr>
          <a:xfrm>
            <a:off x="640080" y="2286000"/>
            <a:ext cx="34747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楷体"/>
              </a:rPr>
              <a:t>测试分享率 ≥15%\nD30留存 ≥25%\n裂变系数 K→1.0\n箴言卡日分享量\n私域月活</a:t>
            </a:r>
          </a:p>
        </p:txBody>
      </p:sp>
      <p:sp>
        <p:nvSpPr>
          <p:cNvPr id="7" name="AUTO::page-24-metrics::met-p2-title"/>
          <p:cNvSpPr txBox="1"/>
          <p:nvPr/>
        </p:nvSpPr>
        <p:spPr>
          <a:xfrm>
            <a:off x="4389120" y="19202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00000"/>
                </a:solidFill>
                <a:latin typeface="楷体"/>
              </a:rPr>
              <a:t>变现指标</a:t>
            </a:r>
          </a:p>
        </p:txBody>
      </p:sp>
      <p:sp>
        <p:nvSpPr>
          <p:cNvPr id="8" name="AUTO::page-24-metrics::met-p2"/>
          <p:cNvSpPr txBox="1"/>
          <p:nvPr/>
        </p:nvSpPr>
        <p:spPr>
          <a:xfrm>
            <a:off x="4389120" y="2286000"/>
            <a:ext cx="34747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楷体"/>
              </a:rPr>
              <a:t>Pro转化率 3-5%\n会员续费率\nB端线索量\nCAC &lt; 10元\nLTV &gt; 120元</a:t>
            </a:r>
          </a:p>
        </p:txBody>
      </p:sp>
      <p:sp>
        <p:nvSpPr>
          <p:cNvPr id="9" name="AUTO::page-24-metrics::met-p3-title"/>
          <p:cNvSpPr txBox="1"/>
          <p:nvPr/>
        </p:nvSpPr>
        <p:spPr>
          <a:xfrm>
            <a:off x="8138160" y="19202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C00000"/>
                </a:solidFill>
                <a:latin typeface="楷体"/>
              </a:rPr>
              <a:t>生死线验证</a:t>
            </a:r>
          </a:p>
        </p:txBody>
      </p:sp>
      <p:sp>
        <p:nvSpPr>
          <p:cNvPr id="10" name="AUTO::page-24-metrics::met-p3"/>
          <p:cNvSpPr txBox="1"/>
          <p:nvPr/>
        </p:nvSpPr>
        <p:spPr>
          <a:xfrm>
            <a:off x="8138160" y="2286000"/>
            <a:ext cx="34747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楷体"/>
              </a:rPr>
              <a:t>D30留存 ≥25%\n道系人格测试分享率≥15%\n行业POC续约意愿\nPro转化 ≥2%（生死线）\nLTV/CAC &gt; 3</a:t>
            </a:r>
          </a:p>
        </p:txBody>
      </p:sp>
      <p:cxnSp>
        <p:nvCxnSpPr>
          <p:cNvPr id="11" name="AUTO::page-24-metrics::met-sep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12700">
            <a:solidFill>
              <a:srgbClr val="D4C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AUTO::page-24-metrics::met-benchmark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A6A6A"/>
                </a:solidFill>
                <a:latin typeface="楷体"/>
              </a:rPr>
              <a:t>行业对标：小程序30天留存均值8% | 订阅消息触达率29% | 签到次日留存提升47% | 会员复购3.2倍</a:t>
            </a:r>
          </a:p>
        </p:txBody>
      </p:sp>
      <p:sp>
        <p:nvSpPr>
          <p:cNvPr id="13" name="AUTO::page-24-metrics::met-source"/>
          <p:cNvSpPr txBox="1"/>
          <p:nvPr/>
        </p:nvSpPr>
        <p:spPr>
          <a:xfrm>
            <a:off x="640080" y="4846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5A5A5"/>
                </a:solidFill>
                <a:latin typeface="楷体"/>
              </a:rPr>
              <a:t>数据来源：2026年微信生态行业数据、知识付费行业报告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templates\picture_hover\&amp;pky8189327183&amp;"/>
          <p:cNvPicPr>
            <a:picLocks noChangeAspect="1"/>
          </p:cNvPicPr>
          <p:nvPr/>
        </p:nvPicPr>
        <p:blipFill>
          <a:blip r:embed="rId8" cstate="email">
            <a:alphaModFix amt="40000"/>
          </a:blip>
          <a:stretch>
            <a:fillRect/>
          </a:stretch>
        </p:blipFill>
        <p:spPr>
          <a:xfrm>
            <a:off x="1111885" y="4355465"/>
            <a:ext cx="3112770" cy="1891665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0" y="567055"/>
            <a:ext cx="12192000" cy="6290310"/>
            <a:chOff x="0" y="893"/>
            <a:chExt cx="19200" cy="9906"/>
          </a:xfrm>
        </p:grpSpPr>
        <p:pic>
          <p:nvPicPr>
            <p:cNvPr id="2" name="图片 1" descr="templates\picture_hover\&amp;pky290_sjzg_VCG211356148776&amp;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9" cstate="email">
              <a:alphaModFix amt="24000"/>
              <a:lum bright="12000"/>
            </a:blip>
            <a:srcRect/>
            <a:stretch>
              <a:fillRect/>
            </a:stretch>
          </p:blipFill>
          <p:spPr>
            <a:xfrm>
              <a:off x="0" y="893"/>
              <a:ext cx="19200" cy="990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000" h="8772">
                  <a:moveTo>
                    <a:pt x="0" y="0"/>
                  </a:moveTo>
                  <a:lnTo>
                    <a:pt x="17000" y="0"/>
                  </a:lnTo>
                  <a:lnTo>
                    <a:pt x="17000" y="8772"/>
                  </a:lnTo>
                  <a:lnTo>
                    <a:pt x="0" y="8772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6" name="图片 15" descr="templates\picture_hover\&amp;pky8389331009&amp;"/>
            <p:cNvPicPr>
              <a:picLocks noChangeAspect="1"/>
            </p:cNvPicPr>
            <p:nvPr/>
          </p:nvPicPr>
          <p:blipFill>
            <a:blip r:embed="rId10" cstate="email">
              <a:alphaModFix amt="20000"/>
            </a:blip>
            <a:srcRect/>
            <a:stretch>
              <a:fillRect/>
            </a:stretch>
          </p:blipFill>
          <p:spPr>
            <a:xfrm rot="21060000">
              <a:off x="13575" y="1132"/>
              <a:ext cx="2150" cy="1989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850" h="2636">
                  <a:moveTo>
                    <a:pt x="0" y="0"/>
                  </a:moveTo>
                  <a:lnTo>
                    <a:pt x="2850" y="0"/>
                  </a:lnTo>
                  <a:lnTo>
                    <a:pt x="2850" y="2636"/>
                  </a:lnTo>
                  <a:lnTo>
                    <a:pt x="0" y="2636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grpSp>
        <p:nvGrpSpPr>
          <p:cNvPr id="23" name="组合 22"/>
          <p:cNvGrpSpPr/>
          <p:nvPr/>
        </p:nvGrpSpPr>
        <p:grpSpPr>
          <a:xfrm>
            <a:off x="-9525" y="-13970"/>
            <a:ext cx="12200890" cy="7021830"/>
            <a:chOff x="-15" y="-22"/>
            <a:chExt cx="19214" cy="11058"/>
          </a:xfrm>
        </p:grpSpPr>
        <p:pic>
          <p:nvPicPr>
            <p:cNvPr id="9" name="图片 8" descr="幻灯片127"/>
            <p:cNvPicPr>
              <a:picLocks noChangeAspect="1"/>
            </p:cNvPicPr>
            <p:nvPr/>
          </p:nvPicPr>
          <p:blipFill>
            <a:blip r:embed="rId11" cstate="email">
              <a:alphaModFix amt="80000"/>
            </a:blip>
            <a:stretch>
              <a:fillRect/>
            </a:stretch>
          </p:blipFill>
          <p:spPr>
            <a:xfrm>
              <a:off x="-15" y="-22"/>
              <a:ext cx="4389" cy="4357"/>
            </a:xfrm>
            <a:prstGeom prst="rect">
              <a:avLst/>
            </a:prstGeom>
          </p:spPr>
        </p:pic>
        <p:pic>
          <p:nvPicPr>
            <p:cNvPr id="10" name="图片 9" descr="幻灯片127-1"/>
            <p:cNvPicPr>
              <a:picLocks noChangeAspect="1"/>
            </p:cNvPicPr>
            <p:nvPr/>
          </p:nvPicPr>
          <p:blipFill>
            <a:blip r:embed="rId12" cstate="email">
              <a:alphaModFix amt="80000"/>
            </a:blip>
            <a:stretch>
              <a:fillRect/>
            </a:stretch>
          </p:blipFill>
          <p:spPr>
            <a:xfrm flipH="1">
              <a:off x="15387" y="3214"/>
              <a:ext cx="3813" cy="7606"/>
            </a:xfrm>
            <a:prstGeom prst="rect">
              <a:avLst/>
            </a:prstGeom>
          </p:spPr>
        </p:pic>
        <p:pic>
          <p:nvPicPr>
            <p:cNvPr id="18" name="图片 17" descr="幻灯片127"/>
            <p:cNvPicPr>
              <a:picLocks noChangeAspect="1"/>
            </p:cNvPicPr>
            <p:nvPr/>
          </p:nvPicPr>
          <p:blipFill>
            <a:blip r:embed="rId13" cstate="email">
              <a:alphaModFix amt="80000"/>
            </a:blip>
            <a:srcRect/>
            <a:stretch>
              <a:fillRect/>
            </a:stretch>
          </p:blipFill>
          <p:spPr>
            <a:xfrm rot="15300000">
              <a:off x="2389" y="9101"/>
              <a:ext cx="1442" cy="2428"/>
            </a:xfrm>
            <a:custGeom>
              <a:avLst/>
              <a:gdLst>
                <a:gd name="adj" fmla="val 25000"/>
                <a:gd name="maxAdj" fmla="*/ 50000 h ss"/>
                <a:gd name="a" fmla="pin 0 adj maxAdj"/>
                <a:gd name="y1" fmla="*/ ss a 200000"/>
                <a:gd name="y2" fmla="+- y1 y1 0"/>
                <a:gd name="y3" fmla="+- b 0 y1"/>
              </a:gdLst>
              <a:ahLst/>
              <a:cxnLst>
                <a:cxn ang="3">
                  <a:pos x="hc" y="y2"/>
                </a:cxn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y2" r="r" b="y3"/>
              <a:pathLst>
                <a:path w="1442" h="2428">
                  <a:moveTo>
                    <a:pt x="702" y="0"/>
                  </a:moveTo>
                  <a:cubicBezTo>
                    <a:pt x="1111" y="0"/>
                    <a:pt x="1442" y="83"/>
                    <a:pt x="1442" y="185"/>
                  </a:cubicBezTo>
                  <a:lnTo>
                    <a:pt x="1442" y="2243"/>
                  </a:lnTo>
                  <a:cubicBezTo>
                    <a:pt x="1442" y="2345"/>
                    <a:pt x="1111" y="2428"/>
                    <a:pt x="702" y="2428"/>
                  </a:cubicBezTo>
                  <a:cubicBezTo>
                    <a:pt x="639" y="2428"/>
                    <a:pt x="577" y="2426"/>
                    <a:pt x="518" y="2422"/>
                  </a:cubicBezTo>
                  <a:lnTo>
                    <a:pt x="508" y="2421"/>
                  </a:lnTo>
                  <a:lnTo>
                    <a:pt x="506" y="2415"/>
                  </a:lnTo>
                  <a:cubicBezTo>
                    <a:pt x="457" y="2241"/>
                    <a:pt x="323" y="2098"/>
                    <a:pt x="139" y="2049"/>
                  </a:cubicBezTo>
                  <a:cubicBezTo>
                    <a:pt x="95" y="2037"/>
                    <a:pt x="51" y="2031"/>
                    <a:pt x="8" y="2031"/>
                  </a:cubicBezTo>
                  <a:lnTo>
                    <a:pt x="0" y="2031"/>
                  </a:lnTo>
                  <a:lnTo>
                    <a:pt x="543" y="4"/>
                  </a:lnTo>
                  <a:lnTo>
                    <a:pt x="553" y="4"/>
                  </a:lnTo>
                  <a:cubicBezTo>
                    <a:pt x="601" y="1"/>
                    <a:pt x="651" y="0"/>
                    <a:pt x="702" y="0"/>
                  </a:cubicBezTo>
                  <a:close/>
                </a:path>
              </a:pathLst>
            </a:custGeom>
          </p:spPr>
        </p:pic>
      </p:grpSp>
      <p:grpSp>
        <p:nvGrpSpPr>
          <p:cNvPr id="26" name="组合 25"/>
          <p:cNvGrpSpPr/>
          <p:nvPr/>
        </p:nvGrpSpPr>
        <p:grpSpPr>
          <a:xfrm>
            <a:off x="3140710" y="2246948"/>
            <a:ext cx="5910580" cy="2862580"/>
            <a:chOff x="4946" y="3523"/>
            <a:chExt cx="9308" cy="4508"/>
          </a:xfrm>
        </p:grpSpPr>
        <p:pic>
          <p:nvPicPr>
            <p:cNvPr id="21" name="图片 20" descr="幻灯片79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4" cstate="email"/>
            <a:stretch>
              <a:fillRect/>
            </a:stretch>
          </p:blipFill>
          <p:spPr>
            <a:xfrm>
              <a:off x="9373" y="3523"/>
              <a:ext cx="453" cy="466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>
              <p:custDataLst>
                <p:tags r:id="rId2"/>
              </p:custDataLst>
            </p:nvPr>
          </p:nvSpPr>
          <p:spPr>
            <a:xfrm>
              <a:off x="5370" y="4521"/>
              <a:ext cx="8460" cy="5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征途 · 未来可期</a:t>
              </a: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7376" y="6742"/>
              <a:ext cx="4448" cy="1289"/>
              <a:chOff x="7316" y="7350"/>
              <a:chExt cx="4448" cy="1289"/>
            </a:xfrm>
          </p:grpSpPr>
          <p:pic>
            <p:nvPicPr>
              <p:cNvPr id="25" name="图片 24" descr="templates\picture_hover\&amp;pky290_sjzg_VCG41N513480320&amp;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5" cstate="email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  <a:lum bright="30000"/>
              </a:blip>
              <a:srcRect/>
              <a:stretch>
                <a:fillRect/>
              </a:stretch>
            </p:blipFill>
            <p:spPr>
              <a:xfrm>
                <a:off x="7316" y="7350"/>
                <a:ext cx="4448" cy="1289"/>
              </a:xfrm>
              <a:prstGeom prst="rect">
                <a:avLst/>
              </a:prstGeom>
            </p:spPr>
          </p:pic>
          <p:sp>
            <p:nvSpPr>
              <p:cNvPr id="27" name="文本框 26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7945" y="7731"/>
                <a:ext cx="3311" cy="60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zh-CN" altLang="en-US" dirty="0">
                    <a:solidFill>
                      <a:srgbClr val="FDFDFD"/>
                    </a:solidFill>
                    <a:latin typeface="楷体"/>
                    <a:ea typeface="思源宋体 CN Heavy" panose="02020900000000000000" pitchFamily="18" charset="-122"/>
                    <a:cs typeface="+mn-ea"/>
                    <a:sym typeface="+mn-lt"/>
                  </a:rPr>
                  <a:t/>
                </a:r>
              </a:p>
            </p:txBody>
          </p:sp>
        </p:grpSp>
        <p:sp>
          <p:nvSpPr>
            <p:cNvPr id="28" name="文本框 27"/>
            <p:cNvSpPr txBox="1"/>
            <p:nvPr>
              <p:custDataLst>
                <p:tags r:id="rId3"/>
              </p:custDataLst>
            </p:nvPr>
          </p:nvSpPr>
          <p:spPr>
            <a:xfrm>
              <a:off x="4946" y="5316"/>
              <a:ext cx="9308" cy="1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300" dirty="0">
                  <a:solidFill>
                    <a:srgbClr val="6A6A6A"/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18个月四阶段，从MVP到生态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6B153A5B-5812-1152-643C-A0685944C31F}"/>
              </a:ext>
            </a:extLst>
          </p:cNvPr>
          <p:cNvSpPr txBox="1"/>
          <p:nvPr/>
        </p:nvSpPr>
        <p:spPr>
          <a:xfrm>
            <a:off x="6239510" y="1873402"/>
            <a:ext cx="3078480" cy="968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5700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伍</a:t>
            </a:r>
            <a:endParaRPr lang="zh-CN" sz="5700" b="1" dirty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C231DEA-4C7D-A03E-A51A-A152E34AFA63}"/>
              </a:ext>
            </a:extLst>
          </p:cNvPr>
          <p:cNvSpPr txBox="1"/>
          <p:nvPr/>
        </p:nvSpPr>
        <p:spPr>
          <a:xfrm>
            <a:off x="2866057" y="1899603"/>
            <a:ext cx="3078480" cy="968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sz="5700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/>
            </a:r>
            <a:endParaRPr lang="zh-CN" sz="5700" b="1" dirty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UTO::custom::page-26-roadmap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::page-26-roadmap::rd-title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C00000"/>
                </a:solidFill>
                <a:latin typeface="楷体"/>
              </a:rPr>
              <a:t>18个月实施路线图</a:t>
            </a:r>
          </a:p>
        </p:txBody>
      </p:sp>
      <p:cxnSp>
        <p:nvCxnSpPr>
          <p:cNvPr id="3" name="AUTO::page-26-roadmap::rd-line"/>
          <p:cNvCxnSpPr/>
          <p:nvPr/>
        </p:nvCxnSpPr>
        <p:spPr>
          <a:xfrm>
            <a:off x="5029200" y="868680"/>
            <a:ext cx="210312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AUTO::page-26-roadmap::rd-timeline"/>
          <p:cNvCxnSpPr/>
          <p:nvPr/>
        </p:nvCxnSpPr>
        <p:spPr>
          <a:xfrm>
            <a:off x="640080" y="2286000"/>
            <a:ext cx="109728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UTO::page-26-roadmap::rd-p1"/>
          <p:cNvSpPr/>
          <p:nvPr/>
        </p:nvSpPr>
        <p:spPr>
          <a:xfrm>
            <a:off x="1371600" y="2103120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UTO::page-26-roadmap::rd-p2"/>
          <p:cNvSpPr/>
          <p:nvPr/>
        </p:nvSpPr>
        <p:spPr>
          <a:xfrm>
            <a:off x="4114800" y="2103120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UTO::page-26-roadmap::rd-p3"/>
          <p:cNvSpPr/>
          <p:nvPr/>
        </p:nvSpPr>
        <p:spPr>
          <a:xfrm>
            <a:off x="6858000" y="2103120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UTO::page-26-roadmap::rd-p4"/>
          <p:cNvSpPr/>
          <p:nvPr/>
        </p:nvSpPr>
        <p:spPr>
          <a:xfrm>
            <a:off x="9601200" y="2103120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UTO::page-26-roadmap::rd-e0"/>
          <p:cNvSpPr/>
          <p:nvPr/>
        </p:nvSpPr>
        <p:spPr>
          <a:xfrm>
            <a:off x="640080" y="2743200"/>
            <a:ext cx="2743200" cy="2011680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楷体"/>
              </a:rPr>
              <a:t>E0 内容与底座\n第1-2月\n\n五层知识标签化\n对齐注入包v0.1\n人格测试题库\n行业对话包×3</a:t>
            </a:r>
          </a:p>
        </p:txBody>
      </p:sp>
      <p:sp>
        <p:nvSpPr>
          <p:cNvPr id="10" name="AUTO::page-26-roadmap::rd-e1"/>
          <p:cNvSpPr/>
          <p:nvPr/>
        </p:nvSpPr>
        <p:spPr>
          <a:xfrm>
            <a:off x="3474720" y="2743200"/>
            <a:ext cx="2743200" cy="201168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楷体"/>
              </a:rPr>
              <a:t>E1 双闭环MVP\n第2-5月\n\n疗愈引擎上线\n箴言卡+人格测试\nAPI白名单内测\n3家种子客户POC\n目标：2万注册 K≥0.5</a:t>
            </a:r>
          </a:p>
        </p:txBody>
      </p:sp>
      <p:sp>
        <p:nvSpPr>
          <p:cNvPr id="11" name="AUTO::page-26-roadmap::rd-e2"/>
          <p:cNvSpPr/>
          <p:nvPr/>
        </p:nvSpPr>
        <p:spPr>
          <a:xfrm>
            <a:off x="6309360" y="2743200"/>
            <a:ext cx="2743200" cy="2011680"/>
          </a:xfrm>
          <a:prstGeom prst="roundRect">
            <a:avLst/>
          </a:prstGeom>
          <a:solidFill>
            <a:srgbClr val="F5FFF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楷体"/>
              </a:rPr>
              <a:t>E2 增长与订阅\n第5-9月\n\n五大裂变杠杆全量\n订阅变现闭环\n私域5万粉\n2个行业模板成熟\n目标：10万注册 Pro转化3-5%</a:t>
            </a:r>
          </a:p>
        </p:txBody>
      </p:sp>
      <p:sp>
        <p:nvSpPr>
          <p:cNvPr id="12" name="AUTO::page-26-roadmap::rd-e3"/>
          <p:cNvSpPr/>
          <p:nvPr/>
        </p:nvSpPr>
        <p:spPr>
          <a:xfrm>
            <a:off x="9144000" y="2743200"/>
            <a:ext cx="2743200" cy="2011680"/>
          </a:xfrm>
          <a:prstGeom prst="roundRect">
            <a:avLst/>
          </a:prstGeom>
          <a:solidFill>
            <a:srgbClr val="FFF0F5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333333"/>
                </a:solidFill>
                <a:latin typeface="楷体"/>
              </a:rPr>
              <a:t>E3 生态与规模化\n第9-18月\n\n行业Agent矩阵5+\n对齐学院开课\n企业道枢\n政府合作1-2项\n目标：30万注册 B端利润主体</a:t>
            </a:r>
          </a:p>
        </p:txBody>
      </p:sp>
      <p:sp>
        <p:nvSpPr>
          <p:cNvPr id="13" name="AUTO::page-26-roadmap::rd-note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00000"/>
                </a:solidFill>
                <a:latin typeface="楷体"/>
              </a:rPr>
              <a:t>MVP生死线：D30留存≥25% | 人格测试分享率≥15% | 行业POC续约意愿 | Pro转化≥2%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UTO::custom::page-27-finance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UTO::page-27-finance::fin-title"/>
          <p:cNvSpPr txBox="1"/>
          <p:nvPr/>
        </p:nvSpPr>
        <p:spPr>
          <a:xfrm>
            <a:off x="640080" y="2743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C00000"/>
                </a:solidFill>
                <a:latin typeface="楷体"/>
              </a:rPr>
              <a:t>财务预测与单位经济</a:t>
            </a:r>
          </a:p>
        </p:txBody>
      </p:sp>
      <p:cxnSp>
        <p:nvCxnSpPr>
          <p:cNvPr id="3" name="AUTO::page-27-finance::fin-line"/>
          <p:cNvCxnSpPr/>
          <p:nvPr/>
        </p:nvCxnSpPr>
        <p:spPr>
          <a:xfrm>
            <a:off x="5029200" y="868680"/>
            <a:ext cx="210312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AUTO::page-27-finance::fin-c1"/>
          <p:cNvSpPr/>
          <p:nvPr/>
        </p:nvSpPr>
        <p:spPr>
          <a:xfrm>
            <a:off x="640080" y="1188720"/>
            <a:ext cx="3474720" cy="2011680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楷体"/>
              </a:rPr>
              <a:t>C端单位经济\n\n获客成本 CAC &lt; 10元\n（裂变驱动，非买量）\n\nPro LTV &gt; 120元\n（6个月续费周期）\n\nLTV/CAC &gt; 3</a:t>
            </a:r>
          </a:p>
        </p:txBody>
      </p:sp>
      <p:sp>
        <p:nvSpPr>
          <p:cNvPr id="5" name="AUTO::page-27-finance::fin-c2"/>
          <p:cNvSpPr/>
          <p:nvPr/>
        </p:nvSpPr>
        <p:spPr>
          <a:xfrm>
            <a:off x="4389120" y="1188720"/>
            <a:ext cx="3474720" cy="201168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楷体"/>
              </a:rPr>
              <a:t>B端收入模型\n\n轻：SaaS 3-10万/年\n中：解决方案 20-80万\n重：共营共建 100万+/年\n\n10家行业客户年收入\n即超50万C端付费用户</a:t>
            </a:r>
          </a:p>
        </p:txBody>
      </p:sp>
      <p:sp>
        <p:nvSpPr>
          <p:cNvPr id="6" name="AUTO::page-27-finance::fin-c3"/>
          <p:cNvSpPr/>
          <p:nvPr/>
        </p:nvSpPr>
        <p:spPr>
          <a:xfrm>
            <a:off x="8138160" y="1188720"/>
            <a:ext cx="3474720" cy="2011680"/>
          </a:xfrm>
          <a:prstGeom prst="roundRect">
            <a:avLst/>
          </a:prstGeom>
          <a:solidFill>
            <a:srgbClr val="F5FFF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333333"/>
                </a:solidFill>
                <a:latin typeface="楷体"/>
              </a:rPr>
              <a:t>12个月里程碑\n\n10万注册用户\n5000付费用户\n20家行业客户\n\n24个月目标：\nB端收入成为利润主体</a:t>
            </a:r>
          </a:p>
        </p:txBody>
      </p:sp>
      <p:cxnSp>
        <p:nvCxnSpPr>
          <p:cNvPr id="7" name="AUTO::page-27-finance::fin-sep"/>
          <p:cNvCxnSpPr/>
          <p:nvPr/>
        </p:nvCxnSpPr>
        <p:spPr>
          <a:xfrm>
            <a:off x="640080" y="3474720"/>
            <a:ext cx="10972800" cy="0"/>
          </a:xfrm>
          <a:prstGeom prst="line">
            <a:avLst/>
          </a:prstGeom>
          <a:ln w="12700">
            <a:solidFill>
              <a:srgbClr val="D4C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UTO::page-27-finance::fin-seed-title"/>
          <p:cNvSpPr txBox="1"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楷体"/>
              </a:rPr>
              <a:t>种子轮融资计划</a:t>
            </a:r>
          </a:p>
        </p:txBody>
      </p:sp>
      <p:sp>
        <p:nvSpPr>
          <p:cNvPr id="9" name="AUTO::page-27-finance::fin-seed"/>
          <p:cNvSpPr txBox="1"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333333"/>
                </a:solidFill>
                <a:latin typeface="楷体"/>
              </a:rPr>
              <a:t>融资额：300-500万元  |  出让股权：10-15%  |  估值逻辑：先发优势 × 数据飞轮 × 政策红利</a:t>
            </a:r>
          </a:p>
        </p:txBody>
      </p:sp>
      <p:sp>
        <p:nvSpPr>
          <p:cNvPr id="10" name="AUTO::page-27-finance::fin-use"/>
          <p:cNvSpPr txBox="1"/>
          <p:nvPr/>
        </p:nvSpPr>
        <p:spPr>
          <a:xfrm>
            <a:off x="640080" y="47548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A6A6A"/>
                </a:solidFill>
                <a:latin typeface="楷体"/>
              </a:rPr>
              <a:t>资金用途：\n① 团队扩充（7-10人→15人）：产品+增长/后端/前端/AI工程师/国学顾问\n② 内容工厂：AI辅助生产+国学顾问终审，提前30天排产内容日历\n③ 行业POC验证：心理/客服/管理各1家种子客户，产出量化案例\n④ 市场验证：箴言卡+人格测试上线，跑通裂变与留存</a:t>
            </a:r>
          </a:p>
        </p:txBody>
      </p:sp>
      <p:sp>
        <p:nvSpPr>
          <p:cNvPr id="11" name="AUTO::page-27-finance::fin-source"/>
          <p:cNvSpPr txBox="1"/>
          <p:nvPr/>
        </p:nvSpPr>
        <p:spPr>
          <a:xfrm>
            <a:off x="640080" y="56692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5A5A5"/>
                </a:solidFill>
                <a:latin typeface="楷体"/>
              </a:rPr>
              <a:t>注：财务预测为运营期校准示意，基于行业对标与V2.0方案推演，不构成投资承诺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 descr="templates\picture_hover\&amp;pky290_sjzg_VCG211356148776&amp;"/>
          <p:cNvPicPr>
            <a:picLocks noChangeAspect="1"/>
          </p:cNvPicPr>
          <p:nvPr/>
        </p:nvPicPr>
        <p:blipFill>
          <a:blip r:embed="rId22" cstate="email">
            <a:alphaModFix amt="24000"/>
            <a:lum bright="12000"/>
          </a:blip>
          <a:srcRect/>
          <a:stretch>
            <a:fillRect/>
          </a:stretch>
        </p:blipFill>
        <p:spPr>
          <a:xfrm>
            <a:off x="0" y="3081020"/>
            <a:ext cx="12192000" cy="37769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5948">
                <a:moveTo>
                  <a:pt x="0" y="0"/>
                </a:moveTo>
                <a:lnTo>
                  <a:pt x="19200" y="0"/>
                </a:lnTo>
                <a:lnTo>
                  <a:pt x="19200" y="5948"/>
                </a:lnTo>
                <a:lnTo>
                  <a:pt x="0" y="594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3" name="图片 2" descr="templates\picture_hover\&amp;pky260_sjzg_VCG211356166098&amp;"/>
          <p:cNvPicPr>
            <a:picLocks noChangeAspect="1"/>
          </p:cNvPicPr>
          <p:nvPr/>
        </p:nvPicPr>
        <p:blipFill>
          <a:blip r:embed="rId23" cstate="email">
            <a:alphaModFix amt="80000"/>
          </a:blip>
          <a:stretch>
            <a:fillRect/>
          </a:stretch>
        </p:blipFill>
        <p:spPr>
          <a:xfrm>
            <a:off x="241300" y="1003300"/>
            <a:ext cx="5461000" cy="54610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4429760" y="471805"/>
            <a:ext cx="3332480" cy="459740"/>
            <a:chOff x="6976" y="743"/>
            <a:chExt cx="5248" cy="724"/>
          </a:xfrm>
        </p:grpSpPr>
        <p:sp>
          <p:nvSpPr>
            <p:cNvPr id="31" name="文本框 30"/>
            <p:cNvSpPr txBox="1"/>
            <p:nvPr/>
          </p:nvSpPr>
          <p:spPr>
            <a:xfrm>
              <a:off x="7010" y="743"/>
              <a:ext cx="5181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2400" dirty="0">
                  <a:solidFill>
                    <a:schemeClr val="tx1"/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融资计划</a:t>
              </a: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6976" y="992"/>
              <a:ext cx="226" cy="226"/>
              <a:chOff x="7717" y="9163"/>
              <a:chExt cx="226" cy="226"/>
            </a:xfrm>
          </p:grpSpPr>
          <p:sp>
            <p:nvSpPr>
              <p:cNvPr id="36" name="椭圆 35"/>
              <p:cNvSpPr/>
              <p:nvPr/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1998" y="992"/>
              <a:ext cx="226" cy="226"/>
              <a:chOff x="7717" y="9163"/>
              <a:chExt cx="226" cy="226"/>
            </a:xfrm>
          </p:grpSpPr>
          <p:sp>
            <p:nvSpPr>
              <p:cNvPr id="39" name="椭圆 38"/>
              <p:cNvSpPr/>
              <p:nvPr/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66" name="组合 65"/>
          <p:cNvGrpSpPr/>
          <p:nvPr/>
        </p:nvGrpSpPr>
        <p:grpSpPr>
          <a:xfrm>
            <a:off x="5895340" y="1916430"/>
            <a:ext cx="5366385" cy="3605530"/>
            <a:chOff x="9284" y="3018"/>
            <a:chExt cx="8451" cy="5678"/>
          </a:xfrm>
        </p:grpSpPr>
        <p:sp>
          <p:nvSpPr>
            <p:cNvPr id="2" name="文本框 1"/>
            <p:cNvSpPr txBox="1"/>
            <p:nvPr/>
          </p:nvSpPr>
          <p:spPr>
            <a:xfrm flipH="1">
              <a:off x="10219" y="3188"/>
              <a:ext cx="2900" cy="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种子轮</a:t>
              </a:r>
            </a:p>
          </p:txBody>
        </p:sp>
        <p:sp>
          <p:nvSpPr>
            <p:cNvPr id="44" name="文本框 43"/>
            <p:cNvSpPr txBox="1"/>
            <p:nvPr/>
          </p:nvSpPr>
          <p:spPr>
            <a:xfrm flipH="1">
              <a:off x="10219" y="3977"/>
              <a:ext cx="7516" cy="1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300" dirty="0">
                  <a:solidFill>
                    <a:srgbClr val="6A6A6A"/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融资额300-500万元，出让股权10-15%；估值逻辑：先发优势+数据飞轮+政策红利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 flipH="1">
              <a:off x="10219" y="5129"/>
              <a:ext cx="7516" cy="1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300" dirty="0">
                  <a:solidFill>
                    <a:srgbClr val="6A6A6A"/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资金用途：团队扩充7-10人→15人、内容工厂、行业POC验证、市场验证</a:t>
              </a:r>
            </a:p>
          </p:txBody>
        </p:sp>
        <p:grpSp>
          <p:nvGrpSpPr>
            <p:cNvPr id="65" name="组合 64"/>
            <p:cNvGrpSpPr/>
            <p:nvPr/>
          </p:nvGrpSpPr>
          <p:grpSpPr>
            <a:xfrm>
              <a:off x="9696" y="4409"/>
              <a:ext cx="226" cy="1378"/>
              <a:chOff x="9742" y="4409"/>
              <a:chExt cx="226" cy="1378"/>
            </a:xfrm>
          </p:grpSpPr>
          <p:sp>
            <p:nvSpPr>
              <p:cNvPr id="6" name="椭圆 5"/>
              <p:cNvSpPr/>
              <p:nvPr/>
            </p:nvSpPr>
            <p:spPr>
              <a:xfrm>
                <a:off x="9785" y="4452"/>
                <a:ext cx="142" cy="142"/>
              </a:xfrm>
              <a:prstGeom prst="ellipse">
                <a:avLst/>
              </a:prstGeom>
              <a:solidFill>
                <a:srgbClr val="6A6A6A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9785" y="5604"/>
                <a:ext cx="142" cy="142"/>
              </a:xfrm>
              <a:prstGeom prst="ellipse">
                <a:avLst/>
              </a:prstGeom>
              <a:solidFill>
                <a:srgbClr val="6A6A6A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grpSp>
            <p:nvGrpSpPr>
              <p:cNvPr id="64" name="组合 63"/>
              <p:cNvGrpSpPr/>
              <p:nvPr/>
            </p:nvGrpSpPr>
            <p:grpSpPr>
              <a:xfrm>
                <a:off x="9742" y="4409"/>
                <a:ext cx="226" cy="1378"/>
                <a:chOff x="9742" y="4409"/>
                <a:chExt cx="226" cy="1378"/>
              </a:xfrm>
            </p:grpSpPr>
            <p:sp>
              <p:nvSpPr>
                <p:cNvPr id="7" name="椭圆 6"/>
                <p:cNvSpPr/>
                <p:nvPr/>
              </p:nvSpPr>
              <p:spPr>
                <a:xfrm>
                  <a:off x="9742" y="4409"/>
                  <a:ext cx="227" cy="227"/>
                </a:xfrm>
                <a:prstGeom prst="ellipse">
                  <a:avLst/>
                </a:prstGeom>
                <a:noFill/>
                <a:ln>
                  <a:solidFill>
                    <a:srgbClr val="6A6A6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椭圆 16"/>
                <p:cNvSpPr/>
                <p:nvPr/>
              </p:nvSpPr>
              <p:spPr>
                <a:xfrm>
                  <a:off x="9742" y="5561"/>
                  <a:ext cx="227" cy="227"/>
                </a:xfrm>
                <a:prstGeom prst="ellipse">
                  <a:avLst/>
                </a:prstGeom>
                <a:noFill/>
                <a:ln>
                  <a:solidFill>
                    <a:srgbClr val="6A6A6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>
                    <a:ea typeface="思源宋体 CN Heavy" panose="02020900000000000000" pitchFamily="18" charset="-122"/>
                    <a:cs typeface="+mn-ea"/>
                    <a:sym typeface="+mn-lt"/>
                  </a:endParaRPr>
                </a:p>
              </p:txBody>
            </p:sp>
          </p:grpSp>
        </p:grpSp>
        <p:pic>
          <p:nvPicPr>
            <p:cNvPr id="50" name="图片 49" descr="templates\picture_hover\&amp;pky390_sjzg_VCG41N1298925046&amp;"/>
            <p:cNvPicPr>
              <a:picLocks noChangeAspect="1"/>
            </p:cNvPicPr>
            <p:nvPr/>
          </p:nvPicPr>
          <p:blipFill>
            <a:blip r:embed="rId24" cstate="email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36000"/>
            </a:blip>
            <a:stretch>
              <a:fillRect/>
            </a:stretch>
          </p:blipFill>
          <p:spPr>
            <a:xfrm flipH="1">
              <a:off x="9284" y="3018"/>
              <a:ext cx="1017" cy="1017"/>
            </a:xfrm>
            <a:prstGeom prst="rect">
              <a:avLst/>
            </a:prstGeom>
          </p:spPr>
        </p:pic>
        <p:sp>
          <p:nvSpPr>
            <p:cNvPr id="51" name="文本框 50"/>
            <p:cNvSpPr txBox="1"/>
            <p:nvPr/>
          </p:nvSpPr>
          <p:spPr>
            <a:xfrm flipH="1">
              <a:off x="10219" y="6866"/>
              <a:ext cx="2900" cy="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12个月目标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 flipH="1">
              <a:off x="10219" y="7655"/>
              <a:ext cx="7516" cy="1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zh-CN" altLang="en-US" sz="1300" dirty="0">
                  <a:solidFill>
                    <a:srgbClr val="6A6A6A"/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10万注册/5000付费/20家行业客户；B端年收入成为利润主体</a:t>
              </a:r>
            </a:p>
          </p:txBody>
        </p:sp>
        <p:grpSp>
          <p:nvGrpSpPr>
            <p:cNvPr id="63" name="组合 62"/>
            <p:cNvGrpSpPr/>
            <p:nvPr/>
          </p:nvGrpSpPr>
          <p:grpSpPr>
            <a:xfrm>
              <a:off x="9696" y="8087"/>
              <a:ext cx="226" cy="226"/>
              <a:chOff x="9742" y="8087"/>
              <a:chExt cx="226" cy="226"/>
            </a:xfrm>
          </p:grpSpPr>
          <p:sp>
            <p:nvSpPr>
              <p:cNvPr id="54" name="椭圆 53"/>
              <p:cNvSpPr/>
              <p:nvPr/>
            </p:nvSpPr>
            <p:spPr>
              <a:xfrm>
                <a:off x="9785" y="8130"/>
                <a:ext cx="142" cy="142"/>
              </a:xfrm>
              <a:prstGeom prst="ellipse">
                <a:avLst/>
              </a:prstGeom>
              <a:solidFill>
                <a:srgbClr val="6A6A6A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55" name="椭圆 54"/>
              <p:cNvSpPr/>
              <p:nvPr/>
            </p:nvSpPr>
            <p:spPr>
              <a:xfrm>
                <a:off x="9742" y="8087"/>
                <a:ext cx="227" cy="227"/>
              </a:xfrm>
              <a:prstGeom prst="ellipse">
                <a:avLst/>
              </a:prstGeom>
              <a:noFill/>
              <a:ln>
                <a:solidFill>
                  <a:srgbClr val="6A6A6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  <p:pic>
          <p:nvPicPr>
            <p:cNvPr id="60" name="图片 59" descr="templates\picture_hover\&amp;pky390_sjzg_VCG41N1298925046&amp;"/>
            <p:cNvPicPr>
              <a:picLocks noChangeAspect="1"/>
            </p:cNvPicPr>
            <p:nvPr/>
          </p:nvPicPr>
          <p:blipFill>
            <a:blip r:embed="rId24" cstate="email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biLevel thresh="50000"/>
              <a:lum bright="36000"/>
            </a:blip>
            <a:stretch>
              <a:fillRect/>
            </a:stretch>
          </p:blipFill>
          <p:spPr>
            <a:xfrm flipH="1">
              <a:off x="9284" y="6696"/>
              <a:ext cx="1017" cy="101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 descr="templates\picture_hover\&amp;pky290_sjzg_VCG211356148776&amp;"/>
          <p:cNvPicPr>
            <a:picLocks noChangeAspect="1"/>
          </p:cNvPicPr>
          <p:nvPr/>
        </p:nvPicPr>
        <p:blipFill>
          <a:blip r:embed="rId14" cstate="email">
            <a:alphaModFix amt="24000"/>
            <a:lum bright="12000"/>
          </a:blip>
          <a:srcRect/>
          <a:stretch>
            <a:fillRect/>
          </a:stretch>
        </p:blipFill>
        <p:spPr>
          <a:xfrm>
            <a:off x="0" y="3081020"/>
            <a:ext cx="12192000" cy="37769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5948">
                <a:moveTo>
                  <a:pt x="0" y="0"/>
                </a:moveTo>
                <a:lnTo>
                  <a:pt x="19200" y="0"/>
                </a:lnTo>
                <a:lnTo>
                  <a:pt x="19200" y="5948"/>
                </a:lnTo>
                <a:lnTo>
                  <a:pt x="0" y="594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" name="图片 15" descr="幻灯片66"/>
          <p:cNvPicPr>
            <a:picLocks noChangeAspect="1"/>
          </p:cNvPicPr>
          <p:nvPr/>
        </p:nvPicPr>
        <p:blipFill>
          <a:blip r:embed="rId15" cstate="email"/>
          <a:stretch>
            <a:fillRect/>
          </a:stretch>
        </p:blipFill>
        <p:spPr>
          <a:xfrm>
            <a:off x="7672070" y="1713865"/>
            <a:ext cx="3599815" cy="514413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451033" y="471488"/>
            <a:ext cx="3289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2400" dirty="0">
                <a:solidFill>
                  <a:schemeClr val="tx1"/>
                </a:solidFill>
                <a:latin typeface="楷体"/>
                <a:ea typeface="思源宋体 CN Heavy" panose="02020900000000000000" pitchFamily="18" charset="-122"/>
                <a:cs typeface="+mn-ea"/>
                <a:sym typeface="+mn-lt"/>
              </a:rPr>
              <a:t>团队与愿景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4429760" y="629920"/>
            <a:ext cx="3332480" cy="143510"/>
            <a:chOff x="6699" y="992"/>
            <a:chExt cx="5248" cy="226"/>
          </a:xfrm>
        </p:grpSpPr>
        <p:grpSp>
          <p:nvGrpSpPr>
            <p:cNvPr id="2" name="组合 1"/>
            <p:cNvGrpSpPr/>
            <p:nvPr/>
          </p:nvGrpSpPr>
          <p:grpSpPr>
            <a:xfrm>
              <a:off x="6699" y="992"/>
              <a:ext cx="226" cy="226"/>
              <a:chOff x="7717" y="9163"/>
              <a:chExt cx="226" cy="226"/>
            </a:xfrm>
          </p:grpSpPr>
          <p:sp>
            <p:nvSpPr>
              <p:cNvPr id="3" name="椭圆 2"/>
              <p:cNvSpPr/>
              <p:nvPr/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11721" y="992"/>
              <a:ext cx="226" cy="226"/>
              <a:chOff x="7717" y="9163"/>
              <a:chExt cx="226" cy="226"/>
            </a:xfrm>
          </p:grpSpPr>
          <p:sp>
            <p:nvSpPr>
              <p:cNvPr id="5" name="椭圆 4"/>
              <p:cNvSpPr/>
              <p:nvPr/>
            </p:nvSpPr>
            <p:spPr>
              <a:xfrm>
                <a:off x="7760" y="9206"/>
                <a:ext cx="142" cy="142"/>
              </a:xfrm>
              <a:prstGeom prst="ellipse">
                <a:avLst/>
              </a:pr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7717" y="9163"/>
                <a:ext cx="227" cy="227"/>
              </a:xfrm>
              <a:prstGeom prst="ellipse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ea typeface="思源宋体 CN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>
            <a:off x="1254760" y="2018030"/>
            <a:ext cx="5548630" cy="3419475"/>
            <a:chOff x="1800" y="2698"/>
            <a:chExt cx="8738" cy="5385"/>
          </a:xfrm>
        </p:grpSpPr>
        <p:grpSp>
          <p:nvGrpSpPr>
            <p:cNvPr id="19" name="组合 18"/>
            <p:cNvGrpSpPr/>
            <p:nvPr/>
          </p:nvGrpSpPr>
          <p:grpSpPr>
            <a:xfrm>
              <a:off x="1800" y="4856"/>
              <a:ext cx="8738" cy="1069"/>
              <a:chOff x="1800" y="2966"/>
              <a:chExt cx="8738" cy="1069"/>
            </a:xfrm>
          </p:grpSpPr>
          <p:pic>
            <p:nvPicPr>
              <p:cNvPr id="20" name="图片 19" descr="templates\picture_hover\&amp;pky390_sjzg_VCG41N1298925046&amp;"/>
              <p:cNvPicPr>
                <a:picLocks noChangeAspect="1"/>
              </p:cNvPicPr>
              <p:nvPr/>
            </p:nvPicPr>
            <p:blipFill>
              <a:blip r:embed="rId16" cstate="email">
                <a:clrChange>
                  <a:clrFrom>
                    <a:srgbClr val="FFFFFF">
                      <a:alpha val="100000"/>
                    </a:srgbClr>
                  </a:clrFrom>
                  <a:clrTo>
                    <a:srgbClr val="FFFFFF">
                      <a:alpha val="100000"/>
                      <a:alpha val="0"/>
                    </a:srgbClr>
                  </a:clrTo>
                </a:clrChange>
                <a:biLevel thresh="50000"/>
                <a:lum bright="36000"/>
              </a:blip>
              <a:stretch>
                <a:fillRect/>
              </a:stretch>
            </p:blipFill>
            <p:spPr>
              <a:xfrm flipH="1">
                <a:off x="1800" y="3018"/>
                <a:ext cx="1017" cy="1017"/>
              </a:xfrm>
              <a:prstGeom prst="rect">
                <a:avLst/>
              </a:prstGeom>
            </p:spPr>
          </p:pic>
          <p:sp>
            <p:nvSpPr>
              <p:cNvPr id="22" name="文本框 21"/>
              <p:cNvSpPr txBox="1"/>
              <p:nvPr/>
            </p:nvSpPr>
            <p:spPr>
              <a:xfrm flipH="1">
                <a:off x="3022" y="2966"/>
                <a:ext cx="7516" cy="1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zh-CN" altLang="en-US" sz="1300" dirty="0">
                    <a:solidFill>
                      <a:srgbClr val="6A6A6A"/>
                    </a:solidFill>
                    <a:latin typeface="楷体"/>
                    <a:ea typeface="思源宋体 CN Heavy" panose="02020900000000000000" pitchFamily="18" charset="-122"/>
                    <a:cs typeface="+mn-ea"/>
                    <a:sym typeface="+mn-lt"/>
                  </a:rPr>
                  <a:t>共建生态：领域顾问参与Agent打磨与白皮书署名；认证荐者晋级社区KOL</a:t>
                </a: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1800" y="2698"/>
              <a:ext cx="8738" cy="5385"/>
              <a:chOff x="1800" y="2966"/>
              <a:chExt cx="8738" cy="5385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1800" y="2966"/>
                <a:ext cx="8738" cy="1069"/>
                <a:chOff x="1800" y="2966"/>
                <a:chExt cx="8738" cy="1069"/>
              </a:xfrm>
            </p:grpSpPr>
            <p:pic>
              <p:nvPicPr>
                <p:cNvPr id="50" name="图片 49" descr="templates\picture_hover\&amp;pky390_sjzg_VCG41N1298925046&amp;"/>
                <p:cNvPicPr>
                  <a:picLocks noChangeAspect="1"/>
                </p:cNvPicPr>
                <p:nvPr/>
              </p:nvPicPr>
              <p:blipFill>
                <a:blip r:embed="rId16" cstate="email">
                  <a:clrChange>
                    <a:clrFrom>
                      <a:srgbClr val="FFFFFF">
                        <a:alpha val="100000"/>
                      </a:srgbClr>
                    </a:clrFrom>
                    <a:clrTo>
                      <a:srgbClr val="FFFFFF">
                        <a:alpha val="100000"/>
                        <a:alpha val="0"/>
                      </a:srgbClr>
                    </a:clrTo>
                  </a:clrChange>
                  <a:biLevel thresh="50000"/>
                  <a:lum bright="36000"/>
                </a:blip>
                <a:stretch>
                  <a:fillRect/>
                </a:stretch>
              </p:blipFill>
              <p:spPr>
                <a:xfrm flipH="1">
                  <a:off x="1800" y="3018"/>
                  <a:ext cx="1017" cy="1017"/>
                </a:xfrm>
                <a:prstGeom prst="rect">
                  <a:avLst/>
                </a:prstGeom>
              </p:spPr>
            </p:pic>
            <p:sp>
              <p:nvSpPr>
                <p:cNvPr id="44" name="文本框 43"/>
                <p:cNvSpPr txBox="1"/>
                <p:nvPr/>
              </p:nvSpPr>
              <p:spPr>
                <a:xfrm flipH="1">
                  <a:off x="3022" y="2966"/>
                  <a:ext cx="7516" cy="10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z="1300" dirty="0">
                      <a:solidFill>
                        <a:srgbClr val="6A6A6A"/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种子团队：产品+增长/后端/前端/AI工程师/国学顾问\n内容工厂：AI辅助+国学顾问终审</a:t>
                  </a:r>
                </a:p>
              </p:txBody>
            </p:sp>
          </p:grpSp>
          <p:grpSp>
            <p:nvGrpSpPr>
              <p:cNvPr id="26" name="组合 25"/>
              <p:cNvGrpSpPr/>
              <p:nvPr/>
            </p:nvGrpSpPr>
            <p:grpSpPr>
              <a:xfrm>
                <a:off x="1800" y="7282"/>
                <a:ext cx="8738" cy="1069"/>
                <a:chOff x="1800" y="2966"/>
                <a:chExt cx="8738" cy="1069"/>
              </a:xfrm>
            </p:grpSpPr>
            <p:pic>
              <p:nvPicPr>
                <p:cNvPr id="27" name="图片 26" descr="templates\picture_hover\&amp;pky390_sjzg_VCG41N1298925046&amp;"/>
                <p:cNvPicPr>
                  <a:picLocks noChangeAspect="1"/>
                </p:cNvPicPr>
                <p:nvPr/>
              </p:nvPicPr>
              <p:blipFill>
                <a:blip r:embed="rId16" cstate="email">
                  <a:clrChange>
                    <a:clrFrom>
                      <a:srgbClr val="FFFFFF">
                        <a:alpha val="100000"/>
                      </a:srgbClr>
                    </a:clrFrom>
                    <a:clrTo>
                      <a:srgbClr val="FFFFFF">
                        <a:alpha val="100000"/>
                        <a:alpha val="0"/>
                      </a:srgbClr>
                    </a:clrTo>
                  </a:clrChange>
                  <a:biLevel thresh="50000"/>
                  <a:lum bright="36000"/>
                </a:blip>
                <a:stretch>
                  <a:fillRect/>
                </a:stretch>
              </p:blipFill>
              <p:spPr>
                <a:xfrm flipH="1">
                  <a:off x="1800" y="3018"/>
                  <a:ext cx="1017" cy="1017"/>
                </a:xfrm>
                <a:prstGeom prst="rect">
                  <a:avLst/>
                </a:prstGeom>
              </p:spPr>
            </p:pic>
            <p:sp>
              <p:nvSpPr>
                <p:cNvPr id="28" name="文本框 27"/>
                <p:cNvSpPr txBox="1"/>
                <p:nvPr/>
              </p:nvSpPr>
              <p:spPr>
                <a:xfrm flipH="1">
                  <a:off x="3022" y="2966"/>
                  <a:ext cx="7516" cy="10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>
                    <a:lnSpc>
                      <a:spcPct val="150000"/>
                    </a:lnSpc>
                  </a:pPr>
                  <a:r>
                    <a:rPr lang="zh-CN" altLang="en-US" sz="1300" dirty="0">
                      <a:solidFill>
                        <a:srgbClr val="6A6A6A"/>
                      </a:solidFill>
                      <a:latin typeface="楷体"/>
                      <a:ea typeface="思源宋体 CN Heavy" panose="02020900000000000000" pitchFamily="18" charset="-122"/>
                      <a:cs typeface="+mn-ea"/>
                      <a:sym typeface="+mn-lt"/>
                    </a:rPr>
                    <a:t>愿景：以中国本土哲学为AI治理提供中国方案，呼应文化自信与人类命运共同体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templates\picture_hover\&amp;pky8189327183&amp;"/>
          <p:cNvPicPr>
            <a:picLocks noChangeAspect="1"/>
          </p:cNvPicPr>
          <p:nvPr/>
        </p:nvPicPr>
        <p:blipFill>
          <a:blip r:embed="rId6" cstate="email">
            <a:alphaModFix amt="40000"/>
          </a:blip>
          <a:stretch>
            <a:fillRect/>
          </a:stretch>
        </p:blipFill>
        <p:spPr>
          <a:xfrm>
            <a:off x="1111885" y="4355465"/>
            <a:ext cx="3112770" cy="1891665"/>
          </a:xfrm>
          <a:prstGeom prst="rect">
            <a:avLst/>
          </a:prstGeom>
        </p:spPr>
      </p:pic>
      <p:grpSp>
        <p:nvGrpSpPr>
          <p:cNvPr id="24" name="组合 23"/>
          <p:cNvGrpSpPr/>
          <p:nvPr/>
        </p:nvGrpSpPr>
        <p:grpSpPr>
          <a:xfrm>
            <a:off x="0" y="567055"/>
            <a:ext cx="12192000" cy="6290310"/>
            <a:chOff x="0" y="893"/>
            <a:chExt cx="19200" cy="9906"/>
          </a:xfrm>
        </p:grpSpPr>
        <p:pic>
          <p:nvPicPr>
            <p:cNvPr id="2" name="图片 1" descr="templates\picture_hover\&amp;pky290_sjzg_VCG211356148776&amp;"/>
            <p:cNvPicPr>
              <a:picLocks noChangeAspect="1"/>
            </p:cNvPicPr>
            <p:nvPr/>
          </p:nvPicPr>
          <p:blipFill>
            <a:blip r:embed="rId7" cstate="email">
              <a:alphaModFix amt="24000"/>
              <a:lum bright="12000"/>
            </a:blip>
            <a:srcRect/>
            <a:stretch>
              <a:fillRect/>
            </a:stretch>
          </p:blipFill>
          <p:spPr>
            <a:xfrm>
              <a:off x="0" y="893"/>
              <a:ext cx="19200" cy="990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7000" h="8772">
                  <a:moveTo>
                    <a:pt x="0" y="0"/>
                  </a:moveTo>
                  <a:lnTo>
                    <a:pt x="17000" y="0"/>
                  </a:lnTo>
                  <a:lnTo>
                    <a:pt x="17000" y="8772"/>
                  </a:lnTo>
                  <a:lnTo>
                    <a:pt x="0" y="8772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pic>
          <p:nvPicPr>
            <p:cNvPr id="16" name="图片 15" descr="templates\picture_hover\&amp;pky8389331009&amp;"/>
            <p:cNvPicPr>
              <a:picLocks noChangeAspect="1"/>
            </p:cNvPicPr>
            <p:nvPr/>
          </p:nvPicPr>
          <p:blipFill>
            <a:blip r:embed="rId8" cstate="email">
              <a:alphaModFix amt="20000"/>
            </a:blip>
            <a:srcRect/>
            <a:stretch>
              <a:fillRect/>
            </a:stretch>
          </p:blipFill>
          <p:spPr>
            <a:xfrm rot="21060000">
              <a:off x="13575" y="1132"/>
              <a:ext cx="2150" cy="1989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850" h="2636">
                  <a:moveTo>
                    <a:pt x="0" y="0"/>
                  </a:moveTo>
                  <a:lnTo>
                    <a:pt x="2850" y="0"/>
                  </a:lnTo>
                  <a:lnTo>
                    <a:pt x="2850" y="2636"/>
                  </a:lnTo>
                  <a:lnTo>
                    <a:pt x="0" y="2636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grpSp>
        <p:nvGrpSpPr>
          <p:cNvPr id="23" name="组合 22"/>
          <p:cNvGrpSpPr/>
          <p:nvPr/>
        </p:nvGrpSpPr>
        <p:grpSpPr>
          <a:xfrm>
            <a:off x="-9525" y="-13970"/>
            <a:ext cx="12200890" cy="7021830"/>
            <a:chOff x="-15" y="-22"/>
            <a:chExt cx="19214" cy="11058"/>
          </a:xfrm>
        </p:grpSpPr>
        <p:pic>
          <p:nvPicPr>
            <p:cNvPr id="9" name="图片 8" descr="幻灯片127"/>
            <p:cNvPicPr>
              <a:picLocks noChangeAspect="1"/>
            </p:cNvPicPr>
            <p:nvPr/>
          </p:nvPicPr>
          <p:blipFill>
            <a:blip r:embed="rId9" cstate="email">
              <a:alphaModFix amt="80000"/>
            </a:blip>
            <a:stretch>
              <a:fillRect/>
            </a:stretch>
          </p:blipFill>
          <p:spPr>
            <a:xfrm>
              <a:off x="-15" y="-22"/>
              <a:ext cx="4389" cy="4357"/>
            </a:xfrm>
            <a:prstGeom prst="rect">
              <a:avLst/>
            </a:prstGeom>
          </p:spPr>
        </p:pic>
        <p:pic>
          <p:nvPicPr>
            <p:cNvPr id="10" name="图片 9" descr="幻灯片127-1"/>
            <p:cNvPicPr>
              <a:picLocks noChangeAspect="1"/>
            </p:cNvPicPr>
            <p:nvPr/>
          </p:nvPicPr>
          <p:blipFill>
            <a:blip r:embed="rId10" cstate="email">
              <a:alphaModFix amt="80000"/>
            </a:blip>
            <a:stretch>
              <a:fillRect/>
            </a:stretch>
          </p:blipFill>
          <p:spPr>
            <a:xfrm flipH="1">
              <a:off x="15387" y="3214"/>
              <a:ext cx="3813" cy="7606"/>
            </a:xfrm>
            <a:prstGeom prst="rect">
              <a:avLst/>
            </a:prstGeom>
          </p:spPr>
        </p:pic>
        <p:pic>
          <p:nvPicPr>
            <p:cNvPr id="18" name="图片 17" descr="幻灯片127"/>
            <p:cNvPicPr>
              <a:picLocks noChangeAspect="1"/>
            </p:cNvPicPr>
            <p:nvPr/>
          </p:nvPicPr>
          <p:blipFill>
            <a:blip r:embed="rId11" cstate="email">
              <a:alphaModFix amt="80000"/>
            </a:blip>
            <a:srcRect/>
            <a:stretch>
              <a:fillRect/>
            </a:stretch>
          </p:blipFill>
          <p:spPr>
            <a:xfrm rot="15300000">
              <a:off x="2389" y="9101"/>
              <a:ext cx="1442" cy="2428"/>
            </a:xfrm>
            <a:custGeom>
              <a:avLst/>
              <a:gdLst>
                <a:gd name="adj" fmla="val 25000"/>
                <a:gd name="maxAdj" fmla="*/ 50000 h ss"/>
                <a:gd name="a" fmla="pin 0 adj maxAdj"/>
                <a:gd name="y1" fmla="*/ ss a 200000"/>
                <a:gd name="y2" fmla="+- y1 y1 0"/>
                <a:gd name="y3" fmla="+- b 0 y1"/>
              </a:gdLst>
              <a:ahLst/>
              <a:cxnLst>
                <a:cxn ang="3">
                  <a:pos x="hc" y="y2"/>
                </a:cxn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y2" r="r" b="y3"/>
              <a:pathLst>
                <a:path w="1442" h="2428">
                  <a:moveTo>
                    <a:pt x="702" y="0"/>
                  </a:moveTo>
                  <a:cubicBezTo>
                    <a:pt x="1111" y="0"/>
                    <a:pt x="1442" y="83"/>
                    <a:pt x="1442" y="185"/>
                  </a:cubicBezTo>
                  <a:lnTo>
                    <a:pt x="1442" y="2243"/>
                  </a:lnTo>
                  <a:cubicBezTo>
                    <a:pt x="1442" y="2345"/>
                    <a:pt x="1111" y="2428"/>
                    <a:pt x="702" y="2428"/>
                  </a:cubicBezTo>
                  <a:cubicBezTo>
                    <a:pt x="639" y="2428"/>
                    <a:pt x="577" y="2426"/>
                    <a:pt x="518" y="2422"/>
                  </a:cubicBezTo>
                  <a:lnTo>
                    <a:pt x="508" y="2421"/>
                  </a:lnTo>
                  <a:lnTo>
                    <a:pt x="506" y="2415"/>
                  </a:lnTo>
                  <a:cubicBezTo>
                    <a:pt x="457" y="2241"/>
                    <a:pt x="323" y="2098"/>
                    <a:pt x="139" y="2049"/>
                  </a:cubicBezTo>
                  <a:cubicBezTo>
                    <a:pt x="95" y="2037"/>
                    <a:pt x="51" y="2031"/>
                    <a:pt x="8" y="2031"/>
                  </a:cubicBezTo>
                  <a:lnTo>
                    <a:pt x="0" y="2031"/>
                  </a:lnTo>
                  <a:lnTo>
                    <a:pt x="543" y="4"/>
                  </a:lnTo>
                  <a:lnTo>
                    <a:pt x="553" y="4"/>
                  </a:lnTo>
                  <a:cubicBezTo>
                    <a:pt x="601" y="1"/>
                    <a:pt x="651" y="0"/>
                    <a:pt x="702" y="0"/>
                  </a:cubicBezTo>
                  <a:close/>
                </a:path>
              </a:pathLst>
            </a:custGeom>
          </p:spPr>
        </p:pic>
      </p:grpSp>
      <p:sp>
        <p:nvSpPr>
          <p:cNvPr id="5" name="文本框 4"/>
          <p:cNvSpPr txBox="1"/>
          <p:nvPr/>
        </p:nvSpPr>
        <p:spPr>
          <a:xfrm>
            <a:off x="6395085" y="1915160"/>
            <a:ext cx="3078480" cy="968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5700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/>
            </a:r>
            <a:endParaRPr lang="zh-CN" sz="5700" b="1" dirty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pic>
        <p:nvPicPr>
          <p:cNvPr id="8" name="图片 7" descr="幻灯片79"/>
          <p:cNvPicPr>
            <a:picLocks noChangeAspect="1"/>
          </p:cNvPicPr>
          <p:nvPr/>
        </p:nvPicPr>
        <p:blipFill>
          <a:blip r:embed="rId12" cstate="email"/>
          <a:stretch>
            <a:fillRect/>
          </a:stretch>
        </p:blipFill>
        <p:spPr>
          <a:xfrm>
            <a:off x="5951855" y="2266950"/>
            <a:ext cx="287655" cy="2959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409950" y="2880995"/>
            <a:ext cx="5372100" cy="352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楷体"/>
                <a:ea typeface="思源宋体 CN Heavy" panose="02020900000000000000" pitchFamily="18" charset="-122"/>
                <a:cs typeface="+mn-ea"/>
                <a:sym typeface="+mn-lt"/>
              </a:rPr>
              <a:t>让老子的智慧，成为人与机器共同的操作系统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683760" y="4291330"/>
            <a:ext cx="2824480" cy="818515"/>
            <a:chOff x="7316" y="7350"/>
            <a:chExt cx="4448" cy="1289"/>
          </a:xfrm>
        </p:grpSpPr>
        <p:pic>
          <p:nvPicPr>
            <p:cNvPr id="4" name="图片 3" descr="templates\picture_hover\&amp;pky290_sjzg_VCG41N513480320&amp;"/>
            <p:cNvPicPr>
              <a:picLocks noChangeAspect="1"/>
            </p:cNvPicPr>
            <p:nvPr/>
          </p:nvPicPr>
          <p:blipFill>
            <a:blip r:embed="rId13" cstate="email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  <a:lum bright="30000"/>
            </a:blip>
            <a:srcRect/>
            <a:stretch>
              <a:fillRect/>
            </a:stretch>
          </p:blipFill>
          <p:spPr>
            <a:xfrm>
              <a:off x="7316" y="7350"/>
              <a:ext cx="4448" cy="1289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7775" y="7731"/>
              <a:ext cx="3530" cy="60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dirty="0">
                  <a:solidFill>
                    <a:srgbClr val="FDFDFD"/>
                  </a:solidFill>
                  <a:latin typeface="楷体"/>
                  <a:ea typeface="思源宋体 CN Heavy" panose="02020900000000000000" pitchFamily="18" charset="-122"/>
                  <a:cs typeface="+mn-ea"/>
                  <a:sym typeface="+mn-lt"/>
                </a:rPr>
                <a:t>联系我们</a:t>
              </a: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3140710" y="3385820"/>
            <a:ext cx="5910580" cy="661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00" dirty="0">
                <a:solidFill>
                  <a:srgbClr val="6A6A6A"/>
                </a:solidFill>
                <a:latin typeface="楷体"/>
                <a:ea typeface="思源宋体 CN Heavy" panose="02020900000000000000" pitchFamily="18" charset="-122"/>
                <a:cs typeface="+mn-ea"/>
                <a:sym typeface="+mn-lt"/>
              </a:rPr>
              <a:t>道枢已备，只待同行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717800" y="1915160"/>
            <a:ext cx="3078480" cy="968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sz="5700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道枢</a:t>
            </a:r>
            <a:endParaRPr lang="zh-CN" sz="5700" b="1" dirty="0"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4.05.14"/>
  <p:tag name="AS_TITLE" val="Aspose.Slides for .NET 4.0 Client Profile"/>
  <p:tag name="AS_VERSION" val="24.5"/>
  <p:tag name="KSO_WPP_MARK_KEY" val="66f94f43-072e-411a-a7c9-ad4a60c342c4"/>
  <p:tag name="COMMONDATA" val="eyJjb3VudCI6MiwiaGRpZCI6IjVhZDg5MmQ0ZDc4MjAwMDJmMGZhMzBkZjVkOWUzNmM0IiwidXNlckNvdW50Ijox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2946e03-39f1-4ea5-9da6-29ebde365a43">
      <a:majorFont>
        <a:latin typeface="Arial"/>
        <a:ea typeface="华文新魏"/>
        <a:cs typeface=""/>
      </a:majorFont>
      <a:minorFont>
        <a:latin typeface="Arial"/>
        <a:ea typeface="华文新魏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981</Words>
  <Application>Microsoft Macintosh PowerPoint</Application>
  <PresentationFormat>Widescreen</PresentationFormat>
  <Paragraphs>81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微软雅黑</vt:lpstr>
      <vt:lpstr>思源宋体 CN Heavy</vt:lpstr>
      <vt:lpstr>Arial</vt:lpstr>
      <vt:lpstr>Calibri</vt:lpstr>
      <vt:lpstr>第一PPT，www.1ppt.com</vt:lpstr>
      <vt:lpstr>1_自定义设计方案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中国风</dc:title>
  <dc:creator>第一PPT</dc:creator>
  <cp:keywords>www.1ppt.com</cp:keywords>
  <dc:description>www.1ppt.com</dc:description>
  <cp:lastModifiedBy>lixiangnan</cp:lastModifiedBy>
  <cp:revision>57</cp:revision>
  <dcterms:created xsi:type="dcterms:W3CDTF">2026-08-05T05:28:58Z</dcterms:created>
  <dcterms:modified xsi:type="dcterms:W3CDTF">2026-08-07T07:09:31Z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D88ADD802C124A798801E4FC141F88A8_12</vt:lpwstr>
  </property>
  <property fmtid="{D5CDD505-2E9C-101B-9397-08002B2CF9AE}" pid="3" name="KSOProductBuildVer">
    <vt:lpwstr>2052-12.1.26046.26046</vt:lpwstr>
  </property>
  <property fmtid="{D5CDD505-2E9C-101B-9397-08002B2CF9AE}" pid="4" name="AIGC">
    <vt:lpwstr>{"Label":"value1","ContentProducer":"001191110000802100433B11010001191110000802100433B11010","ProduceID":"20d783bd-6283-48bd-b1a7-6b7ca7df537a","ReservedCode1":"72dafc97cd38b92e5f3d5cdfd0dfbbe6","ContentPropagator":"001191110000802100433B11010001191110000802100433B11010","PropagateID":"0ab6c868-c1fd-4ffc-91a8-8f714b2a87e0","ReservedCode2":"2734827274df537123a472bf4de01eb5"}</vt:lpwstr>
  </property>
</Properties>
</file>